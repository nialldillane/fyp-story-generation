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3" r:id="rId1"/>
  </p:sldMasterIdLst>
  <p:notesMasterIdLst>
    <p:notesMasterId r:id="rId27"/>
  </p:notesMasterIdLst>
  <p:handoutMasterIdLst>
    <p:handoutMasterId r:id="rId28"/>
  </p:handoutMasterIdLst>
  <p:sldIdLst>
    <p:sldId id="256" r:id="rId2"/>
    <p:sldId id="257" r:id="rId3"/>
    <p:sldId id="295" r:id="rId4"/>
    <p:sldId id="290" r:id="rId5"/>
    <p:sldId id="296" r:id="rId6"/>
    <p:sldId id="297" r:id="rId7"/>
    <p:sldId id="298" r:id="rId8"/>
    <p:sldId id="259" r:id="rId9"/>
    <p:sldId id="260" r:id="rId10"/>
    <p:sldId id="261" r:id="rId11"/>
    <p:sldId id="288" r:id="rId12"/>
    <p:sldId id="262" r:id="rId13"/>
    <p:sldId id="284" r:id="rId14"/>
    <p:sldId id="265" r:id="rId15"/>
    <p:sldId id="264" r:id="rId16"/>
    <p:sldId id="287" r:id="rId17"/>
    <p:sldId id="266" r:id="rId18"/>
    <p:sldId id="299" r:id="rId19"/>
    <p:sldId id="294" r:id="rId20"/>
    <p:sldId id="300" r:id="rId21"/>
    <p:sldId id="303" r:id="rId22"/>
    <p:sldId id="301" r:id="rId23"/>
    <p:sldId id="302" r:id="rId24"/>
    <p:sldId id="292" r:id="rId25"/>
    <p:sldId id="291" r:id="rId26"/>
  </p:sldIdLst>
  <p:sldSz cx="9144000" cy="6858000" type="screen4x3"/>
  <p:notesSz cx="6645275" cy="9775825"/>
  <p:custDataLst>
    <p:tags r:id="rId29"/>
  </p:custDataLst>
  <p:defaultTextStyle>
    <a:defPPr>
      <a:defRPr lang="en-US"/>
    </a:defPPr>
    <a:lvl1pPr algn="l" rtl="0" fontAlgn="base">
      <a:lnSpc>
        <a:spcPct val="95000"/>
      </a:lnSpc>
      <a:spcBef>
        <a:spcPct val="30000"/>
      </a:spcBef>
      <a:spcAft>
        <a:spcPct val="0"/>
      </a:spcAft>
      <a:buClr>
        <a:schemeClr val="accent1"/>
      </a:buClr>
      <a:buSzPct val="65000"/>
      <a:buFont typeface="Wingdings" pitchFamily="2" charset="2"/>
      <a:buChar char="n"/>
      <a:defRPr kern="1200">
        <a:solidFill>
          <a:schemeClr val="tx1"/>
        </a:solidFill>
        <a:latin typeface="Arial" charset="0"/>
        <a:ea typeface="+mn-ea"/>
        <a:cs typeface="+mn-cs"/>
      </a:defRPr>
    </a:lvl1pPr>
    <a:lvl2pPr marL="457200" algn="l" rtl="0" fontAlgn="base">
      <a:lnSpc>
        <a:spcPct val="95000"/>
      </a:lnSpc>
      <a:spcBef>
        <a:spcPct val="30000"/>
      </a:spcBef>
      <a:spcAft>
        <a:spcPct val="0"/>
      </a:spcAft>
      <a:buClr>
        <a:schemeClr val="accent1"/>
      </a:buClr>
      <a:buSzPct val="65000"/>
      <a:buFont typeface="Wingdings" pitchFamily="2" charset="2"/>
      <a:buChar char="n"/>
      <a:defRPr kern="1200">
        <a:solidFill>
          <a:schemeClr val="tx1"/>
        </a:solidFill>
        <a:latin typeface="Arial" charset="0"/>
        <a:ea typeface="+mn-ea"/>
        <a:cs typeface="+mn-cs"/>
      </a:defRPr>
    </a:lvl2pPr>
    <a:lvl3pPr marL="914400" algn="l" rtl="0" fontAlgn="base">
      <a:lnSpc>
        <a:spcPct val="95000"/>
      </a:lnSpc>
      <a:spcBef>
        <a:spcPct val="30000"/>
      </a:spcBef>
      <a:spcAft>
        <a:spcPct val="0"/>
      </a:spcAft>
      <a:buClr>
        <a:schemeClr val="accent1"/>
      </a:buClr>
      <a:buSzPct val="65000"/>
      <a:buFont typeface="Wingdings" pitchFamily="2" charset="2"/>
      <a:buChar char="n"/>
      <a:defRPr kern="1200">
        <a:solidFill>
          <a:schemeClr val="tx1"/>
        </a:solidFill>
        <a:latin typeface="Arial" charset="0"/>
        <a:ea typeface="+mn-ea"/>
        <a:cs typeface="+mn-cs"/>
      </a:defRPr>
    </a:lvl3pPr>
    <a:lvl4pPr marL="1371600" algn="l" rtl="0" fontAlgn="base">
      <a:lnSpc>
        <a:spcPct val="95000"/>
      </a:lnSpc>
      <a:spcBef>
        <a:spcPct val="30000"/>
      </a:spcBef>
      <a:spcAft>
        <a:spcPct val="0"/>
      </a:spcAft>
      <a:buClr>
        <a:schemeClr val="accent1"/>
      </a:buClr>
      <a:buSzPct val="65000"/>
      <a:buFont typeface="Wingdings" pitchFamily="2" charset="2"/>
      <a:buChar char="n"/>
      <a:defRPr kern="1200">
        <a:solidFill>
          <a:schemeClr val="tx1"/>
        </a:solidFill>
        <a:latin typeface="Arial" charset="0"/>
        <a:ea typeface="+mn-ea"/>
        <a:cs typeface="+mn-cs"/>
      </a:defRPr>
    </a:lvl4pPr>
    <a:lvl5pPr marL="1828800" algn="l" rtl="0" fontAlgn="base">
      <a:lnSpc>
        <a:spcPct val="95000"/>
      </a:lnSpc>
      <a:spcBef>
        <a:spcPct val="30000"/>
      </a:spcBef>
      <a:spcAft>
        <a:spcPct val="0"/>
      </a:spcAft>
      <a:buClr>
        <a:schemeClr val="accent1"/>
      </a:buClr>
      <a:buSzPct val="65000"/>
      <a:buFont typeface="Wingdings" pitchFamily="2" charset="2"/>
      <a:buChar char="n"/>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436">
          <p15:clr>
            <a:srgbClr val="A4A3A4"/>
          </p15:clr>
        </p15:guide>
        <p15:guide id="2" pos="551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8571" autoAdjust="0"/>
    <p:restoredTop sz="90000" autoAdjust="0"/>
  </p:normalViewPr>
  <p:slideViewPr>
    <p:cSldViewPr>
      <p:cViewPr varScale="1">
        <p:scale>
          <a:sx n="76" d="100"/>
          <a:sy n="76" d="100"/>
        </p:scale>
        <p:origin x="90" y="2970"/>
      </p:cViewPr>
      <p:guideLst>
        <p:guide orient="horz" pos="436"/>
        <p:guide pos="5511"/>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2880137" cy="488791"/>
          </a:xfrm>
          <a:prstGeom prst="rect">
            <a:avLst/>
          </a:prstGeom>
        </p:spPr>
        <p:txBody>
          <a:bodyPr vert="horz" lIns="89904" tIns="44952" rIns="89904" bIns="44952" rtlCol="0"/>
          <a:lstStyle>
            <a:lvl1pPr algn="l">
              <a:defRPr sz="1200" smtClean="0"/>
            </a:lvl1pPr>
          </a:lstStyle>
          <a:p>
            <a:pPr>
              <a:defRPr/>
            </a:pPr>
            <a:endParaRPr lang="en-IE"/>
          </a:p>
        </p:txBody>
      </p:sp>
      <p:sp>
        <p:nvSpPr>
          <p:cNvPr id="3" name="Date Placeholder 2"/>
          <p:cNvSpPr>
            <a:spLocks noGrp="1"/>
          </p:cNvSpPr>
          <p:nvPr>
            <p:ph type="dt" sz="quarter" idx="1"/>
          </p:nvPr>
        </p:nvSpPr>
        <p:spPr>
          <a:xfrm>
            <a:off x="3763586" y="0"/>
            <a:ext cx="2880137" cy="488791"/>
          </a:xfrm>
          <a:prstGeom prst="rect">
            <a:avLst/>
          </a:prstGeom>
        </p:spPr>
        <p:txBody>
          <a:bodyPr vert="horz" lIns="89904" tIns="44952" rIns="89904" bIns="44952" rtlCol="0"/>
          <a:lstStyle>
            <a:lvl1pPr algn="r">
              <a:defRPr sz="1200" smtClean="0"/>
            </a:lvl1pPr>
          </a:lstStyle>
          <a:p>
            <a:pPr>
              <a:defRPr/>
            </a:pPr>
            <a:fld id="{3B0F426C-6F08-4303-811B-EB95D6C46586}" type="datetimeFigureOut">
              <a:rPr lang="en-IE"/>
              <a:pPr>
                <a:defRPr/>
              </a:pPr>
              <a:t>11/09/2019</a:t>
            </a:fld>
            <a:endParaRPr lang="en-IE"/>
          </a:p>
        </p:txBody>
      </p:sp>
      <p:sp>
        <p:nvSpPr>
          <p:cNvPr id="4" name="Footer Placeholder 3"/>
          <p:cNvSpPr>
            <a:spLocks noGrp="1"/>
          </p:cNvSpPr>
          <p:nvPr>
            <p:ph type="ftr" sz="quarter" idx="2"/>
          </p:nvPr>
        </p:nvSpPr>
        <p:spPr>
          <a:xfrm>
            <a:off x="1" y="9285468"/>
            <a:ext cx="2880137" cy="488791"/>
          </a:xfrm>
          <a:prstGeom prst="rect">
            <a:avLst/>
          </a:prstGeom>
        </p:spPr>
        <p:txBody>
          <a:bodyPr vert="horz" lIns="89904" tIns="44952" rIns="89904" bIns="44952" rtlCol="0" anchor="b"/>
          <a:lstStyle>
            <a:lvl1pPr algn="l">
              <a:defRPr sz="1200" smtClean="0"/>
            </a:lvl1pPr>
          </a:lstStyle>
          <a:p>
            <a:pPr>
              <a:defRPr/>
            </a:pPr>
            <a:endParaRPr lang="en-IE"/>
          </a:p>
        </p:txBody>
      </p:sp>
      <p:sp>
        <p:nvSpPr>
          <p:cNvPr id="5" name="Slide Number Placeholder 4"/>
          <p:cNvSpPr>
            <a:spLocks noGrp="1"/>
          </p:cNvSpPr>
          <p:nvPr>
            <p:ph type="sldNum" sz="quarter" idx="3"/>
          </p:nvPr>
        </p:nvSpPr>
        <p:spPr>
          <a:xfrm>
            <a:off x="3763586" y="9285468"/>
            <a:ext cx="2880137" cy="488791"/>
          </a:xfrm>
          <a:prstGeom prst="rect">
            <a:avLst/>
          </a:prstGeom>
        </p:spPr>
        <p:txBody>
          <a:bodyPr vert="horz" lIns="89904" tIns="44952" rIns="89904" bIns="44952" rtlCol="0" anchor="b"/>
          <a:lstStyle>
            <a:lvl1pPr algn="r">
              <a:defRPr sz="1200" smtClean="0"/>
            </a:lvl1pPr>
          </a:lstStyle>
          <a:p>
            <a:pPr>
              <a:defRPr/>
            </a:pPr>
            <a:fld id="{D4D69AD2-98D0-49C5-8967-5BC7BD6A4F39}" type="slidenum">
              <a:rPr lang="en-IE"/>
              <a:pPr>
                <a:defRPr/>
              </a:pPr>
              <a:t>‹#›</a:t>
            </a:fld>
            <a:endParaRPr lang="en-IE"/>
          </a:p>
        </p:txBody>
      </p:sp>
    </p:spTree>
    <p:extLst>
      <p:ext uri="{BB962C8B-B14F-4D97-AF65-F5344CB8AC3E}">
        <p14:creationId xmlns:p14="http://schemas.microsoft.com/office/powerpoint/2010/main" val="33342831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0658" name="Rectangle 2"/>
          <p:cNvSpPr>
            <a:spLocks noGrp="1" noChangeArrowheads="1"/>
          </p:cNvSpPr>
          <p:nvPr>
            <p:ph type="hdr" sz="quarter"/>
          </p:nvPr>
        </p:nvSpPr>
        <p:spPr bwMode="auto">
          <a:xfrm>
            <a:off x="1" y="0"/>
            <a:ext cx="2878584" cy="488791"/>
          </a:xfrm>
          <a:prstGeom prst="rect">
            <a:avLst/>
          </a:prstGeom>
          <a:noFill/>
          <a:ln w="9525">
            <a:noFill/>
            <a:miter lim="800000"/>
            <a:headEnd/>
            <a:tailEnd/>
          </a:ln>
          <a:effectLst/>
        </p:spPr>
        <p:txBody>
          <a:bodyPr vert="horz" wrap="square" lIns="87890" tIns="43945" rIns="87890" bIns="43945" numCol="1" anchor="t" anchorCtr="0" compatLnSpc="1">
            <a:prstTxWarp prst="textNoShape">
              <a:avLst/>
            </a:prstTxWarp>
          </a:bodyPr>
          <a:lstStyle>
            <a:lvl1pPr>
              <a:lnSpc>
                <a:spcPct val="100000"/>
              </a:lnSpc>
              <a:spcBef>
                <a:spcPct val="0"/>
              </a:spcBef>
              <a:buClrTx/>
              <a:buSzTx/>
              <a:buFontTx/>
              <a:buNone/>
              <a:defRPr sz="1200"/>
            </a:lvl1pPr>
          </a:lstStyle>
          <a:p>
            <a:pPr>
              <a:defRPr/>
            </a:pPr>
            <a:endParaRPr lang="en-US"/>
          </a:p>
        </p:txBody>
      </p:sp>
      <p:sp>
        <p:nvSpPr>
          <p:cNvPr id="70659" name="Rectangle 3"/>
          <p:cNvSpPr>
            <a:spLocks noGrp="1" noChangeArrowheads="1"/>
          </p:cNvSpPr>
          <p:nvPr>
            <p:ph type="dt" idx="1"/>
          </p:nvPr>
        </p:nvSpPr>
        <p:spPr bwMode="auto">
          <a:xfrm>
            <a:off x="3765139" y="0"/>
            <a:ext cx="2878584" cy="488791"/>
          </a:xfrm>
          <a:prstGeom prst="rect">
            <a:avLst/>
          </a:prstGeom>
          <a:noFill/>
          <a:ln w="9525">
            <a:noFill/>
            <a:miter lim="800000"/>
            <a:headEnd/>
            <a:tailEnd/>
          </a:ln>
          <a:effectLst/>
        </p:spPr>
        <p:txBody>
          <a:bodyPr vert="horz" wrap="square" lIns="87890" tIns="43945" rIns="87890" bIns="43945" numCol="1" anchor="t" anchorCtr="0" compatLnSpc="1">
            <a:prstTxWarp prst="textNoShape">
              <a:avLst/>
            </a:prstTxWarp>
          </a:bodyPr>
          <a:lstStyle>
            <a:lvl1pPr algn="r">
              <a:lnSpc>
                <a:spcPct val="100000"/>
              </a:lnSpc>
              <a:spcBef>
                <a:spcPct val="0"/>
              </a:spcBef>
              <a:buClrTx/>
              <a:buSzTx/>
              <a:buFontTx/>
              <a:buNone/>
              <a:defRPr sz="1200"/>
            </a:lvl1pPr>
          </a:lstStyle>
          <a:p>
            <a:pPr>
              <a:defRPr/>
            </a:pPr>
            <a:endParaRPr lang="en-US"/>
          </a:p>
        </p:txBody>
      </p:sp>
      <p:sp>
        <p:nvSpPr>
          <p:cNvPr id="22532" name="Rectangle 4"/>
          <p:cNvSpPr>
            <a:spLocks noGrp="1" noRot="1" noChangeAspect="1" noChangeArrowheads="1" noTextEdit="1"/>
          </p:cNvSpPr>
          <p:nvPr>
            <p:ph type="sldImg" idx="2"/>
          </p:nvPr>
        </p:nvSpPr>
        <p:spPr bwMode="auto">
          <a:xfrm>
            <a:off x="879475" y="733425"/>
            <a:ext cx="4886325" cy="3665538"/>
          </a:xfrm>
          <a:prstGeom prst="rect">
            <a:avLst/>
          </a:prstGeom>
          <a:noFill/>
          <a:ln w="9525">
            <a:solidFill>
              <a:srgbClr val="000000"/>
            </a:solidFill>
            <a:miter lim="800000"/>
            <a:headEnd/>
            <a:tailEnd/>
          </a:ln>
        </p:spPr>
      </p:sp>
      <p:sp>
        <p:nvSpPr>
          <p:cNvPr id="70661" name="Rectangle 5"/>
          <p:cNvSpPr>
            <a:spLocks noGrp="1" noChangeArrowheads="1"/>
          </p:cNvSpPr>
          <p:nvPr>
            <p:ph type="body" sz="quarter" idx="3"/>
          </p:nvPr>
        </p:nvSpPr>
        <p:spPr bwMode="auto">
          <a:xfrm>
            <a:off x="664528" y="4643517"/>
            <a:ext cx="5316220" cy="4399121"/>
          </a:xfrm>
          <a:prstGeom prst="rect">
            <a:avLst/>
          </a:prstGeom>
          <a:noFill/>
          <a:ln w="9525">
            <a:noFill/>
            <a:miter lim="800000"/>
            <a:headEnd/>
            <a:tailEnd/>
          </a:ln>
          <a:effectLst/>
        </p:spPr>
        <p:txBody>
          <a:bodyPr vert="horz" wrap="square" lIns="87890" tIns="43945" rIns="87890" bIns="43945"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70662" name="Rectangle 6"/>
          <p:cNvSpPr>
            <a:spLocks noGrp="1" noChangeArrowheads="1"/>
          </p:cNvSpPr>
          <p:nvPr>
            <p:ph type="ftr" sz="quarter" idx="4"/>
          </p:nvPr>
        </p:nvSpPr>
        <p:spPr bwMode="auto">
          <a:xfrm>
            <a:off x="1" y="9283901"/>
            <a:ext cx="2878584" cy="490358"/>
          </a:xfrm>
          <a:prstGeom prst="rect">
            <a:avLst/>
          </a:prstGeom>
          <a:noFill/>
          <a:ln w="9525">
            <a:noFill/>
            <a:miter lim="800000"/>
            <a:headEnd/>
            <a:tailEnd/>
          </a:ln>
          <a:effectLst/>
        </p:spPr>
        <p:txBody>
          <a:bodyPr vert="horz" wrap="square" lIns="87890" tIns="43945" rIns="87890" bIns="43945" numCol="1" anchor="b" anchorCtr="0" compatLnSpc="1">
            <a:prstTxWarp prst="textNoShape">
              <a:avLst/>
            </a:prstTxWarp>
          </a:bodyPr>
          <a:lstStyle>
            <a:lvl1pPr>
              <a:lnSpc>
                <a:spcPct val="100000"/>
              </a:lnSpc>
              <a:spcBef>
                <a:spcPct val="0"/>
              </a:spcBef>
              <a:buClrTx/>
              <a:buSzTx/>
              <a:buFontTx/>
              <a:buNone/>
              <a:defRPr sz="1200"/>
            </a:lvl1pPr>
          </a:lstStyle>
          <a:p>
            <a:pPr>
              <a:defRPr/>
            </a:pPr>
            <a:endParaRPr lang="en-US"/>
          </a:p>
        </p:txBody>
      </p:sp>
      <p:sp>
        <p:nvSpPr>
          <p:cNvPr id="70663" name="Rectangle 7"/>
          <p:cNvSpPr>
            <a:spLocks noGrp="1" noChangeArrowheads="1"/>
          </p:cNvSpPr>
          <p:nvPr>
            <p:ph type="sldNum" sz="quarter" idx="5"/>
          </p:nvPr>
        </p:nvSpPr>
        <p:spPr bwMode="auto">
          <a:xfrm>
            <a:off x="3765139" y="9283901"/>
            <a:ext cx="2878584" cy="490358"/>
          </a:xfrm>
          <a:prstGeom prst="rect">
            <a:avLst/>
          </a:prstGeom>
          <a:noFill/>
          <a:ln w="9525">
            <a:noFill/>
            <a:miter lim="800000"/>
            <a:headEnd/>
            <a:tailEnd/>
          </a:ln>
          <a:effectLst/>
        </p:spPr>
        <p:txBody>
          <a:bodyPr vert="horz" wrap="square" lIns="87890" tIns="43945" rIns="87890" bIns="43945" numCol="1" anchor="b" anchorCtr="0" compatLnSpc="1">
            <a:prstTxWarp prst="textNoShape">
              <a:avLst/>
            </a:prstTxWarp>
          </a:bodyPr>
          <a:lstStyle>
            <a:lvl1pPr algn="r">
              <a:lnSpc>
                <a:spcPct val="100000"/>
              </a:lnSpc>
              <a:spcBef>
                <a:spcPct val="0"/>
              </a:spcBef>
              <a:buClrTx/>
              <a:buSzTx/>
              <a:buFontTx/>
              <a:buNone/>
              <a:defRPr sz="1200"/>
            </a:lvl1pPr>
          </a:lstStyle>
          <a:p>
            <a:pPr>
              <a:defRPr/>
            </a:pPr>
            <a:fld id="{E290869E-A044-4E45-B9FA-938CC671DD35}" type="slidenum">
              <a:rPr lang="en-US"/>
              <a:pPr>
                <a:defRPr/>
              </a:pPr>
              <a:t>‹#›</a:t>
            </a:fld>
            <a:endParaRPr lang="en-US"/>
          </a:p>
        </p:txBody>
      </p:sp>
    </p:spTree>
    <p:extLst>
      <p:ext uri="{BB962C8B-B14F-4D97-AF65-F5344CB8AC3E}">
        <p14:creationId xmlns:p14="http://schemas.microsoft.com/office/powerpoint/2010/main" val="260273943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IE" dirty="0" smtClean="0"/>
              <a:t>Describe</a:t>
            </a:r>
            <a:r>
              <a:rPr lang="en-IE" baseline="0" dirty="0" smtClean="0"/>
              <a:t> hand-outs</a:t>
            </a:r>
            <a:endParaRPr lang="en-IE" dirty="0"/>
          </a:p>
        </p:txBody>
      </p:sp>
      <p:sp>
        <p:nvSpPr>
          <p:cNvPr id="4" name="Slide Number Placeholder 3"/>
          <p:cNvSpPr>
            <a:spLocks noGrp="1"/>
          </p:cNvSpPr>
          <p:nvPr>
            <p:ph type="sldNum" sz="quarter" idx="10"/>
          </p:nvPr>
        </p:nvSpPr>
        <p:spPr/>
        <p:txBody>
          <a:bodyPr/>
          <a:lstStyle/>
          <a:p>
            <a:pPr>
              <a:defRPr/>
            </a:pPr>
            <a:fld id="{E290869E-A044-4E45-B9FA-938CC671DD35}" type="slidenum">
              <a:rPr lang="en-US" smtClean="0"/>
              <a:pPr>
                <a:defRPr/>
              </a:pPr>
              <a:t>2</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smtClean="0"/>
              <a:t>6</a:t>
            </a:r>
            <a:r>
              <a:rPr lang="en-IE" baseline="0" dirty="0" smtClean="0"/>
              <a:t> credits – 150 hours:</a:t>
            </a:r>
          </a:p>
          <a:p>
            <a:r>
              <a:rPr lang="en-IE" baseline="0" dirty="0" smtClean="0"/>
              <a:t>MMPT/DMD should spend 450 hours /term on their FYP</a:t>
            </a:r>
          </a:p>
          <a:p>
            <a:r>
              <a:rPr lang="en-IE" baseline="0" dirty="0" smtClean="0"/>
              <a:t>CS/Games should spend 150 hours in the first term, 300 hours in the 2</a:t>
            </a:r>
            <a:r>
              <a:rPr lang="en-IE" baseline="30000" dirty="0" smtClean="0"/>
              <a:t>nd</a:t>
            </a:r>
            <a:r>
              <a:rPr lang="en-IE" baseline="0" dirty="0" smtClean="0"/>
              <a:t> term</a:t>
            </a:r>
          </a:p>
          <a:p>
            <a:r>
              <a:rPr lang="en-IE" baseline="0" dirty="0" smtClean="0"/>
              <a:t>And faculty mark it as such</a:t>
            </a:r>
            <a:endParaRPr lang="en-US" dirty="0"/>
          </a:p>
        </p:txBody>
      </p:sp>
      <p:sp>
        <p:nvSpPr>
          <p:cNvPr id="4" name="Slide Number Placeholder 3"/>
          <p:cNvSpPr>
            <a:spLocks noGrp="1"/>
          </p:cNvSpPr>
          <p:nvPr>
            <p:ph type="sldNum" sz="quarter" idx="10"/>
          </p:nvPr>
        </p:nvSpPr>
        <p:spPr/>
        <p:txBody>
          <a:bodyPr/>
          <a:lstStyle/>
          <a:p>
            <a:pPr>
              <a:defRPr/>
            </a:pPr>
            <a:fld id="{E290869E-A044-4E45-B9FA-938CC671DD35}" type="slidenum">
              <a:rPr lang="en-US" smtClean="0"/>
              <a:pPr>
                <a:defRPr/>
              </a:pPr>
              <a:t>3</a:t>
            </a:fld>
            <a:endParaRPr lang="en-US"/>
          </a:p>
        </p:txBody>
      </p:sp>
    </p:spTree>
    <p:extLst>
      <p:ext uri="{BB962C8B-B14F-4D97-AF65-F5344CB8AC3E}">
        <p14:creationId xmlns:p14="http://schemas.microsoft.com/office/powerpoint/2010/main" val="18805223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IE" dirty="0" smtClean="0"/>
              <a:t>Work like a demon – when there are</a:t>
            </a:r>
            <a:r>
              <a:rPr lang="en-IE" baseline="0" dirty="0" smtClean="0"/>
              <a:t> less projects etc.</a:t>
            </a:r>
          </a:p>
          <a:p>
            <a:r>
              <a:rPr lang="en-IE" baseline="0" dirty="0" smtClean="0"/>
              <a:t>Bolded signifies fail-points;</a:t>
            </a:r>
          </a:p>
          <a:p>
            <a:r>
              <a:rPr lang="en-IE" baseline="0" dirty="0" smtClean="0"/>
              <a:t>Bold and italicized: marked </a:t>
            </a:r>
            <a:r>
              <a:rPr lang="en-IE" baseline="0" dirty="0" err="1" smtClean="0"/>
              <a:t>artifacts</a:t>
            </a:r>
            <a:endParaRPr lang="en-IE" dirty="0"/>
          </a:p>
        </p:txBody>
      </p:sp>
      <p:sp>
        <p:nvSpPr>
          <p:cNvPr id="4" name="Slide Number Placeholder 3"/>
          <p:cNvSpPr>
            <a:spLocks noGrp="1"/>
          </p:cNvSpPr>
          <p:nvPr>
            <p:ph type="sldNum" sz="quarter" idx="10"/>
          </p:nvPr>
        </p:nvSpPr>
        <p:spPr/>
        <p:txBody>
          <a:bodyPr/>
          <a:lstStyle/>
          <a:p>
            <a:pPr>
              <a:defRPr/>
            </a:pPr>
            <a:fld id="{E290869E-A044-4E45-B9FA-938CC671DD35}" type="slidenum">
              <a:rPr lang="en-US" smtClean="0"/>
              <a:pPr>
                <a:defRPr/>
              </a:pPr>
              <a:t>4</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IE" dirty="0" smtClean="0"/>
              <a:t>Bold underline = fail</a:t>
            </a:r>
          </a:p>
          <a:p>
            <a:r>
              <a:rPr lang="en-IE" dirty="0" smtClean="0"/>
              <a:t>Bold and italic = part</a:t>
            </a:r>
            <a:r>
              <a:rPr lang="en-IE" baseline="0" dirty="0" smtClean="0"/>
              <a:t> of 1</a:t>
            </a:r>
            <a:r>
              <a:rPr lang="en-IE" baseline="30000" dirty="0" smtClean="0"/>
              <a:t>st</a:t>
            </a:r>
            <a:r>
              <a:rPr lang="en-IE" baseline="0" dirty="0" smtClean="0"/>
              <a:t> term grading</a:t>
            </a:r>
            <a:endParaRPr lang="en-IE" dirty="0" smtClean="0"/>
          </a:p>
          <a:p>
            <a:r>
              <a:rPr lang="en-IE" dirty="0" smtClean="0"/>
              <a:t>Bold</a:t>
            </a:r>
            <a:r>
              <a:rPr lang="en-IE" baseline="0" dirty="0" smtClean="0"/>
              <a:t> = penalties</a:t>
            </a:r>
            <a:endParaRPr lang="en-IE" dirty="0"/>
          </a:p>
        </p:txBody>
      </p:sp>
      <p:sp>
        <p:nvSpPr>
          <p:cNvPr id="4" name="Slide Number Placeholder 3"/>
          <p:cNvSpPr>
            <a:spLocks noGrp="1"/>
          </p:cNvSpPr>
          <p:nvPr>
            <p:ph type="sldNum" sz="quarter" idx="10"/>
          </p:nvPr>
        </p:nvSpPr>
        <p:spPr/>
        <p:txBody>
          <a:bodyPr/>
          <a:lstStyle/>
          <a:p>
            <a:pPr>
              <a:defRPr/>
            </a:pPr>
            <a:fld id="{E290869E-A044-4E45-B9FA-938CC671DD35}" type="slidenum">
              <a:rPr lang="en-US" smtClean="0"/>
              <a:pPr>
                <a:defRPr/>
              </a:pPr>
              <a:t>5</a:t>
            </a:fld>
            <a:endParaRPr lang="en-US"/>
          </a:p>
        </p:txBody>
      </p:sp>
    </p:spTree>
    <p:extLst>
      <p:ext uri="{BB962C8B-B14F-4D97-AF65-F5344CB8AC3E}">
        <p14:creationId xmlns:p14="http://schemas.microsoft.com/office/powerpoint/2010/main" val="25389070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IE" dirty="0" smtClean="0"/>
              <a:t>Term</a:t>
            </a:r>
            <a:r>
              <a:rPr lang="en-IE" baseline="0" dirty="0" smtClean="0"/>
              <a:t> 2: a bit about process, but a lot about product and report.</a:t>
            </a:r>
            <a:endParaRPr lang="en-IE" dirty="0"/>
          </a:p>
        </p:txBody>
      </p:sp>
      <p:sp>
        <p:nvSpPr>
          <p:cNvPr id="4" name="Slide Number Placeholder 3"/>
          <p:cNvSpPr>
            <a:spLocks noGrp="1"/>
          </p:cNvSpPr>
          <p:nvPr>
            <p:ph type="sldNum" sz="quarter" idx="10"/>
          </p:nvPr>
        </p:nvSpPr>
        <p:spPr/>
        <p:txBody>
          <a:bodyPr/>
          <a:lstStyle/>
          <a:p>
            <a:pPr>
              <a:defRPr/>
            </a:pPr>
            <a:fld id="{E290869E-A044-4E45-B9FA-938CC671DD35}" type="slidenum">
              <a:rPr lang="en-US" smtClean="0"/>
              <a:pPr>
                <a:defRPr/>
              </a:pPr>
              <a:t>18</a:t>
            </a:fld>
            <a:endParaRPr lang="en-US"/>
          </a:p>
        </p:txBody>
      </p:sp>
    </p:spTree>
    <p:extLst>
      <p:ext uri="{BB962C8B-B14F-4D97-AF65-F5344CB8AC3E}">
        <p14:creationId xmlns:p14="http://schemas.microsoft.com/office/powerpoint/2010/main" val="40586142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smtClean="0"/>
              <a:t>I will not think poorly of you for asking, just</a:t>
            </a:r>
            <a:r>
              <a:rPr lang="en-IE" baseline="0" dirty="0" smtClean="0"/>
              <a:t> wont respond</a:t>
            </a:r>
          </a:p>
          <a:p>
            <a:r>
              <a:rPr lang="en-IE" baseline="0" dirty="0" smtClean="0"/>
              <a:t>And if you do ask something important but not covered, that’s great for me!</a:t>
            </a:r>
            <a:endParaRPr lang="en-US" dirty="0"/>
          </a:p>
        </p:txBody>
      </p:sp>
      <p:sp>
        <p:nvSpPr>
          <p:cNvPr id="4" name="Slide Number Placeholder 3"/>
          <p:cNvSpPr>
            <a:spLocks noGrp="1"/>
          </p:cNvSpPr>
          <p:nvPr>
            <p:ph type="sldNum" sz="quarter" idx="10"/>
          </p:nvPr>
        </p:nvSpPr>
        <p:spPr/>
        <p:txBody>
          <a:bodyPr/>
          <a:lstStyle/>
          <a:p>
            <a:pPr>
              <a:defRPr/>
            </a:pPr>
            <a:fld id="{E290869E-A044-4E45-B9FA-938CC671DD35}" type="slidenum">
              <a:rPr lang="en-US" smtClean="0"/>
              <a:pPr>
                <a:defRPr/>
              </a:pPr>
              <a:t>25</a:t>
            </a:fld>
            <a:endParaRPr lang="en-US"/>
          </a:p>
        </p:txBody>
      </p:sp>
    </p:spTree>
    <p:extLst>
      <p:ext uri="{BB962C8B-B14F-4D97-AF65-F5344CB8AC3E}">
        <p14:creationId xmlns:p14="http://schemas.microsoft.com/office/powerpoint/2010/main" val="2763568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Freeform 7"/>
          <p:cNvSpPr>
            <a:spLocks noChangeArrowheads="1"/>
          </p:cNvSpPr>
          <p:nvPr/>
        </p:nvSpPr>
        <p:spPr bwMode="auto">
          <a:xfrm>
            <a:off x="609600" y="1219200"/>
            <a:ext cx="7924800" cy="914400"/>
          </a:xfrm>
          <a:custGeom>
            <a:avLst/>
            <a:gdLst/>
            <a:ahLst/>
            <a:cxnLst>
              <a:cxn ang="0">
                <a:pos x="0" y="1000"/>
              </a:cxn>
              <a:cxn ang="0">
                <a:pos x="0" y="0"/>
              </a:cxn>
              <a:cxn ang="0">
                <a:pos x="1000" y="0"/>
              </a:cxn>
            </a:cxnLst>
            <a:rect l="0" t="0" r="r" b="b"/>
            <a:pathLst>
              <a:path w="1000" h="1000">
                <a:moveTo>
                  <a:pt x="0" y="1000"/>
                </a:moveTo>
                <a:lnTo>
                  <a:pt x="0" y="0"/>
                </a:lnTo>
                <a:lnTo>
                  <a:pt x="1000" y="0"/>
                </a:lnTo>
              </a:path>
            </a:pathLst>
          </a:custGeom>
          <a:noFill/>
          <a:ln w="25400" cap="flat" cmpd="sng">
            <a:solidFill>
              <a:schemeClr val="accent1"/>
            </a:solidFill>
            <a:prstDash val="solid"/>
            <a:miter lim="800000"/>
            <a:headEnd/>
            <a:tailEnd/>
          </a:ln>
        </p:spPr>
        <p:txBody>
          <a:bodyPr/>
          <a:lstStyle/>
          <a:p>
            <a:pPr>
              <a:defRPr/>
            </a:pPr>
            <a:endParaRPr lang="en-IE"/>
          </a:p>
        </p:txBody>
      </p:sp>
      <p:sp>
        <p:nvSpPr>
          <p:cNvPr id="5" name="Line 8"/>
          <p:cNvSpPr>
            <a:spLocks noChangeShapeType="1"/>
          </p:cNvSpPr>
          <p:nvPr/>
        </p:nvSpPr>
        <p:spPr bwMode="auto">
          <a:xfrm>
            <a:off x="1981200" y="3962400"/>
            <a:ext cx="6511925" cy="0"/>
          </a:xfrm>
          <a:prstGeom prst="line">
            <a:avLst/>
          </a:prstGeom>
          <a:noFill/>
          <a:ln w="19050">
            <a:solidFill>
              <a:schemeClr val="accent1"/>
            </a:solidFill>
            <a:round/>
            <a:headEnd/>
            <a:tailEnd/>
          </a:ln>
          <a:effectLst/>
        </p:spPr>
        <p:txBody>
          <a:bodyPr/>
          <a:lstStyle/>
          <a:p>
            <a:pPr>
              <a:defRPr/>
            </a:pPr>
            <a:endParaRPr lang="en-IE"/>
          </a:p>
        </p:txBody>
      </p:sp>
      <p:sp>
        <p:nvSpPr>
          <p:cNvPr id="40962" name="Rectangle 2"/>
          <p:cNvSpPr>
            <a:spLocks noGrp="1" noChangeArrowheads="1"/>
          </p:cNvSpPr>
          <p:nvPr>
            <p:ph type="ctrTitle"/>
          </p:nvPr>
        </p:nvSpPr>
        <p:spPr>
          <a:xfrm>
            <a:off x="914400" y="1524000"/>
            <a:ext cx="7623175" cy="1752600"/>
          </a:xfrm>
        </p:spPr>
        <p:txBody>
          <a:bodyPr/>
          <a:lstStyle>
            <a:lvl1pPr>
              <a:defRPr sz="4000"/>
            </a:lvl1pPr>
          </a:lstStyle>
          <a:p>
            <a:r>
              <a:rPr lang="en-US" altLang="en-US"/>
              <a:t>Click to edit Master title style</a:t>
            </a:r>
          </a:p>
        </p:txBody>
      </p:sp>
      <p:sp>
        <p:nvSpPr>
          <p:cNvPr id="40963" name="Rectangle 3"/>
          <p:cNvSpPr>
            <a:spLocks noGrp="1" noChangeArrowheads="1"/>
          </p:cNvSpPr>
          <p:nvPr>
            <p:ph type="subTitle" idx="1"/>
          </p:nvPr>
        </p:nvSpPr>
        <p:spPr>
          <a:xfrm>
            <a:off x="1981200" y="3962400"/>
            <a:ext cx="6553200" cy="1752600"/>
          </a:xfrm>
        </p:spPr>
        <p:txBody>
          <a:bodyPr/>
          <a:lstStyle>
            <a:lvl1pPr marL="0" indent="0">
              <a:buFont typeface="Wingdings" pitchFamily="2" charset="2"/>
              <a:buNone/>
              <a:defRPr sz="2200"/>
            </a:lvl1pPr>
          </a:lstStyle>
          <a:p>
            <a:r>
              <a:rPr lang="en-US" altLang="en-US"/>
              <a:t>Click to edit Master subtitle style</a:t>
            </a:r>
          </a:p>
        </p:txBody>
      </p:sp>
      <p:sp>
        <p:nvSpPr>
          <p:cNvPr id="6" name="Rectangle 4"/>
          <p:cNvSpPr>
            <a:spLocks noGrp="1" noChangeArrowheads="1"/>
          </p:cNvSpPr>
          <p:nvPr>
            <p:ph type="dt" sz="half" idx="10"/>
          </p:nvPr>
        </p:nvSpPr>
        <p:spPr bwMode="auto">
          <a:xfrm>
            <a:off x="457200" y="6243638"/>
            <a:ext cx="21336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a:lnSpc>
                <a:spcPct val="100000"/>
              </a:lnSpc>
              <a:spcBef>
                <a:spcPct val="0"/>
              </a:spcBef>
              <a:buClrTx/>
              <a:buSzTx/>
              <a:buFontTx/>
              <a:buNone/>
              <a:defRPr sz="1200">
                <a:latin typeface="+mj-lt"/>
              </a:defRPr>
            </a:lvl1pPr>
          </a:lstStyle>
          <a:p>
            <a:pPr>
              <a:defRPr/>
            </a:pPr>
            <a:endParaRPr lang="en-US" altLang="en-US"/>
          </a:p>
        </p:txBody>
      </p:sp>
      <p:sp>
        <p:nvSpPr>
          <p:cNvPr id="7" name="Rectangle 5"/>
          <p:cNvSpPr>
            <a:spLocks noGrp="1" noChangeArrowheads="1"/>
          </p:cNvSpPr>
          <p:nvPr>
            <p:ph type="ftr" sz="quarter" idx="11"/>
          </p:nvPr>
        </p:nvSpPr>
        <p:spPr>
          <a:xfrm>
            <a:off x="3124200" y="6243638"/>
            <a:ext cx="2895600" cy="457200"/>
          </a:xfrm>
        </p:spPr>
        <p:txBody>
          <a:bodyPr wrap="square" tIns="45720" bIns="45720" anchor="b" anchorCtr="0"/>
          <a:lstStyle>
            <a:lvl1pPr>
              <a:defRPr/>
            </a:lvl1pPr>
          </a:lstStyle>
          <a:p>
            <a:pPr>
              <a:defRPr/>
            </a:pPr>
            <a:endParaRPr lang="en-US" altLang="en-US"/>
          </a:p>
        </p:txBody>
      </p:sp>
      <p:sp>
        <p:nvSpPr>
          <p:cNvPr id="8" name="Rectangle 6"/>
          <p:cNvSpPr>
            <a:spLocks noGrp="1" noChangeArrowheads="1"/>
          </p:cNvSpPr>
          <p:nvPr>
            <p:ph type="sldNum" sz="quarter" idx="12"/>
          </p:nvPr>
        </p:nvSpPr>
        <p:spPr bwMode="auto">
          <a:xfrm>
            <a:off x="6553200" y="6243638"/>
            <a:ext cx="2133600" cy="457200"/>
          </a:xfrm>
          <a:prstGeom prst="rect">
            <a:avLst/>
          </a:prstGeom>
          <a:ln>
            <a:miter lim="800000"/>
            <a:headEnd/>
            <a:tailEnd/>
          </a:ln>
        </p:spPr>
        <p:txBody>
          <a:bodyPr vert="horz" wrap="square" lIns="91440" tIns="45720" rIns="91440" bIns="45720" numCol="1" anchor="b" anchorCtr="0" compatLnSpc="1">
            <a:prstTxWarp prst="textNoShape">
              <a:avLst/>
            </a:prstTxWarp>
          </a:bodyPr>
          <a:lstStyle>
            <a:lvl1pPr algn="r">
              <a:lnSpc>
                <a:spcPct val="100000"/>
              </a:lnSpc>
              <a:spcBef>
                <a:spcPct val="0"/>
              </a:spcBef>
              <a:buClrTx/>
              <a:buSzTx/>
              <a:buFontTx/>
              <a:buNone/>
              <a:defRPr sz="1200">
                <a:latin typeface="+mj-lt"/>
              </a:defRPr>
            </a:lvl1pPr>
          </a:lstStyle>
          <a:p>
            <a:pPr>
              <a:defRPr/>
            </a:pPr>
            <a:fld id="{F23A8025-CAF8-4F61-B9CE-8051510058AF}" type="slidenum">
              <a:rPr lang="en-US" altLang="en-US"/>
              <a:pPr>
                <a:defRPr/>
              </a:pPr>
              <a:t>‹#›</a:t>
            </a:fld>
            <a:endParaRPr lang="en-US" altLang="en-US"/>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E"/>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E"/>
          </a:p>
        </p:txBody>
      </p:sp>
      <p:sp>
        <p:nvSpPr>
          <p:cNvPr id="4" name="Rectangle 3"/>
          <p:cNvSpPr>
            <a:spLocks noGrp="1" noChangeArrowheads="1"/>
          </p:cNvSpPr>
          <p:nvPr>
            <p:ph type="ftr" sz="quarter" idx="10"/>
          </p:nvPr>
        </p:nvSpPr>
        <p:spPr/>
        <p:txBody>
          <a:bodyPr/>
          <a:lstStyle>
            <a:lvl1pPr>
              <a:defRPr/>
            </a:lvl1pPr>
          </a:lstStyle>
          <a:p>
            <a:pPr>
              <a:defRPr/>
            </a:pPr>
            <a:r>
              <a:rPr lang="en-GB" altLang="en-US"/>
              <a:t>Department of Computer Science </a:t>
            </a:r>
            <a:r>
              <a:rPr lang="en-GB" altLang="en-US" smtClean="0"/>
              <a:t>  and </a:t>
            </a:r>
            <a:r>
              <a:rPr lang="en-GB" altLang="en-US"/>
              <a:t>Information Systems</a:t>
            </a:r>
            <a:endParaRPr lang="en-US" altLang="en-US"/>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smtClean="0"/>
              <a:t>Click to edit Master title style</a:t>
            </a:r>
            <a:endParaRPr lang="en-IE"/>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5"/>
          <p:cNvSpPr>
            <a:spLocks noGrp="1" noChangeArrowheads="1"/>
          </p:cNvSpPr>
          <p:nvPr>
            <p:ph type="ftr" sz="quarter" idx="10"/>
          </p:nvPr>
        </p:nvSpPr>
        <p:spPr>
          <a:ln/>
        </p:spPr>
        <p:txBody>
          <a:bodyPr/>
          <a:lstStyle>
            <a:lvl1pPr>
              <a:defRPr/>
            </a:lvl1pPr>
          </a:lstStyle>
          <a:p>
            <a:pPr>
              <a:defRPr/>
            </a:pPr>
            <a:r>
              <a:rPr lang="en-GB" altLang="en-US"/>
              <a:t>Department of Computer Science   and Information Systems</a:t>
            </a:r>
            <a:endParaRPr lang="en-US"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E"/>
          </a:p>
        </p:txBody>
      </p:sp>
      <p:sp>
        <p:nvSpPr>
          <p:cNvPr id="3" name="Content Placeholder 2"/>
          <p:cNvSpPr>
            <a:spLocks noGrp="1"/>
          </p:cNvSpPr>
          <p:nvPr>
            <p:ph sz="half" idx="1"/>
          </p:nvPr>
        </p:nvSpPr>
        <p:spPr>
          <a:xfrm>
            <a:off x="457200" y="765175"/>
            <a:ext cx="4038600" cy="56165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E"/>
          </a:p>
        </p:txBody>
      </p:sp>
      <p:sp>
        <p:nvSpPr>
          <p:cNvPr id="4" name="Content Placeholder 3"/>
          <p:cNvSpPr>
            <a:spLocks noGrp="1"/>
          </p:cNvSpPr>
          <p:nvPr>
            <p:ph sz="half" idx="2"/>
          </p:nvPr>
        </p:nvSpPr>
        <p:spPr>
          <a:xfrm>
            <a:off x="4648200" y="765175"/>
            <a:ext cx="4038600" cy="56165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E"/>
          </a:p>
        </p:txBody>
      </p:sp>
      <p:sp>
        <p:nvSpPr>
          <p:cNvPr id="5" name="Rectangle 5"/>
          <p:cNvSpPr>
            <a:spLocks noGrp="1" noChangeArrowheads="1"/>
          </p:cNvSpPr>
          <p:nvPr>
            <p:ph type="ftr" sz="quarter" idx="10"/>
          </p:nvPr>
        </p:nvSpPr>
        <p:spPr>
          <a:ln/>
        </p:spPr>
        <p:txBody>
          <a:bodyPr/>
          <a:lstStyle>
            <a:lvl1pPr>
              <a:defRPr/>
            </a:lvl1pPr>
          </a:lstStyle>
          <a:p>
            <a:pPr>
              <a:defRPr/>
            </a:pPr>
            <a:r>
              <a:rPr lang="en-GB" altLang="en-US"/>
              <a:t>Department of Computer Science   and Information Systems</a:t>
            </a:r>
            <a:endParaRPr lang="en-US"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IE"/>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E"/>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E"/>
          </a:p>
        </p:txBody>
      </p:sp>
      <p:sp>
        <p:nvSpPr>
          <p:cNvPr id="7" name="Rectangle 5"/>
          <p:cNvSpPr>
            <a:spLocks noGrp="1" noChangeArrowheads="1"/>
          </p:cNvSpPr>
          <p:nvPr>
            <p:ph type="ftr" sz="quarter" idx="10"/>
          </p:nvPr>
        </p:nvSpPr>
        <p:spPr>
          <a:ln/>
        </p:spPr>
        <p:txBody>
          <a:bodyPr/>
          <a:lstStyle>
            <a:lvl1pPr>
              <a:defRPr/>
            </a:lvl1pPr>
          </a:lstStyle>
          <a:p>
            <a:pPr>
              <a:defRPr/>
            </a:pPr>
            <a:r>
              <a:rPr lang="en-GB" altLang="en-US"/>
              <a:t>Department of Computer Science   and Information Systems</a:t>
            </a:r>
            <a:endParaRPr lang="en-US"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E"/>
          </a:p>
        </p:txBody>
      </p:sp>
      <p:sp>
        <p:nvSpPr>
          <p:cNvPr id="3" name="Rectangle 5"/>
          <p:cNvSpPr>
            <a:spLocks noGrp="1" noChangeArrowheads="1"/>
          </p:cNvSpPr>
          <p:nvPr>
            <p:ph type="ftr" sz="quarter" idx="10"/>
          </p:nvPr>
        </p:nvSpPr>
        <p:spPr>
          <a:ln/>
        </p:spPr>
        <p:txBody>
          <a:bodyPr/>
          <a:lstStyle>
            <a:lvl1pPr>
              <a:defRPr/>
            </a:lvl1pPr>
          </a:lstStyle>
          <a:p>
            <a:pPr>
              <a:defRPr/>
            </a:pPr>
            <a:r>
              <a:rPr lang="en-GB" altLang="en-US"/>
              <a:t>Department of Computer Science   and Information Systems</a:t>
            </a:r>
            <a:endParaRPr lang="en-US"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p:cNvSpPr>
            <a:spLocks noGrp="1" noChangeArrowheads="1"/>
          </p:cNvSpPr>
          <p:nvPr>
            <p:ph type="ftr" sz="quarter" idx="10"/>
          </p:nvPr>
        </p:nvSpPr>
        <p:spPr>
          <a:ln/>
        </p:spPr>
        <p:txBody>
          <a:bodyPr/>
          <a:lstStyle>
            <a:lvl1pPr>
              <a:defRPr/>
            </a:lvl1pPr>
          </a:lstStyle>
          <a:p>
            <a:pPr>
              <a:defRPr/>
            </a:pPr>
            <a:r>
              <a:rPr lang="en-GB" altLang="en-US"/>
              <a:t>Department of Computer Science   and Information Systems</a:t>
            </a:r>
            <a:endParaRPr lang="en-US"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E"/>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E"/>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5"/>
          <p:cNvSpPr>
            <a:spLocks noGrp="1" noChangeArrowheads="1"/>
          </p:cNvSpPr>
          <p:nvPr>
            <p:ph type="ftr" sz="quarter" idx="10"/>
          </p:nvPr>
        </p:nvSpPr>
        <p:spPr>
          <a:ln/>
        </p:spPr>
        <p:txBody>
          <a:bodyPr/>
          <a:lstStyle>
            <a:lvl1pPr>
              <a:defRPr/>
            </a:lvl1pPr>
          </a:lstStyle>
          <a:p>
            <a:pPr>
              <a:defRPr/>
            </a:pPr>
            <a:r>
              <a:rPr lang="en-GB" altLang="en-US"/>
              <a:t>Department of Computer Science   and Information Systems</a:t>
            </a:r>
            <a:endParaRPr lang="en-US"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E"/>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IE"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5"/>
          <p:cNvSpPr>
            <a:spLocks noGrp="1" noChangeArrowheads="1"/>
          </p:cNvSpPr>
          <p:nvPr>
            <p:ph type="ftr" sz="quarter" idx="10"/>
          </p:nvPr>
        </p:nvSpPr>
        <p:spPr>
          <a:ln/>
        </p:spPr>
        <p:txBody>
          <a:bodyPr/>
          <a:lstStyle>
            <a:lvl1pPr>
              <a:defRPr/>
            </a:lvl1pPr>
          </a:lstStyle>
          <a:p>
            <a:pPr>
              <a:defRPr/>
            </a:pPr>
            <a:r>
              <a:rPr lang="en-GB" altLang="en-US"/>
              <a:t>Department of Computer Science   and Information Systems</a:t>
            </a:r>
            <a:endParaRPr lang="en-US"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E"/>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E"/>
          </a:p>
        </p:txBody>
      </p:sp>
      <p:sp>
        <p:nvSpPr>
          <p:cNvPr id="4" name="Rectangle 5"/>
          <p:cNvSpPr>
            <a:spLocks noGrp="1" noChangeArrowheads="1"/>
          </p:cNvSpPr>
          <p:nvPr>
            <p:ph type="ftr" sz="quarter" idx="10"/>
          </p:nvPr>
        </p:nvSpPr>
        <p:spPr>
          <a:ln/>
        </p:spPr>
        <p:txBody>
          <a:bodyPr/>
          <a:lstStyle>
            <a:lvl1pPr>
              <a:defRPr/>
            </a:lvl1pPr>
          </a:lstStyle>
          <a:p>
            <a:pPr>
              <a:defRPr/>
            </a:pPr>
            <a:r>
              <a:rPr lang="en-GB" altLang="en-US"/>
              <a:t>Department of Computer Science   and Information Systems</a:t>
            </a:r>
            <a:endParaRPr lang="en-US"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5888"/>
            <a:ext cx="2057400" cy="6265862"/>
          </a:xfrm>
        </p:spPr>
        <p:txBody>
          <a:bodyPr vert="eaVert"/>
          <a:lstStyle/>
          <a:p>
            <a:r>
              <a:rPr lang="en-US" smtClean="0"/>
              <a:t>Click to edit Master title style</a:t>
            </a:r>
            <a:endParaRPr lang="en-IE"/>
          </a:p>
        </p:txBody>
      </p:sp>
      <p:sp>
        <p:nvSpPr>
          <p:cNvPr id="3" name="Vertical Text Placeholder 2"/>
          <p:cNvSpPr>
            <a:spLocks noGrp="1"/>
          </p:cNvSpPr>
          <p:nvPr>
            <p:ph type="body" orient="vert" idx="1"/>
          </p:nvPr>
        </p:nvSpPr>
        <p:spPr>
          <a:xfrm>
            <a:off x="457200" y="115888"/>
            <a:ext cx="6019800" cy="6265862"/>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E"/>
          </a:p>
        </p:txBody>
      </p:sp>
      <p:sp>
        <p:nvSpPr>
          <p:cNvPr id="4" name="Rectangle 5"/>
          <p:cNvSpPr>
            <a:spLocks noGrp="1" noChangeArrowheads="1"/>
          </p:cNvSpPr>
          <p:nvPr>
            <p:ph type="ftr" sz="quarter" idx="10"/>
          </p:nvPr>
        </p:nvSpPr>
        <p:spPr>
          <a:ln/>
        </p:spPr>
        <p:txBody>
          <a:bodyPr/>
          <a:lstStyle>
            <a:lvl1pPr>
              <a:defRPr/>
            </a:lvl1pPr>
          </a:lstStyle>
          <a:p>
            <a:pPr>
              <a:defRPr/>
            </a:pPr>
            <a:r>
              <a:rPr lang="en-GB" altLang="en-US"/>
              <a:t>Department of Computer Science   and Information Systems</a:t>
            </a:r>
            <a:endParaRPr lang="en-US"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115888"/>
            <a:ext cx="8229600" cy="64928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ltLang="en-US" smtClean="0"/>
              <a:t>Click to edit Master title style</a:t>
            </a:r>
          </a:p>
        </p:txBody>
      </p:sp>
      <p:sp>
        <p:nvSpPr>
          <p:cNvPr id="1027" name="Rectangle 3"/>
          <p:cNvSpPr>
            <a:spLocks noGrp="1" noChangeArrowheads="1"/>
          </p:cNvSpPr>
          <p:nvPr>
            <p:ph type="body" idx="1"/>
          </p:nvPr>
        </p:nvSpPr>
        <p:spPr bwMode="auto">
          <a:xfrm>
            <a:off x="457200" y="765175"/>
            <a:ext cx="8229600" cy="561657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39941" name="Rectangle 5"/>
          <p:cNvSpPr>
            <a:spLocks noGrp="1" noChangeArrowheads="1"/>
          </p:cNvSpPr>
          <p:nvPr>
            <p:ph type="ftr" sz="quarter" idx="3"/>
          </p:nvPr>
        </p:nvSpPr>
        <p:spPr bwMode="auto">
          <a:xfrm>
            <a:off x="2273300" y="6453188"/>
            <a:ext cx="4214813" cy="217487"/>
          </a:xfrm>
          <a:prstGeom prst="rect">
            <a:avLst/>
          </a:prstGeom>
          <a:noFill/>
          <a:ln w="9525">
            <a:noFill/>
            <a:miter lim="800000"/>
            <a:headEnd/>
            <a:tailEnd/>
          </a:ln>
          <a:effectLst/>
        </p:spPr>
        <p:txBody>
          <a:bodyPr vert="horz" wrap="none" lIns="91440" tIns="18000" rIns="91440" bIns="18000" numCol="1" anchor="ctr" anchorCtr="1" compatLnSpc="1">
            <a:prstTxWarp prst="textNoShape">
              <a:avLst/>
            </a:prstTxWarp>
            <a:spAutoFit/>
          </a:bodyPr>
          <a:lstStyle>
            <a:lvl1pPr algn="ctr">
              <a:lnSpc>
                <a:spcPct val="100000"/>
              </a:lnSpc>
              <a:spcBef>
                <a:spcPct val="0"/>
              </a:spcBef>
              <a:buClrTx/>
              <a:buSzTx/>
              <a:buFontTx/>
              <a:buNone/>
              <a:defRPr sz="1200">
                <a:latin typeface="+mj-lt"/>
              </a:defRPr>
            </a:lvl1pPr>
          </a:lstStyle>
          <a:p>
            <a:pPr>
              <a:defRPr/>
            </a:pPr>
            <a:r>
              <a:rPr lang="en-GB" altLang="en-US"/>
              <a:t>Department of Computer Science   and Information Systems</a:t>
            </a:r>
            <a:endParaRPr lang="en-US" altLang="en-US"/>
          </a:p>
        </p:txBody>
      </p:sp>
      <p:sp>
        <p:nvSpPr>
          <p:cNvPr id="39944" name="Line 8"/>
          <p:cNvSpPr>
            <a:spLocks noChangeShapeType="1"/>
          </p:cNvSpPr>
          <p:nvPr/>
        </p:nvSpPr>
        <p:spPr bwMode="auto">
          <a:xfrm>
            <a:off x="457200" y="6367463"/>
            <a:ext cx="8229600" cy="0"/>
          </a:xfrm>
          <a:prstGeom prst="line">
            <a:avLst/>
          </a:prstGeom>
          <a:noFill/>
          <a:ln w="19050">
            <a:solidFill>
              <a:schemeClr val="accent1"/>
            </a:solidFill>
            <a:round/>
            <a:headEnd/>
            <a:tailEnd/>
          </a:ln>
          <a:effectLst/>
        </p:spPr>
        <p:txBody>
          <a:bodyPr/>
          <a:lstStyle/>
          <a:p>
            <a:pPr>
              <a:defRPr/>
            </a:pPr>
            <a:endParaRPr lang="en-IE"/>
          </a:p>
        </p:txBody>
      </p:sp>
    </p:spTree>
  </p:cSld>
  <p:clrMap bg1="lt1" tx1="dk1" bg2="lt2" tx2="dk2" accent1="accent1" accent2="accent2" accent3="accent3" accent4="accent4" accent5="accent5" accent6="accent6" hlink="hlink" folHlink="folHlink"/>
  <p:sldLayoutIdLst>
    <p:sldLayoutId id="2147483829" r:id="rId1"/>
    <p:sldLayoutId id="2147483830" r:id="rId2"/>
    <p:sldLayoutId id="2147483820" r:id="rId3"/>
    <p:sldLayoutId id="2147483821" r:id="rId4"/>
    <p:sldLayoutId id="2147483822" r:id="rId5"/>
    <p:sldLayoutId id="2147483823" r:id="rId6"/>
    <p:sldLayoutId id="2147483824" r:id="rId7"/>
    <p:sldLayoutId id="2147483825" r:id="rId8"/>
    <p:sldLayoutId id="2147483826" r:id="rId9"/>
    <p:sldLayoutId id="2147483827" r:id="rId10"/>
    <p:sldLayoutId id="2147483828" r:id="rId11"/>
  </p:sldLayoutIdLst>
  <p:timing>
    <p:tnLst>
      <p:par>
        <p:cTn id="1" dur="indefinite" restart="never" nodeType="tmRoot"/>
      </p:par>
    </p:tnLst>
  </p:timing>
  <p:hf sldNum="0" hdr="0" dt="0"/>
  <p:txStyles>
    <p:titleStyle>
      <a:lvl1pPr algn="ctr" rtl="0" eaLnBrk="0" fontAlgn="base" hangingPunct="0">
        <a:spcBef>
          <a:spcPct val="0"/>
        </a:spcBef>
        <a:spcAft>
          <a:spcPct val="0"/>
        </a:spcAft>
        <a:defRPr sz="3200" b="1">
          <a:solidFill>
            <a:schemeClr val="tx2"/>
          </a:solidFill>
          <a:latin typeface="+mj-lt"/>
          <a:ea typeface="+mj-ea"/>
          <a:cs typeface="+mj-cs"/>
        </a:defRPr>
      </a:lvl1pPr>
      <a:lvl2pPr algn="ctr" rtl="0" eaLnBrk="0" fontAlgn="base" hangingPunct="0">
        <a:spcBef>
          <a:spcPct val="0"/>
        </a:spcBef>
        <a:spcAft>
          <a:spcPct val="0"/>
        </a:spcAft>
        <a:defRPr sz="3200" b="1">
          <a:solidFill>
            <a:schemeClr val="tx2"/>
          </a:solidFill>
          <a:latin typeface="Garamond" pitchFamily="18" charset="0"/>
        </a:defRPr>
      </a:lvl2pPr>
      <a:lvl3pPr algn="ctr" rtl="0" eaLnBrk="0" fontAlgn="base" hangingPunct="0">
        <a:spcBef>
          <a:spcPct val="0"/>
        </a:spcBef>
        <a:spcAft>
          <a:spcPct val="0"/>
        </a:spcAft>
        <a:defRPr sz="3200" b="1">
          <a:solidFill>
            <a:schemeClr val="tx2"/>
          </a:solidFill>
          <a:latin typeface="Garamond" pitchFamily="18" charset="0"/>
        </a:defRPr>
      </a:lvl3pPr>
      <a:lvl4pPr algn="ctr" rtl="0" eaLnBrk="0" fontAlgn="base" hangingPunct="0">
        <a:spcBef>
          <a:spcPct val="0"/>
        </a:spcBef>
        <a:spcAft>
          <a:spcPct val="0"/>
        </a:spcAft>
        <a:defRPr sz="3200" b="1">
          <a:solidFill>
            <a:schemeClr val="tx2"/>
          </a:solidFill>
          <a:latin typeface="Garamond" pitchFamily="18" charset="0"/>
        </a:defRPr>
      </a:lvl4pPr>
      <a:lvl5pPr algn="ctr" rtl="0" eaLnBrk="0" fontAlgn="base" hangingPunct="0">
        <a:spcBef>
          <a:spcPct val="0"/>
        </a:spcBef>
        <a:spcAft>
          <a:spcPct val="0"/>
        </a:spcAft>
        <a:defRPr sz="3200" b="1">
          <a:solidFill>
            <a:schemeClr val="tx2"/>
          </a:solidFill>
          <a:latin typeface="Garamond" pitchFamily="18" charset="0"/>
        </a:defRPr>
      </a:lvl5pPr>
      <a:lvl6pPr marL="457200" algn="ctr" rtl="0" fontAlgn="base">
        <a:spcBef>
          <a:spcPct val="0"/>
        </a:spcBef>
        <a:spcAft>
          <a:spcPct val="0"/>
        </a:spcAft>
        <a:defRPr sz="3200" b="1">
          <a:solidFill>
            <a:schemeClr val="tx2"/>
          </a:solidFill>
          <a:latin typeface="Garamond" pitchFamily="18" charset="0"/>
        </a:defRPr>
      </a:lvl6pPr>
      <a:lvl7pPr marL="914400" algn="ctr" rtl="0" fontAlgn="base">
        <a:spcBef>
          <a:spcPct val="0"/>
        </a:spcBef>
        <a:spcAft>
          <a:spcPct val="0"/>
        </a:spcAft>
        <a:defRPr sz="3200" b="1">
          <a:solidFill>
            <a:schemeClr val="tx2"/>
          </a:solidFill>
          <a:latin typeface="Garamond" pitchFamily="18" charset="0"/>
        </a:defRPr>
      </a:lvl7pPr>
      <a:lvl8pPr marL="1371600" algn="ctr" rtl="0" fontAlgn="base">
        <a:spcBef>
          <a:spcPct val="0"/>
        </a:spcBef>
        <a:spcAft>
          <a:spcPct val="0"/>
        </a:spcAft>
        <a:defRPr sz="3200" b="1">
          <a:solidFill>
            <a:schemeClr val="tx2"/>
          </a:solidFill>
          <a:latin typeface="Garamond" pitchFamily="18" charset="0"/>
        </a:defRPr>
      </a:lvl8pPr>
      <a:lvl9pPr marL="1828800" algn="ctr" rtl="0" fontAlgn="base">
        <a:spcBef>
          <a:spcPct val="0"/>
        </a:spcBef>
        <a:spcAft>
          <a:spcPct val="0"/>
        </a:spcAft>
        <a:defRPr sz="3200" b="1">
          <a:solidFill>
            <a:schemeClr val="tx2"/>
          </a:solidFill>
          <a:latin typeface="Garamond" pitchFamily="18" charset="0"/>
        </a:defRPr>
      </a:lvl9pPr>
    </p:titleStyle>
    <p:bodyStyle>
      <a:lvl1pPr marL="342900" indent="-342900" algn="l" rtl="0" eaLnBrk="0" fontAlgn="base" hangingPunct="0">
        <a:spcBef>
          <a:spcPct val="20000"/>
        </a:spcBef>
        <a:spcAft>
          <a:spcPct val="0"/>
        </a:spcAft>
        <a:buClr>
          <a:schemeClr val="accent1"/>
        </a:buClr>
        <a:buSzPct val="65000"/>
        <a:buFont typeface="Wingdings" pitchFamily="2" charset="2"/>
        <a:buChar char="n"/>
        <a:defRPr sz="2400">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itchFamily="2" charset="2"/>
        <a:buChar char="q"/>
        <a:defRPr sz="2000">
          <a:solidFill>
            <a:schemeClr val="tx1"/>
          </a:solidFill>
          <a:latin typeface="+mn-lt"/>
        </a:defRPr>
      </a:lvl2pPr>
      <a:lvl3pPr marL="1022350" indent="-350838" algn="l" rtl="0" eaLnBrk="0" fontAlgn="base" hangingPunct="0">
        <a:spcBef>
          <a:spcPct val="20000"/>
        </a:spcBef>
        <a:spcAft>
          <a:spcPct val="0"/>
        </a:spcAft>
        <a:buClr>
          <a:schemeClr val="accent1"/>
        </a:buClr>
        <a:buSzPct val="65000"/>
        <a:buFont typeface="Wingdings" pitchFamily="2" charset="2"/>
        <a:buChar char="n"/>
        <a:defRPr>
          <a:solidFill>
            <a:schemeClr val="tx1"/>
          </a:solidFill>
          <a:latin typeface="+mn-lt"/>
        </a:defRPr>
      </a:lvl3pPr>
      <a:lvl4pPr marL="1339850" indent="-315913" algn="l" rtl="0" eaLnBrk="0" fontAlgn="base" hangingPunct="0">
        <a:spcBef>
          <a:spcPct val="20000"/>
        </a:spcBef>
        <a:spcAft>
          <a:spcPct val="0"/>
        </a:spcAft>
        <a:buClr>
          <a:schemeClr val="accent2"/>
        </a:buClr>
        <a:buSzPct val="70000"/>
        <a:buFont typeface="Wingdings" pitchFamily="2" charset="2"/>
        <a:buChar char="q"/>
        <a:defRPr sz="1600">
          <a:solidFill>
            <a:schemeClr val="tx1"/>
          </a:solidFill>
          <a:latin typeface="+mn-lt"/>
        </a:defRPr>
      </a:lvl4pPr>
      <a:lvl5pPr marL="1681163" indent="-339725" algn="l" rtl="0" eaLnBrk="0" fontAlgn="base" hangingPunct="0">
        <a:spcBef>
          <a:spcPct val="20000"/>
        </a:spcBef>
        <a:spcAft>
          <a:spcPct val="0"/>
        </a:spcAft>
        <a:buClr>
          <a:schemeClr val="accent1"/>
        </a:buClr>
        <a:buSzPct val="75000"/>
        <a:buFont typeface="Wingdings" pitchFamily="2" charset="2"/>
        <a:buChar char="§"/>
        <a:defRPr sz="1400">
          <a:solidFill>
            <a:schemeClr val="tx1"/>
          </a:solidFill>
          <a:latin typeface="+mn-lt"/>
        </a:defRPr>
      </a:lvl5pPr>
      <a:lvl6pPr marL="2138363" indent="-339725" algn="l" rtl="0" fontAlgn="base">
        <a:spcBef>
          <a:spcPct val="20000"/>
        </a:spcBef>
        <a:spcAft>
          <a:spcPct val="0"/>
        </a:spcAft>
        <a:buClr>
          <a:schemeClr val="accent1"/>
        </a:buClr>
        <a:buSzPct val="75000"/>
        <a:buFont typeface="Wingdings" pitchFamily="2" charset="2"/>
        <a:buChar char="§"/>
        <a:defRPr sz="1400">
          <a:solidFill>
            <a:schemeClr val="tx1"/>
          </a:solidFill>
          <a:latin typeface="+mn-lt"/>
        </a:defRPr>
      </a:lvl6pPr>
      <a:lvl7pPr marL="2595563" indent="-339725" algn="l" rtl="0" fontAlgn="base">
        <a:spcBef>
          <a:spcPct val="20000"/>
        </a:spcBef>
        <a:spcAft>
          <a:spcPct val="0"/>
        </a:spcAft>
        <a:buClr>
          <a:schemeClr val="accent1"/>
        </a:buClr>
        <a:buSzPct val="75000"/>
        <a:buFont typeface="Wingdings" pitchFamily="2" charset="2"/>
        <a:buChar char="§"/>
        <a:defRPr sz="1400">
          <a:solidFill>
            <a:schemeClr val="tx1"/>
          </a:solidFill>
          <a:latin typeface="+mn-lt"/>
        </a:defRPr>
      </a:lvl7pPr>
      <a:lvl8pPr marL="3052763" indent="-339725" algn="l" rtl="0" fontAlgn="base">
        <a:spcBef>
          <a:spcPct val="20000"/>
        </a:spcBef>
        <a:spcAft>
          <a:spcPct val="0"/>
        </a:spcAft>
        <a:buClr>
          <a:schemeClr val="accent1"/>
        </a:buClr>
        <a:buSzPct val="75000"/>
        <a:buFont typeface="Wingdings" pitchFamily="2" charset="2"/>
        <a:buChar char="§"/>
        <a:defRPr sz="1400">
          <a:solidFill>
            <a:schemeClr val="tx1"/>
          </a:solidFill>
          <a:latin typeface="+mn-lt"/>
        </a:defRPr>
      </a:lvl8pPr>
      <a:lvl9pPr marL="3509963" indent="-339725" algn="l" rtl="0" fontAlgn="base">
        <a:spcBef>
          <a:spcPct val="20000"/>
        </a:spcBef>
        <a:spcAft>
          <a:spcPct val="0"/>
        </a:spcAft>
        <a:buClr>
          <a:schemeClr val="accent1"/>
        </a:buClr>
        <a:buSzPct val="75000"/>
        <a:buFont typeface="Wingdings" pitchFamily="2" charset="2"/>
        <a:buChar char="§"/>
        <a:defRPr sz="1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mailto:Jim.Buckley@ul.ie"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sharepoint.ul.ie/SiteDirectory/DepartmentofCSIS/Lists/Student_FYP_1920/NewForm.aspx"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file:///\\casper\fyp\201"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hyperlink" Target="file:///\\casper\fyp"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ctrTitle"/>
          </p:nvPr>
        </p:nvSpPr>
        <p:spPr>
          <a:xfrm>
            <a:off x="928688" y="1785938"/>
            <a:ext cx="7623175" cy="4048125"/>
          </a:xfrm>
        </p:spPr>
        <p:txBody>
          <a:bodyPr/>
          <a:lstStyle/>
          <a:p>
            <a:pPr eaLnBrk="1" hangingPunct="1"/>
            <a:r>
              <a:rPr lang="en-GB" b="0" dirty="0" smtClean="0">
                <a:latin typeface="Arial" charset="0"/>
                <a:cs typeface="Arial" charset="0"/>
              </a:rPr>
              <a:t>Introduction to the</a:t>
            </a:r>
            <a:br>
              <a:rPr lang="en-GB" b="0" dirty="0" smtClean="0">
                <a:latin typeface="Arial" charset="0"/>
                <a:cs typeface="Arial" charset="0"/>
              </a:rPr>
            </a:br>
            <a:r>
              <a:rPr lang="en-GB" b="0" dirty="0" smtClean="0">
                <a:latin typeface="Arial" charset="0"/>
                <a:cs typeface="Arial" charset="0"/>
              </a:rPr>
              <a:t>Final Year Project</a:t>
            </a:r>
            <a:br>
              <a:rPr lang="en-GB" b="0" dirty="0" smtClean="0">
                <a:latin typeface="Arial" charset="0"/>
                <a:cs typeface="Arial" charset="0"/>
              </a:rPr>
            </a:br>
            <a:r>
              <a:rPr lang="en-GB" sz="2000" b="0" dirty="0" smtClean="0">
                <a:latin typeface="Arial" charset="0"/>
                <a:cs typeface="Arial" charset="0"/>
              </a:rPr>
              <a:t/>
            </a:r>
            <a:br>
              <a:rPr lang="en-GB" sz="2000" b="0" dirty="0" smtClean="0">
                <a:latin typeface="Arial" charset="0"/>
                <a:cs typeface="Arial" charset="0"/>
              </a:rPr>
            </a:br>
            <a:r>
              <a:rPr lang="en-GB" sz="2000" b="0" dirty="0" smtClean="0">
                <a:latin typeface="Arial" charset="0"/>
                <a:cs typeface="Arial" charset="0"/>
              </a:rPr>
              <a:t/>
            </a:r>
            <a:br>
              <a:rPr lang="en-GB" sz="2000" b="0" dirty="0" smtClean="0">
                <a:latin typeface="Arial" charset="0"/>
                <a:cs typeface="Arial" charset="0"/>
              </a:rPr>
            </a:br>
            <a:r>
              <a:rPr lang="en-GB" sz="2000" b="0" dirty="0" smtClean="0">
                <a:latin typeface="Arial" charset="0"/>
                <a:cs typeface="Arial" charset="0"/>
              </a:rPr>
              <a:t/>
            </a:r>
            <a:br>
              <a:rPr lang="en-GB" sz="2000" b="0" dirty="0" smtClean="0">
                <a:latin typeface="Arial" charset="0"/>
                <a:cs typeface="Arial" charset="0"/>
              </a:rPr>
            </a:br>
            <a:r>
              <a:rPr lang="en-GB" sz="2000" b="0" dirty="0" smtClean="0">
                <a:latin typeface="Arial" charset="0"/>
                <a:cs typeface="Arial" charset="0"/>
              </a:rPr>
              <a:t/>
            </a:r>
            <a:br>
              <a:rPr lang="en-GB" sz="2000" b="0" dirty="0" smtClean="0">
                <a:latin typeface="Arial" charset="0"/>
                <a:cs typeface="Arial" charset="0"/>
              </a:rPr>
            </a:br>
            <a:r>
              <a:rPr lang="en-GB" sz="2000" b="0" dirty="0" smtClean="0"/>
              <a:t/>
            </a:r>
            <a:br>
              <a:rPr lang="en-GB" sz="2000" b="0" dirty="0" smtClean="0"/>
            </a:br>
            <a:r>
              <a:rPr lang="en-GB" sz="2000" b="0" dirty="0" smtClean="0"/>
              <a:t>Jim Buckley</a:t>
            </a:r>
            <a:br>
              <a:rPr lang="en-GB" sz="2000" b="0" dirty="0" smtClean="0"/>
            </a:br>
            <a:r>
              <a:rPr lang="en-GB" sz="2000" b="0" dirty="0" smtClean="0">
                <a:hlinkClick r:id="rId2"/>
              </a:rPr>
              <a:t>Jim.Buckley@ul.ie</a:t>
            </a:r>
            <a:r>
              <a:rPr lang="en-GB" sz="2000" b="0" dirty="0" smtClean="0"/>
              <a:t> </a:t>
            </a:r>
            <a:br>
              <a:rPr lang="en-GB" sz="2000" b="0" dirty="0" smtClean="0"/>
            </a:br>
            <a:r>
              <a:rPr lang="en-GB" sz="2000" b="0" dirty="0" smtClean="0"/>
              <a:t>CS1-032</a:t>
            </a:r>
            <a:r>
              <a:rPr lang="en-GB" b="0" dirty="0" smtClean="0"/>
              <a:t/>
            </a:r>
            <a:br>
              <a:rPr lang="en-GB" b="0" dirty="0" smtClean="0"/>
            </a:br>
            <a:endParaRPr lang="en-US" b="0" dirty="0" smtClean="0"/>
          </a:p>
        </p:txBody>
      </p:sp>
      <p:pic>
        <p:nvPicPr>
          <p:cNvPr id="4099" name="Picture 4"/>
          <p:cNvPicPr>
            <a:picLocks noChangeAspect="1" noChangeArrowheads="1"/>
          </p:cNvPicPr>
          <p:nvPr/>
        </p:nvPicPr>
        <p:blipFill>
          <a:blip r:embed="rId3" cstate="print"/>
          <a:srcRect/>
          <a:stretch>
            <a:fillRect/>
          </a:stretch>
        </p:blipFill>
        <p:spPr bwMode="auto">
          <a:xfrm>
            <a:off x="3214688" y="142875"/>
            <a:ext cx="3149600" cy="6381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a:xfrm>
            <a:off x="2273300" y="6453188"/>
            <a:ext cx="3819525" cy="220662"/>
          </a:xfrm>
        </p:spPr>
        <p:txBody>
          <a:bodyPr/>
          <a:lstStyle/>
          <a:p>
            <a:pPr>
              <a:defRPr/>
            </a:pPr>
            <a:r>
              <a:rPr lang="en-GB" altLang="en-US"/>
              <a:t>Department of Computer </a:t>
            </a:r>
            <a:r>
              <a:rPr lang="en-GB" altLang="en-US" smtClean="0"/>
              <a:t>Science and </a:t>
            </a:r>
            <a:r>
              <a:rPr lang="en-GB" altLang="en-US"/>
              <a:t>Information Systems</a:t>
            </a:r>
            <a:endParaRPr lang="en-US" altLang="en-US"/>
          </a:p>
        </p:txBody>
      </p:sp>
      <p:sp>
        <p:nvSpPr>
          <p:cNvPr id="5123" name="Rectangle 2"/>
          <p:cNvSpPr>
            <a:spLocks noGrp="1" noChangeArrowheads="1"/>
          </p:cNvSpPr>
          <p:nvPr>
            <p:ph type="title"/>
          </p:nvPr>
        </p:nvSpPr>
        <p:spPr/>
        <p:txBody>
          <a:bodyPr/>
          <a:lstStyle/>
          <a:p>
            <a:pPr eaLnBrk="1" hangingPunct="1"/>
            <a:r>
              <a:rPr lang="en-GB" smtClean="0"/>
              <a:t>Outline</a:t>
            </a:r>
            <a:r>
              <a:rPr lang="en-US" smtClean="0"/>
              <a:t> </a:t>
            </a:r>
          </a:p>
        </p:txBody>
      </p:sp>
      <p:sp>
        <p:nvSpPr>
          <p:cNvPr id="41987" name="Rectangle 3"/>
          <p:cNvSpPr>
            <a:spLocks noGrp="1" noChangeArrowheads="1"/>
          </p:cNvSpPr>
          <p:nvPr>
            <p:ph type="body" idx="1"/>
          </p:nvPr>
        </p:nvSpPr>
        <p:spPr>
          <a:xfrm>
            <a:off x="285750" y="765175"/>
            <a:ext cx="8572500" cy="5616575"/>
          </a:xfrm>
        </p:spPr>
        <p:txBody>
          <a:bodyPr/>
          <a:lstStyle/>
          <a:p>
            <a:pPr eaLnBrk="1" hangingPunct="1"/>
            <a:r>
              <a:rPr lang="en-GB" dirty="0"/>
              <a:t>Importance of your FYP</a:t>
            </a:r>
          </a:p>
          <a:p>
            <a:pPr eaLnBrk="1" hangingPunct="1"/>
            <a:r>
              <a:rPr lang="en-GB" dirty="0" smtClean="0"/>
              <a:t>The “FYP Process”</a:t>
            </a:r>
          </a:p>
          <a:p>
            <a:pPr lvl="1" eaLnBrk="1" hangingPunct="1"/>
            <a:r>
              <a:rPr lang="en-GB" dirty="0" smtClean="0"/>
              <a:t>Overview</a:t>
            </a:r>
          </a:p>
          <a:p>
            <a:pPr lvl="1" eaLnBrk="1" hangingPunct="1"/>
            <a:r>
              <a:rPr lang="en-GB" dirty="0"/>
              <a:t>Important and VERY Important Dates (Deadlines &amp; Penalties</a:t>
            </a:r>
            <a:r>
              <a:rPr lang="en-GB" dirty="0" smtClean="0"/>
              <a:t>)</a:t>
            </a:r>
          </a:p>
          <a:p>
            <a:pPr eaLnBrk="1" hangingPunct="1"/>
            <a:r>
              <a:rPr lang="en-GB" dirty="0" smtClean="0"/>
              <a:t>Initial Steps:</a:t>
            </a:r>
          </a:p>
          <a:p>
            <a:pPr lvl="1" eaLnBrk="1" hangingPunct="1"/>
            <a:r>
              <a:rPr lang="en-GB" dirty="0" smtClean="0"/>
              <a:t>Choosing an FYP, getting supervision</a:t>
            </a:r>
          </a:p>
          <a:p>
            <a:pPr lvl="1" eaLnBrk="1" hangingPunct="1"/>
            <a:r>
              <a:rPr lang="en-GB" dirty="0" smtClean="0"/>
              <a:t>Further investigation (working hard)</a:t>
            </a:r>
          </a:p>
          <a:p>
            <a:pPr lvl="1" eaLnBrk="1" hangingPunct="1"/>
            <a:r>
              <a:rPr lang="en-GB" dirty="0" smtClean="0"/>
              <a:t>The week-6 presentations</a:t>
            </a:r>
          </a:p>
          <a:p>
            <a:pPr eaLnBrk="1" hangingPunct="1"/>
            <a:r>
              <a:rPr lang="en-GB" dirty="0"/>
              <a:t>Term 1 grading</a:t>
            </a:r>
          </a:p>
          <a:p>
            <a:pPr eaLnBrk="1" hangingPunct="1"/>
            <a:r>
              <a:rPr lang="en-GB" dirty="0" smtClean="0"/>
              <a:t>Future FYP Lectures</a:t>
            </a:r>
          </a:p>
          <a:p>
            <a:pPr eaLnBrk="1" hangingPunct="1"/>
            <a:r>
              <a:rPr lang="en-GB" dirty="0" smtClean="0"/>
              <a:t>Misc. </a:t>
            </a:r>
            <a:r>
              <a:rPr lang="en-GB" dirty="0" smtClean="0"/>
              <a:t>points that </a:t>
            </a:r>
            <a:r>
              <a:rPr lang="en-GB" dirty="0" err="1" smtClean="0"/>
              <a:t>dont</a:t>
            </a:r>
            <a:r>
              <a:rPr lang="en-GB" dirty="0" smtClean="0"/>
              <a:t> fit in anywhere else</a:t>
            </a:r>
            <a:r>
              <a:rPr lang="en-GB" dirty="0" smtClean="0"/>
              <a:t>!</a:t>
            </a:r>
            <a:endParaRPr lang="en-GB" dirty="0" smtClean="0"/>
          </a:p>
          <a:p>
            <a:pPr eaLnBrk="1" hangingPunct="1"/>
            <a:r>
              <a:rPr lang="en-GB" dirty="0" smtClean="0"/>
              <a:t>Core take-</a:t>
            </a:r>
            <a:r>
              <a:rPr lang="en-GB" dirty="0" err="1" smtClean="0"/>
              <a:t>aways</a:t>
            </a:r>
            <a:endParaRPr lang="en-GB"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987">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41987">
                                            <p:txEl>
                                              <p:pRg st="0" end="0"/>
                                            </p:txEl>
                                          </p:spTgt>
                                        </p:tgtEl>
                                        <p:attrNameLst>
                                          <p:attrName>ppt_c</p:attrName>
                                        </p:attrNameLst>
                                      </p:cBhvr>
                                      <p:to>
                                        <a:schemeClr val="bg2"/>
                                      </p:to>
                                    </p:animClr>
                                  </p:sub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1987">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41987">
                                            <p:txEl>
                                              <p:pRg st="1" end="1"/>
                                            </p:txEl>
                                          </p:spTgt>
                                        </p:tgtEl>
                                        <p:attrNameLst>
                                          <p:attrName>ppt_c</p:attrName>
                                        </p:attrNameLst>
                                      </p:cBhvr>
                                      <p:to>
                                        <a:schemeClr val="bg2"/>
                                      </p:to>
                                    </p:animClr>
                                  </p:subTnLst>
                                </p:cTn>
                              </p:par>
                              <p:par>
                                <p:cTn id="11" presetID="1" presetClass="entr" presetSubtype="0" fill="hold" grpId="0" nodeType="withEffect">
                                  <p:stCondLst>
                                    <p:cond delay="0"/>
                                  </p:stCondLst>
                                  <p:childTnLst>
                                    <p:set>
                                      <p:cBhvr>
                                        <p:cTn id="12" dur="1" fill="hold">
                                          <p:stCondLst>
                                            <p:cond delay="0"/>
                                          </p:stCondLst>
                                        </p:cTn>
                                        <p:tgtEl>
                                          <p:spTgt spid="41987">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41987">
                                            <p:txEl>
                                              <p:pRg st="2" end="2"/>
                                            </p:txEl>
                                          </p:spTgt>
                                        </p:tgtEl>
                                        <p:attrNameLst>
                                          <p:attrName>ppt_c</p:attrName>
                                        </p:attrNameLst>
                                      </p:cBhvr>
                                      <p:to>
                                        <a:schemeClr val="bg2"/>
                                      </p:to>
                                    </p:animClr>
                                  </p:subTnLst>
                                </p:cTn>
                              </p:par>
                              <p:par>
                                <p:cTn id="13" presetID="1" presetClass="entr" presetSubtype="0" fill="hold" grpId="0" nodeType="withEffect">
                                  <p:stCondLst>
                                    <p:cond delay="0"/>
                                  </p:stCondLst>
                                  <p:childTnLst>
                                    <p:set>
                                      <p:cBhvr>
                                        <p:cTn id="14" dur="1" fill="hold">
                                          <p:stCondLst>
                                            <p:cond delay="0"/>
                                          </p:stCondLst>
                                        </p:cTn>
                                        <p:tgtEl>
                                          <p:spTgt spid="41987">
                                            <p:txEl>
                                              <p:pRg st="3" end="3"/>
                                            </p:txEl>
                                          </p:spTgt>
                                        </p:tgtEl>
                                        <p:attrNameLst>
                                          <p:attrName>style.visibility</p:attrName>
                                        </p:attrNameLst>
                                      </p:cBhvr>
                                      <p:to>
                                        <p:strVal val="visible"/>
                                      </p:to>
                                    </p:set>
                                  </p:childTnLst>
                                  <p:subTnLst>
                                    <p:animClr clrSpc="rgb" dir="cw">
                                      <p:cBhvr override="childStyle">
                                        <p:cTn dur="1" fill="hold" display="0" masterRel="nextClick" afterEffect="1"/>
                                        <p:tgtEl>
                                          <p:spTgt spid="41987">
                                            <p:txEl>
                                              <p:pRg st="3" end="3"/>
                                            </p:txEl>
                                          </p:spTgt>
                                        </p:tgtEl>
                                        <p:attrNameLst>
                                          <p:attrName>ppt_c</p:attrName>
                                        </p:attrNameLst>
                                      </p:cBhvr>
                                      <p:to>
                                        <a:schemeClr val="bg2"/>
                                      </p:to>
                                    </p:animClr>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1987">
                                            <p:txEl>
                                              <p:pRg st="4" end="4"/>
                                            </p:txEl>
                                          </p:spTgt>
                                        </p:tgtEl>
                                        <p:attrNameLst>
                                          <p:attrName>style.visibility</p:attrName>
                                        </p:attrNameLst>
                                      </p:cBhvr>
                                      <p:to>
                                        <p:strVal val="visible"/>
                                      </p:to>
                                    </p:set>
                                  </p:childTnLst>
                                  <p:subTnLst>
                                    <p:animClr clrSpc="rgb" dir="cw">
                                      <p:cBhvr override="childStyle">
                                        <p:cTn dur="1" fill="hold" display="0" masterRel="nextClick" afterEffect="1"/>
                                        <p:tgtEl>
                                          <p:spTgt spid="41987">
                                            <p:txEl>
                                              <p:pRg st="4" end="4"/>
                                            </p:txEl>
                                          </p:spTgt>
                                        </p:tgtEl>
                                        <p:attrNameLst>
                                          <p:attrName>ppt_c</p:attrName>
                                        </p:attrNameLst>
                                      </p:cBhvr>
                                      <p:to>
                                        <a:schemeClr val="bg2"/>
                                      </p:to>
                                    </p:animClr>
                                  </p:subTnLst>
                                </p:cTn>
                              </p:par>
                              <p:par>
                                <p:cTn id="19" presetID="1" presetClass="entr" presetSubtype="0" fill="hold" grpId="0" nodeType="withEffect">
                                  <p:stCondLst>
                                    <p:cond delay="0"/>
                                  </p:stCondLst>
                                  <p:childTnLst>
                                    <p:set>
                                      <p:cBhvr>
                                        <p:cTn id="20" dur="1" fill="hold">
                                          <p:stCondLst>
                                            <p:cond delay="0"/>
                                          </p:stCondLst>
                                        </p:cTn>
                                        <p:tgtEl>
                                          <p:spTgt spid="41987">
                                            <p:txEl>
                                              <p:pRg st="5" end="5"/>
                                            </p:txEl>
                                          </p:spTgt>
                                        </p:tgtEl>
                                        <p:attrNameLst>
                                          <p:attrName>style.visibility</p:attrName>
                                        </p:attrNameLst>
                                      </p:cBhvr>
                                      <p:to>
                                        <p:strVal val="visible"/>
                                      </p:to>
                                    </p:set>
                                  </p:childTnLst>
                                  <p:subTnLst>
                                    <p:animClr clrSpc="rgb" dir="cw">
                                      <p:cBhvr override="childStyle">
                                        <p:cTn dur="1" fill="hold" display="0" masterRel="nextClick" afterEffect="1"/>
                                        <p:tgtEl>
                                          <p:spTgt spid="41987">
                                            <p:txEl>
                                              <p:pRg st="5" end="5"/>
                                            </p:txEl>
                                          </p:spTgt>
                                        </p:tgtEl>
                                        <p:attrNameLst>
                                          <p:attrName>ppt_c</p:attrName>
                                        </p:attrNameLst>
                                      </p:cBhvr>
                                      <p:to>
                                        <a:schemeClr val="bg2"/>
                                      </p:to>
                                    </p:animClr>
                                  </p:subTnLst>
                                </p:cTn>
                              </p:par>
                              <p:par>
                                <p:cTn id="21" presetID="1" presetClass="entr" presetSubtype="0" fill="hold" grpId="0" nodeType="withEffect">
                                  <p:stCondLst>
                                    <p:cond delay="0"/>
                                  </p:stCondLst>
                                  <p:childTnLst>
                                    <p:set>
                                      <p:cBhvr>
                                        <p:cTn id="22" dur="1" fill="hold">
                                          <p:stCondLst>
                                            <p:cond delay="0"/>
                                          </p:stCondLst>
                                        </p:cTn>
                                        <p:tgtEl>
                                          <p:spTgt spid="41987">
                                            <p:txEl>
                                              <p:pRg st="6" end="6"/>
                                            </p:txEl>
                                          </p:spTgt>
                                        </p:tgtEl>
                                        <p:attrNameLst>
                                          <p:attrName>style.visibility</p:attrName>
                                        </p:attrNameLst>
                                      </p:cBhvr>
                                      <p:to>
                                        <p:strVal val="visible"/>
                                      </p:to>
                                    </p:set>
                                  </p:childTnLst>
                                  <p:subTnLst>
                                    <p:animClr clrSpc="rgb" dir="cw">
                                      <p:cBhvr override="childStyle">
                                        <p:cTn dur="1" fill="hold" display="0" masterRel="nextClick" afterEffect="1"/>
                                        <p:tgtEl>
                                          <p:spTgt spid="41987">
                                            <p:txEl>
                                              <p:pRg st="6" end="6"/>
                                            </p:txEl>
                                          </p:spTgt>
                                        </p:tgtEl>
                                        <p:attrNameLst>
                                          <p:attrName>ppt_c</p:attrName>
                                        </p:attrNameLst>
                                      </p:cBhvr>
                                      <p:to>
                                        <a:schemeClr val="bg2"/>
                                      </p:to>
                                    </p:animClr>
                                  </p:subTnLst>
                                </p:cTn>
                              </p:par>
                              <p:par>
                                <p:cTn id="23" presetID="1" presetClass="entr" presetSubtype="0" fill="hold" grpId="0" nodeType="withEffect">
                                  <p:stCondLst>
                                    <p:cond delay="0"/>
                                  </p:stCondLst>
                                  <p:childTnLst>
                                    <p:set>
                                      <p:cBhvr>
                                        <p:cTn id="24" dur="1" fill="hold">
                                          <p:stCondLst>
                                            <p:cond delay="0"/>
                                          </p:stCondLst>
                                        </p:cTn>
                                        <p:tgtEl>
                                          <p:spTgt spid="41987">
                                            <p:txEl>
                                              <p:pRg st="7" end="7"/>
                                            </p:txEl>
                                          </p:spTgt>
                                        </p:tgtEl>
                                        <p:attrNameLst>
                                          <p:attrName>style.visibility</p:attrName>
                                        </p:attrNameLst>
                                      </p:cBhvr>
                                      <p:to>
                                        <p:strVal val="visible"/>
                                      </p:to>
                                    </p:set>
                                  </p:childTnLst>
                                  <p:subTnLst>
                                    <p:animClr clrSpc="rgb" dir="cw">
                                      <p:cBhvr override="childStyle">
                                        <p:cTn dur="1" fill="hold" display="0" masterRel="nextClick" afterEffect="1"/>
                                        <p:tgtEl>
                                          <p:spTgt spid="41987">
                                            <p:txEl>
                                              <p:pRg st="7" end="7"/>
                                            </p:txEl>
                                          </p:spTgt>
                                        </p:tgtEl>
                                        <p:attrNameLst>
                                          <p:attrName>ppt_c</p:attrName>
                                        </p:attrNameLst>
                                      </p:cBhvr>
                                      <p:to>
                                        <a:schemeClr val="bg2"/>
                                      </p:to>
                                    </p:animClr>
                                  </p:sub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1987">
                                            <p:txEl>
                                              <p:pRg st="8" end="8"/>
                                            </p:txEl>
                                          </p:spTgt>
                                        </p:tgtEl>
                                        <p:attrNameLst>
                                          <p:attrName>style.visibility</p:attrName>
                                        </p:attrNameLst>
                                      </p:cBhvr>
                                      <p:to>
                                        <p:strVal val="visible"/>
                                      </p:to>
                                    </p:set>
                                  </p:childTnLst>
                                  <p:subTnLst>
                                    <p:animClr clrSpc="rgb" dir="cw">
                                      <p:cBhvr override="childStyle">
                                        <p:cTn dur="1" fill="hold" display="0" masterRel="nextClick" afterEffect="1"/>
                                        <p:tgtEl>
                                          <p:spTgt spid="41987">
                                            <p:txEl>
                                              <p:pRg st="8" end="8"/>
                                            </p:txEl>
                                          </p:spTgt>
                                        </p:tgtEl>
                                        <p:attrNameLst>
                                          <p:attrName>ppt_c</p:attrName>
                                        </p:attrNameLst>
                                      </p:cBhvr>
                                      <p:to>
                                        <a:schemeClr val="bg2"/>
                                      </p:to>
                                    </p:animClr>
                                  </p:sub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1987">
                                            <p:txEl>
                                              <p:pRg st="9" end="9"/>
                                            </p:txEl>
                                          </p:spTgt>
                                        </p:tgtEl>
                                        <p:attrNameLst>
                                          <p:attrName>style.visibility</p:attrName>
                                        </p:attrNameLst>
                                      </p:cBhvr>
                                      <p:to>
                                        <p:strVal val="visible"/>
                                      </p:to>
                                    </p:set>
                                  </p:childTnLst>
                                  <p:subTnLst>
                                    <p:animClr clrSpc="rgb" dir="cw">
                                      <p:cBhvr override="childStyle">
                                        <p:cTn dur="1" fill="hold" display="0" masterRel="nextClick" afterEffect="1"/>
                                        <p:tgtEl>
                                          <p:spTgt spid="41987">
                                            <p:txEl>
                                              <p:pRg st="9" end="9"/>
                                            </p:txEl>
                                          </p:spTgt>
                                        </p:tgtEl>
                                        <p:attrNameLst>
                                          <p:attrName>ppt_c</p:attrName>
                                        </p:attrNameLst>
                                      </p:cBhvr>
                                      <p:to>
                                        <a:schemeClr val="bg2"/>
                                      </p:to>
                                    </p:animClr>
                                  </p:sub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1987">
                                            <p:txEl>
                                              <p:pRg st="10" end="10"/>
                                            </p:txEl>
                                          </p:spTgt>
                                        </p:tgtEl>
                                        <p:attrNameLst>
                                          <p:attrName>style.visibility</p:attrName>
                                        </p:attrNameLst>
                                      </p:cBhvr>
                                      <p:to>
                                        <p:strVal val="visible"/>
                                      </p:to>
                                    </p:set>
                                  </p:childTnLst>
                                  <p:subTnLst>
                                    <p:animClr clrSpc="rgb" dir="cw">
                                      <p:cBhvr override="childStyle">
                                        <p:cTn dur="1" fill="hold" display="0" masterRel="nextClick" afterEffect="1"/>
                                        <p:tgtEl>
                                          <p:spTgt spid="41987">
                                            <p:txEl>
                                              <p:pRg st="10" end="10"/>
                                            </p:txEl>
                                          </p:spTgt>
                                        </p:tgtEl>
                                        <p:attrNameLst>
                                          <p:attrName>ppt_c</p:attrName>
                                        </p:attrNameLst>
                                      </p:cBhvr>
                                      <p:to>
                                        <a:schemeClr val="bg2"/>
                                      </p:to>
                                    </p:animClr>
                                  </p:sub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41987">
                                            <p:txEl>
                                              <p:pRg st="11" end="11"/>
                                            </p:txEl>
                                          </p:spTgt>
                                        </p:tgtEl>
                                        <p:attrNameLst>
                                          <p:attrName>style.visibility</p:attrName>
                                        </p:attrNameLst>
                                      </p:cBhvr>
                                      <p:to>
                                        <p:strVal val="visible"/>
                                      </p:to>
                                    </p:set>
                                  </p:childTnLst>
                                  <p:subTnLst>
                                    <p:animClr clrSpc="rgb" dir="cw">
                                      <p:cBhvr override="childStyle">
                                        <p:cTn dur="1" fill="hold" display="0" masterRel="nextClick" afterEffect="1"/>
                                        <p:tgtEl>
                                          <p:spTgt spid="41987">
                                            <p:txEl>
                                              <p:pRg st="11" end="11"/>
                                            </p:txEl>
                                          </p:spTgt>
                                        </p:tgtEl>
                                        <p:attrNameLst>
                                          <p:attrName>ppt_c</p:attrName>
                                        </p:attrNameLst>
                                      </p:cBhvr>
                                      <p:to>
                                        <a:schemeClr val="bg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7" grpId="0" build="p"/>
    </p:bld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GB" altLang="en-US"/>
              <a:t>Department of Computer Science   and Information Systems</a:t>
            </a:r>
            <a:endParaRPr lang="en-US" altLang="en-US"/>
          </a:p>
        </p:txBody>
      </p:sp>
      <p:sp>
        <p:nvSpPr>
          <p:cNvPr id="10243" name="Rectangle 2"/>
          <p:cNvSpPr>
            <a:spLocks noGrp="1" noChangeArrowheads="1"/>
          </p:cNvSpPr>
          <p:nvPr>
            <p:ph type="title"/>
          </p:nvPr>
        </p:nvSpPr>
        <p:spPr/>
        <p:txBody>
          <a:bodyPr/>
          <a:lstStyle/>
          <a:p>
            <a:pPr eaLnBrk="1" hangingPunct="1"/>
            <a:r>
              <a:rPr lang="en-GB" smtClean="0"/>
              <a:t>Importance of the FYP</a:t>
            </a:r>
            <a:r>
              <a:rPr lang="en-GB" b="0" smtClean="0"/>
              <a:t/>
            </a:r>
            <a:br>
              <a:rPr lang="en-GB" b="0" smtClean="0"/>
            </a:br>
            <a:endParaRPr lang="en-US" b="0" smtClean="0"/>
          </a:p>
        </p:txBody>
      </p:sp>
      <p:sp>
        <p:nvSpPr>
          <p:cNvPr id="63491" name="Rectangle 3"/>
          <p:cNvSpPr>
            <a:spLocks noGrp="1" noChangeArrowheads="1"/>
          </p:cNvSpPr>
          <p:nvPr>
            <p:ph type="body" idx="1"/>
          </p:nvPr>
        </p:nvSpPr>
        <p:spPr>
          <a:xfrm>
            <a:off x="250825" y="836613"/>
            <a:ext cx="8497888" cy="5294312"/>
          </a:xfrm>
        </p:spPr>
        <p:txBody>
          <a:bodyPr/>
          <a:lstStyle/>
          <a:p>
            <a:pPr marL="571500" indent="-571500" eaLnBrk="1" hangingPunct="1">
              <a:lnSpc>
                <a:spcPct val="95000"/>
              </a:lnSpc>
              <a:spcBef>
                <a:spcPct val="45000"/>
              </a:spcBef>
            </a:pPr>
            <a:r>
              <a:rPr lang="en-GB" sz="2200" dirty="0" smtClean="0"/>
              <a:t>The project spans two modules </a:t>
            </a:r>
            <a:r>
              <a:rPr lang="en-GB" sz="2200" dirty="0" smtClean="0"/>
              <a:t>and </a:t>
            </a:r>
            <a:r>
              <a:rPr lang="en-GB" sz="2200" dirty="0" smtClean="0"/>
              <a:t>has a </a:t>
            </a:r>
            <a:r>
              <a:rPr lang="en-GB" sz="2200" dirty="0" smtClean="0"/>
              <a:t>VERY </a:t>
            </a:r>
            <a:r>
              <a:rPr lang="en-GB" sz="2200" dirty="0" smtClean="0"/>
              <a:t>significant impact on your QCA.  </a:t>
            </a:r>
          </a:p>
          <a:p>
            <a:pPr marL="571500" indent="-571500" eaLnBrk="1" hangingPunct="1">
              <a:lnSpc>
                <a:spcPct val="95000"/>
              </a:lnSpc>
              <a:spcBef>
                <a:spcPct val="45000"/>
              </a:spcBef>
            </a:pPr>
            <a:r>
              <a:rPr lang="en-GB" sz="2200" dirty="0" smtClean="0"/>
              <a:t>An Employer thinking of offering you employment is likely to ask you what project you undertook and what grades you received for your work.   They may make a decision on whether to employ you based on your performance in the Final Year Project as the most substantial piece of work you did (primarily) on your own. </a:t>
            </a:r>
          </a:p>
          <a:p>
            <a:pPr marL="571500" indent="-571500" eaLnBrk="1" hangingPunct="1">
              <a:lnSpc>
                <a:spcPct val="95000"/>
              </a:lnSpc>
              <a:spcBef>
                <a:spcPct val="45000"/>
              </a:spcBef>
            </a:pPr>
            <a:r>
              <a:rPr lang="en-GB" sz="2200" dirty="0" smtClean="0"/>
              <a:t>More generally, they take </a:t>
            </a:r>
            <a:r>
              <a:rPr lang="en-GB" sz="2200" dirty="0"/>
              <a:t>a lively interest in the Final Year Project and support it by offering prizes for the best projects and by attending the </a:t>
            </a:r>
            <a:r>
              <a:rPr lang="en-GB" sz="2200" dirty="0" smtClean="0"/>
              <a:t>Showcase </a:t>
            </a:r>
            <a:r>
              <a:rPr lang="en-GB" sz="2200" dirty="0"/>
              <a:t>Days.  </a:t>
            </a:r>
            <a:endParaRPr lang="en-GB" sz="2200" dirty="0" smtClean="0"/>
          </a:p>
          <a:p>
            <a:pPr marL="571500" indent="-571500" eaLnBrk="1" hangingPunct="1">
              <a:lnSpc>
                <a:spcPct val="95000"/>
              </a:lnSpc>
              <a:spcBef>
                <a:spcPct val="45000"/>
              </a:spcBef>
            </a:pPr>
            <a:r>
              <a:rPr lang="en-GB" sz="2200" dirty="0" smtClean="0"/>
              <a:t>The FYP is a wonderful opportunity to gain an in-depth understanding of areas already covered by the degree or to expand your knowledge with techniques, languages, or technologies not covered by the course. </a:t>
            </a:r>
          </a:p>
        </p:txBody>
      </p:sp>
    </p:spTree>
    <p:extLst>
      <p:ext uri="{BB962C8B-B14F-4D97-AF65-F5344CB8AC3E}">
        <p14:creationId xmlns:p14="http://schemas.microsoft.com/office/powerpoint/2010/main" val="2704927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3491">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63491">
                                            <p:txEl>
                                              <p:pRg st="0" end="0"/>
                                            </p:txEl>
                                          </p:spTgt>
                                        </p:tgtEl>
                                        <p:attrNameLst>
                                          <p:attrName>ppt_c</p:attrName>
                                        </p:attrNameLst>
                                      </p:cBhvr>
                                      <p:to>
                                        <a:schemeClr val="bg2"/>
                                      </p:to>
                                    </p:animClr>
                                  </p:sub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3491">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63491">
                                            <p:txEl>
                                              <p:pRg st="1" end="1"/>
                                            </p:txEl>
                                          </p:spTgt>
                                        </p:tgtEl>
                                        <p:attrNameLst>
                                          <p:attrName>ppt_c</p:attrName>
                                        </p:attrNameLst>
                                      </p:cBhvr>
                                      <p:to>
                                        <a:schemeClr val="bg2"/>
                                      </p:to>
                                    </p:animClr>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3491">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63491">
                                            <p:txEl>
                                              <p:pRg st="2" end="2"/>
                                            </p:txEl>
                                          </p:spTgt>
                                        </p:tgtEl>
                                        <p:attrNameLst>
                                          <p:attrName>ppt_c</p:attrName>
                                        </p:attrNameLst>
                                      </p:cBhvr>
                                      <p:to>
                                        <a:schemeClr val="bg2"/>
                                      </p:to>
                                    </p:animClr>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3491">
                                            <p:txEl>
                                              <p:pRg st="3" end="3"/>
                                            </p:txEl>
                                          </p:spTgt>
                                        </p:tgtEl>
                                        <p:attrNameLst>
                                          <p:attrName>style.visibility</p:attrName>
                                        </p:attrNameLst>
                                      </p:cBhvr>
                                      <p:to>
                                        <p:strVal val="visible"/>
                                      </p:to>
                                    </p:set>
                                  </p:childTnLst>
                                  <p:subTnLst>
                                    <p:animClr clrSpc="rgb" dir="cw">
                                      <p:cBhvr override="childStyle">
                                        <p:cTn dur="1" fill="hold" display="0" masterRel="nextClick" afterEffect="1"/>
                                        <p:tgtEl>
                                          <p:spTgt spid="63491">
                                            <p:txEl>
                                              <p:pRg st="3" end="3"/>
                                            </p:txEl>
                                          </p:spTgt>
                                        </p:tgtEl>
                                        <p:attrNameLst>
                                          <p:attrName>ppt_c</p:attrName>
                                        </p:attrNameLst>
                                      </p:cBhvr>
                                      <p:to>
                                        <a:schemeClr val="bg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1"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smtClean="0"/>
              <a:t>Process Overview</a:t>
            </a:r>
            <a:endParaRPr lang="en-IE" dirty="0"/>
          </a:p>
        </p:txBody>
      </p:sp>
      <p:sp>
        <p:nvSpPr>
          <p:cNvPr id="3" name="Content Placeholder 2"/>
          <p:cNvSpPr>
            <a:spLocks noGrp="1"/>
          </p:cNvSpPr>
          <p:nvPr>
            <p:ph idx="1"/>
          </p:nvPr>
        </p:nvSpPr>
        <p:spPr>
          <a:xfrm>
            <a:off x="323528" y="764704"/>
            <a:ext cx="8229600" cy="5616575"/>
          </a:xfrm>
        </p:spPr>
        <p:txBody>
          <a:bodyPr/>
          <a:lstStyle/>
          <a:p>
            <a:pPr eaLnBrk="1" hangingPunct="1">
              <a:spcBef>
                <a:spcPts val="800"/>
              </a:spcBef>
              <a:tabLst>
                <a:tab pos="3673475" algn="l"/>
                <a:tab pos="5922963" algn="l"/>
              </a:tabLst>
            </a:pPr>
            <a:r>
              <a:rPr lang="en-GB" sz="1800" dirty="0" smtClean="0"/>
              <a:t>View projects/push your own project and link up with supervisors</a:t>
            </a:r>
          </a:p>
          <a:p>
            <a:pPr eaLnBrk="1" hangingPunct="1">
              <a:spcBef>
                <a:spcPts val="800"/>
              </a:spcBef>
              <a:tabLst>
                <a:tab pos="3673475" algn="l"/>
                <a:tab pos="5922963" algn="l"/>
              </a:tabLst>
            </a:pPr>
            <a:r>
              <a:rPr lang="en-GB" sz="1800" dirty="0" smtClean="0"/>
              <a:t>Select and agree your project with a supervisor</a:t>
            </a:r>
          </a:p>
          <a:p>
            <a:pPr eaLnBrk="1" hangingPunct="1">
              <a:spcBef>
                <a:spcPts val="800"/>
              </a:spcBef>
              <a:tabLst>
                <a:tab pos="3673475" algn="l"/>
                <a:tab pos="5922963" algn="l"/>
              </a:tabLst>
            </a:pPr>
            <a:r>
              <a:rPr lang="en-GB" sz="1800" dirty="0" smtClean="0"/>
              <a:t>Submit Project Proposal Form and </a:t>
            </a:r>
            <a:r>
              <a:rPr lang="en-GB" sz="1800" dirty="0" err="1" smtClean="0"/>
              <a:t>webform</a:t>
            </a:r>
            <a:r>
              <a:rPr lang="en-GB" sz="1800" dirty="0" smtClean="0"/>
              <a:t> </a:t>
            </a:r>
            <a:r>
              <a:rPr lang="en-GB" sz="1800" b="1" dirty="0" smtClean="0"/>
              <a:t>(Monday 12:00, Week 3)</a:t>
            </a:r>
          </a:p>
          <a:p>
            <a:pPr eaLnBrk="1" hangingPunct="1">
              <a:spcBef>
                <a:spcPts val="800"/>
              </a:spcBef>
              <a:tabLst>
                <a:tab pos="3673475" algn="l"/>
                <a:tab pos="5922963" algn="l"/>
              </a:tabLst>
            </a:pPr>
            <a:r>
              <a:rPr lang="en-GB" sz="1800" b="1" dirty="0" smtClean="0"/>
              <a:t>Work like a demon</a:t>
            </a:r>
          </a:p>
          <a:p>
            <a:pPr eaLnBrk="1" hangingPunct="1">
              <a:spcBef>
                <a:spcPts val="800"/>
              </a:spcBef>
              <a:tabLst>
                <a:tab pos="3673475" algn="l"/>
                <a:tab pos="5922963" algn="l"/>
              </a:tabLst>
            </a:pPr>
            <a:r>
              <a:rPr lang="en-GB" sz="1800" dirty="0" smtClean="0"/>
              <a:t>Presentation of work to date </a:t>
            </a:r>
            <a:r>
              <a:rPr lang="en-GB" sz="1800" b="1" i="1" dirty="0" smtClean="0"/>
              <a:t>(Week 6)</a:t>
            </a:r>
          </a:p>
          <a:p>
            <a:pPr eaLnBrk="1" hangingPunct="1">
              <a:spcBef>
                <a:spcPts val="800"/>
              </a:spcBef>
              <a:tabLst>
                <a:tab pos="3673475" algn="l"/>
                <a:tab pos="5922963" algn="l"/>
              </a:tabLst>
            </a:pPr>
            <a:r>
              <a:rPr lang="en-GB" sz="1800" dirty="0" smtClean="0"/>
              <a:t>Work!</a:t>
            </a:r>
          </a:p>
          <a:p>
            <a:pPr eaLnBrk="1" hangingPunct="1">
              <a:spcBef>
                <a:spcPts val="800"/>
              </a:spcBef>
              <a:tabLst>
                <a:tab pos="3673475" algn="l"/>
                <a:tab pos="5922963" algn="l"/>
              </a:tabLst>
            </a:pPr>
            <a:r>
              <a:rPr lang="en-GB" sz="1800" dirty="0" smtClean="0"/>
              <a:t>Submit Deadline Agreement and Supervisor Marking forms (Week 10)</a:t>
            </a:r>
          </a:p>
          <a:p>
            <a:pPr eaLnBrk="1" hangingPunct="1">
              <a:spcBef>
                <a:spcPts val="800"/>
              </a:spcBef>
              <a:tabLst>
                <a:tab pos="3673475" algn="l"/>
                <a:tab pos="5922963" algn="l"/>
              </a:tabLst>
            </a:pPr>
            <a:r>
              <a:rPr lang="en-IE" sz="1800" b="1" dirty="0" smtClean="0"/>
              <a:t>Work like a demon</a:t>
            </a:r>
            <a:endParaRPr lang="en-GB" sz="1800" b="1" dirty="0" smtClean="0"/>
          </a:p>
          <a:p>
            <a:pPr eaLnBrk="1" hangingPunct="1">
              <a:spcBef>
                <a:spcPts val="800"/>
              </a:spcBef>
              <a:tabLst>
                <a:tab pos="3673475" algn="l"/>
                <a:tab pos="5922963" algn="l"/>
              </a:tabLst>
            </a:pPr>
            <a:r>
              <a:rPr lang="en-GB" sz="1800" dirty="0" smtClean="0"/>
              <a:t>Submit Interim Report </a:t>
            </a:r>
            <a:r>
              <a:rPr lang="en-GB" sz="1800" i="1" dirty="0" smtClean="0"/>
              <a:t>(</a:t>
            </a:r>
            <a:r>
              <a:rPr lang="en-GB" sz="1800" b="1" i="1" dirty="0" smtClean="0"/>
              <a:t>Christmas break: 06/01/2020</a:t>
            </a:r>
            <a:r>
              <a:rPr lang="en-GB" sz="1800" i="1" dirty="0" smtClean="0"/>
              <a:t>)</a:t>
            </a:r>
            <a:endParaRPr lang="en-IE" sz="1800" i="1" dirty="0" smtClean="0"/>
          </a:p>
          <a:p>
            <a:pPr eaLnBrk="1" hangingPunct="1">
              <a:spcBef>
                <a:spcPts val="800"/>
              </a:spcBef>
              <a:tabLst>
                <a:tab pos="3673475" algn="l"/>
                <a:tab pos="5922963" algn="l"/>
              </a:tabLst>
            </a:pPr>
            <a:r>
              <a:rPr lang="en-IE" sz="1800" b="1" dirty="0" smtClean="0"/>
              <a:t>Work like a demon</a:t>
            </a:r>
            <a:endParaRPr lang="en-GB" sz="1800" b="1" dirty="0" smtClean="0"/>
          </a:p>
          <a:p>
            <a:pPr eaLnBrk="1" hangingPunct="1">
              <a:spcBef>
                <a:spcPts val="800"/>
              </a:spcBef>
              <a:tabLst>
                <a:tab pos="3673475" algn="l"/>
                <a:tab pos="5922963" algn="l"/>
              </a:tabLst>
            </a:pPr>
            <a:r>
              <a:rPr lang="en-GB" sz="1800" dirty="0" smtClean="0"/>
              <a:t>Submit Draft Report (Week 07, term 2)</a:t>
            </a:r>
          </a:p>
          <a:p>
            <a:pPr eaLnBrk="1" hangingPunct="1">
              <a:spcBef>
                <a:spcPts val="800"/>
              </a:spcBef>
              <a:tabLst>
                <a:tab pos="3673475" algn="l"/>
                <a:tab pos="5922963" algn="l"/>
              </a:tabLst>
            </a:pPr>
            <a:r>
              <a:rPr lang="en-GB" sz="1800" dirty="0" smtClean="0"/>
              <a:t>SYP Showcase Days (Week 10, term 2)</a:t>
            </a:r>
          </a:p>
          <a:p>
            <a:pPr eaLnBrk="1" hangingPunct="1">
              <a:spcBef>
                <a:spcPts val="800"/>
              </a:spcBef>
              <a:tabLst>
                <a:tab pos="3673475" algn="l"/>
                <a:tab pos="5922963" algn="l"/>
              </a:tabLst>
            </a:pPr>
            <a:r>
              <a:rPr lang="en-GB" sz="1800" dirty="0" smtClean="0"/>
              <a:t>Final Submission Product </a:t>
            </a:r>
            <a:r>
              <a:rPr lang="en-GB" sz="1800" b="1" i="1" dirty="0" smtClean="0"/>
              <a:t>(Week 11, term 2)</a:t>
            </a:r>
          </a:p>
          <a:p>
            <a:pPr eaLnBrk="1" hangingPunct="1">
              <a:spcBef>
                <a:spcPts val="800"/>
              </a:spcBef>
              <a:tabLst>
                <a:tab pos="3673475" algn="l"/>
                <a:tab pos="5922963" algn="l"/>
              </a:tabLst>
            </a:pPr>
            <a:r>
              <a:rPr lang="en-GB" sz="1800" dirty="0" smtClean="0"/>
              <a:t>Final Submission Report </a:t>
            </a:r>
            <a:r>
              <a:rPr lang="en-GB" sz="1800" b="1" i="1" dirty="0" smtClean="0"/>
              <a:t>(Week 12, term 2)</a:t>
            </a:r>
          </a:p>
          <a:p>
            <a:pPr eaLnBrk="1" hangingPunct="1">
              <a:spcBef>
                <a:spcPts val="800"/>
              </a:spcBef>
              <a:tabLst>
                <a:tab pos="3673475" algn="l"/>
                <a:tab pos="5922963" algn="l"/>
              </a:tabLst>
            </a:pPr>
            <a:r>
              <a:rPr lang="en-GB" sz="1800" dirty="0" smtClean="0"/>
              <a:t>Final Cut-off Date </a:t>
            </a:r>
            <a:r>
              <a:rPr lang="en-GB" sz="1800" b="1" dirty="0" smtClean="0"/>
              <a:t>(Week 13, term 2)</a:t>
            </a:r>
          </a:p>
          <a:p>
            <a:endParaRPr lang="en-IE" sz="1800" dirty="0"/>
          </a:p>
        </p:txBody>
      </p:sp>
      <p:sp>
        <p:nvSpPr>
          <p:cNvPr id="4" name="Footer Placeholder 3"/>
          <p:cNvSpPr>
            <a:spLocks noGrp="1"/>
          </p:cNvSpPr>
          <p:nvPr>
            <p:ph type="ftr" sz="quarter" idx="10"/>
          </p:nvPr>
        </p:nvSpPr>
        <p:spPr/>
        <p:txBody>
          <a:bodyPr/>
          <a:lstStyle/>
          <a:p>
            <a:pPr>
              <a:defRPr/>
            </a:pPr>
            <a:r>
              <a:rPr lang="en-GB" altLang="en-US" smtClean="0"/>
              <a:t>Department of Computer Science   and Information Systems</a:t>
            </a:r>
            <a:endParaRPr lang="en-US" altLang="en-US"/>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a:xfrm>
            <a:off x="2471209" y="6451423"/>
            <a:ext cx="3818994" cy="221018"/>
          </a:xfrm>
        </p:spPr>
        <p:txBody>
          <a:bodyPr/>
          <a:lstStyle/>
          <a:p>
            <a:pPr>
              <a:defRPr/>
            </a:pPr>
            <a:r>
              <a:rPr lang="en-GB" altLang="en-US" dirty="0"/>
              <a:t>Department of Computer </a:t>
            </a:r>
            <a:r>
              <a:rPr lang="en-GB" altLang="en-US" dirty="0" smtClean="0"/>
              <a:t>Science and </a:t>
            </a:r>
            <a:r>
              <a:rPr lang="en-GB" altLang="en-US" dirty="0"/>
              <a:t>Information Systems</a:t>
            </a:r>
            <a:endParaRPr lang="en-US" altLang="en-US" dirty="0"/>
          </a:p>
        </p:txBody>
      </p:sp>
      <p:sp>
        <p:nvSpPr>
          <p:cNvPr id="6147" name="Rectangle 2"/>
          <p:cNvSpPr>
            <a:spLocks noGrp="1" noChangeArrowheads="1"/>
          </p:cNvSpPr>
          <p:nvPr>
            <p:ph type="title"/>
          </p:nvPr>
        </p:nvSpPr>
        <p:spPr/>
        <p:txBody>
          <a:bodyPr/>
          <a:lstStyle/>
          <a:p>
            <a:pPr eaLnBrk="1" hangingPunct="1"/>
            <a:r>
              <a:rPr lang="en-GB" smtClean="0"/>
              <a:t>Important Dates</a:t>
            </a:r>
            <a:r>
              <a:rPr lang="en-US" smtClean="0"/>
              <a:t> </a:t>
            </a:r>
          </a:p>
        </p:txBody>
      </p:sp>
      <p:sp>
        <p:nvSpPr>
          <p:cNvPr id="59395" name="Rectangle 3"/>
          <p:cNvSpPr>
            <a:spLocks noGrp="1" noChangeArrowheads="1"/>
          </p:cNvSpPr>
          <p:nvPr>
            <p:ph type="body" idx="1"/>
          </p:nvPr>
        </p:nvSpPr>
        <p:spPr>
          <a:xfrm>
            <a:off x="357188" y="785813"/>
            <a:ext cx="8429625" cy="5616575"/>
          </a:xfrm>
          <a:ln>
            <a:solidFill>
              <a:schemeClr val="accent1"/>
            </a:solidFill>
          </a:ln>
        </p:spPr>
        <p:txBody>
          <a:bodyPr/>
          <a:lstStyle/>
          <a:p>
            <a:pPr eaLnBrk="1" hangingPunct="1">
              <a:spcBef>
                <a:spcPct val="60000"/>
              </a:spcBef>
              <a:tabLst>
                <a:tab pos="3673475" algn="l"/>
                <a:tab pos="5922963" algn="l"/>
              </a:tabLst>
            </a:pPr>
            <a:r>
              <a:rPr lang="en-GB" sz="2000" b="1" u="sng" dirty="0" smtClean="0"/>
              <a:t>Project Proposal Form	Monday Week 3	</a:t>
            </a:r>
            <a:r>
              <a:rPr lang="en-IE" sz="2000" b="1" u="sng" dirty="0" smtClean="0"/>
              <a:t>24/09/2018, 12:00</a:t>
            </a:r>
            <a:endParaRPr lang="en-GB" sz="2000" b="1" u="sng" dirty="0" smtClean="0"/>
          </a:p>
          <a:p>
            <a:pPr eaLnBrk="1" hangingPunct="1">
              <a:spcBef>
                <a:spcPct val="60000"/>
              </a:spcBef>
              <a:tabLst>
                <a:tab pos="3673475" algn="l"/>
                <a:tab pos="5922963" algn="l"/>
              </a:tabLst>
            </a:pPr>
            <a:r>
              <a:rPr lang="en-GB" sz="2000" b="1" i="1" dirty="0" smtClean="0"/>
              <a:t>Project Presentation	Week 6	Individual</a:t>
            </a:r>
          </a:p>
          <a:p>
            <a:pPr eaLnBrk="1" hangingPunct="1">
              <a:spcBef>
                <a:spcPct val="60000"/>
              </a:spcBef>
              <a:tabLst>
                <a:tab pos="3673475" algn="l"/>
                <a:tab pos="5922963" algn="l"/>
              </a:tabLst>
            </a:pPr>
            <a:r>
              <a:rPr lang="en-GB" sz="2000" dirty="0" smtClean="0"/>
              <a:t>Deadline Agreement Form	Thurs Week 10	</a:t>
            </a:r>
            <a:r>
              <a:rPr lang="en-IE" sz="2000" dirty="0" smtClean="0"/>
              <a:t>14/11/2018, 16:00</a:t>
            </a:r>
            <a:endParaRPr lang="en-GB" sz="2000" dirty="0" smtClean="0"/>
          </a:p>
          <a:p>
            <a:pPr eaLnBrk="1" hangingPunct="1">
              <a:spcBef>
                <a:spcPct val="60000"/>
              </a:spcBef>
              <a:tabLst>
                <a:tab pos="3673475" algn="l"/>
                <a:tab pos="5922963" algn="l"/>
              </a:tabLst>
            </a:pPr>
            <a:r>
              <a:rPr lang="en-GB" sz="2000" dirty="0" smtClean="0"/>
              <a:t>Supervisor Marking Scheme	Thurs Week 10	</a:t>
            </a:r>
            <a:r>
              <a:rPr lang="en-IE" sz="2000" dirty="0" smtClean="0"/>
              <a:t>14/11/2018, 16:00</a:t>
            </a:r>
            <a:endParaRPr lang="en-GB" sz="2000" dirty="0" smtClean="0"/>
          </a:p>
          <a:p>
            <a:pPr eaLnBrk="1" hangingPunct="1">
              <a:spcBef>
                <a:spcPct val="60000"/>
              </a:spcBef>
              <a:tabLst>
                <a:tab pos="3673475" algn="l"/>
                <a:tab pos="5922963" algn="l"/>
              </a:tabLst>
            </a:pPr>
            <a:r>
              <a:rPr lang="en-GB" sz="2000" b="1" i="1" dirty="0" smtClean="0"/>
              <a:t>Interim Report	Christmas Break	</a:t>
            </a:r>
            <a:r>
              <a:rPr lang="en-IE" sz="2000" b="1" i="1" dirty="0" smtClean="0"/>
              <a:t>06/01/2020, 16:00</a:t>
            </a:r>
          </a:p>
          <a:p>
            <a:pPr eaLnBrk="1" hangingPunct="1">
              <a:spcBef>
                <a:spcPct val="60000"/>
              </a:spcBef>
              <a:tabLst>
                <a:tab pos="3673475" algn="l"/>
                <a:tab pos="5922963" algn="l"/>
              </a:tabLst>
            </a:pPr>
            <a:endParaRPr lang="en-GB" sz="2000" dirty="0" smtClean="0"/>
          </a:p>
          <a:p>
            <a:pPr eaLnBrk="1" hangingPunct="1">
              <a:spcBef>
                <a:spcPct val="60000"/>
              </a:spcBef>
              <a:tabLst>
                <a:tab pos="3673475" algn="l"/>
                <a:tab pos="5922963" algn="l"/>
              </a:tabLst>
            </a:pPr>
            <a:r>
              <a:rPr lang="en-GB" sz="2000" dirty="0" smtClean="0"/>
              <a:t>Draft Report	Thurs Week 07	</a:t>
            </a:r>
            <a:r>
              <a:rPr lang="en-IE" sz="2000" dirty="0" smtClean="0"/>
              <a:t>12/03/2020, 16:00</a:t>
            </a:r>
            <a:endParaRPr lang="en-GB" sz="2000" dirty="0" smtClean="0"/>
          </a:p>
          <a:p>
            <a:pPr eaLnBrk="1" hangingPunct="1">
              <a:spcBef>
                <a:spcPct val="60000"/>
              </a:spcBef>
              <a:tabLst>
                <a:tab pos="3673475" algn="l"/>
                <a:tab pos="5922963" algn="l"/>
              </a:tabLst>
            </a:pPr>
            <a:r>
              <a:rPr lang="en-GB" sz="2000" b="1" dirty="0" smtClean="0"/>
              <a:t>Showcase Days	Thurs Wk10	</a:t>
            </a:r>
            <a:r>
              <a:rPr lang="en-IE" sz="2000" b="1" dirty="0" smtClean="0"/>
              <a:t>15-16/04/2020</a:t>
            </a:r>
            <a:endParaRPr lang="en-GB" sz="2000" b="1" dirty="0" smtClean="0"/>
          </a:p>
          <a:p>
            <a:pPr eaLnBrk="1" hangingPunct="1">
              <a:spcBef>
                <a:spcPct val="60000"/>
              </a:spcBef>
              <a:tabLst>
                <a:tab pos="3673475" algn="l"/>
                <a:tab pos="5922963" algn="l"/>
              </a:tabLst>
            </a:pPr>
            <a:r>
              <a:rPr lang="en-GB" sz="2000" b="1" dirty="0" smtClean="0"/>
              <a:t>Final Submission Product	 Tues Week 11	21</a:t>
            </a:r>
            <a:r>
              <a:rPr lang="en-IE" sz="2000" b="1" dirty="0" smtClean="0"/>
              <a:t>/04/2020, 16:00</a:t>
            </a:r>
            <a:endParaRPr lang="en-GB" sz="2000" b="1" dirty="0" smtClean="0"/>
          </a:p>
          <a:p>
            <a:pPr eaLnBrk="1" hangingPunct="1">
              <a:spcBef>
                <a:spcPct val="60000"/>
              </a:spcBef>
              <a:tabLst>
                <a:tab pos="3673475" algn="l"/>
                <a:tab pos="5922963" algn="l"/>
              </a:tabLst>
            </a:pPr>
            <a:r>
              <a:rPr lang="en-GB" sz="2000" b="1" dirty="0" smtClean="0"/>
              <a:t>Final Submission Report	 Tues Week 12 	</a:t>
            </a:r>
            <a:r>
              <a:rPr lang="en-IE" sz="2000" b="1" dirty="0" smtClean="0"/>
              <a:t>27/04/2020, 16:00</a:t>
            </a:r>
            <a:endParaRPr lang="en-GB" sz="2000" b="1" dirty="0" smtClean="0"/>
          </a:p>
          <a:p>
            <a:pPr eaLnBrk="1" hangingPunct="1">
              <a:spcBef>
                <a:spcPct val="60000"/>
              </a:spcBef>
              <a:tabLst>
                <a:tab pos="3673475" algn="l"/>
                <a:tab pos="5922963" algn="l"/>
              </a:tabLst>
            </a:pPr>
            <a:r>
              <a:rPr lang="en-GB" sz="2000" b="1" u="sng" dirty="0" smtClean="0"/>
              <a:t>Final Cut-off Date	Thurs Week 13	</a:t>
            </a:r>
            <a:r>
              <a:rPr lang="en-IE" sz="2000" b="1" u="sng" dirty="0" smtClean="0"/>
              <a:t>01/05/2020, 16:00</a:t>
            </a:r>
            <a:endParaRPr lang="en-GB" sz="2000" b="1" u="sng" dirty="0" smtClean="0"/>
          </a:p>
        </p:txBody>
      </p:sp>
      <p:cxnSp>
        <p:nvCxnSpPr>
          <p:cNvPr id="6149" name="Straight Connector 8"/>
          <p:cNvCxnSpPr>
            <a:cxnSpLocks noChangeShapeType="1"/>
          </p:cNvCxnSpPr>
          <p:nvPr/>
        </p:nvCxnSpPr>
        <p:spPr bwMode="auto">
          <a:xfrm>
            <a:off x="500063" y="3500438"/>
            <a:ext cx="7929562" cy="1587"/>
          </a:xfrm>
          <a:prstGeom prst="line">
            <a:avLst/>
          </a:prstGeom>
          <a:noFill/>
          <a:ln w="38100" algn="ctr">
            <a:solidFill>
              <a:schemeClr val="accent1"/>
            </a:solidFill>
            <a:round/>
            <a:headEnd/>
            <a:tailEnd/>
          </a:ln>
        </p:spPr>
      </p:cxnSp>
    </p:spTree>
    <p:extLst>
      <p:ext uri="{BB962C8B-B14F-4D97-AF65-F5344CB8AC3E}">
        <p14:creationId xmlns:p14="http://schemas.microsoft.com/office/powerpoint/2010/main" val="23241323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9395">
                                            <p:bg/>
                                          </p:spTgt>
                                        </p:tgtEl>
                                        <p:attrNameLst>
                                          <p:attrName>style.visibility</p:attrName>
                                        </p:attrNameLst>
                                      </p:cBhvr>
                                      <p:to>
                                        <p:strVal val="visible"/>
                                      </p:to>
                                    </p:set>
                                  </p:childTnLst>
                                  <p:subTnLst>
                                    <p:animClr clrSpc="rgb" dir="cw">
                                      <p:cBhvr override="childStyle">
                                        <p:cTn dur="1" fill="hold" display="0" masterRel="nextClick" afterEffect="1"/>
                                        <p:tgtEl>
                                          <p:spTgt spid="59395">
                                            <p:bg/>
                                          </p:spTgt>
                                        </p:tgtEl>
                                        <p:attrNameLst>
                                          <p:attrName>ppt_c</p:attrName>
                                        </p:attrNameLst>
                                      </p:cBhvr>
                                      <p:to>
                                        <a:schemeClr val="bg2"/>
                                      </p:to>
                                    </p:animClr>
                                  </p:sub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9395">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59395">
                                            <p:txEl>
                                              <p:pRg st="0" end="0"/>
                                            </p:txEl>
                                          </p:spTgt>
                                        </p:tgtEl>
                                        <p:attrNameLst>
                                          <p:attrName>ppt_c</p:attrName>
                                        </p:attrNameLst>
                                      </p:cBhvr>
                                      <p:to>
                                        <a:schemeClr val="bg2"/>
                                      </p:to>
                                    </p:animClr>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9395">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59395">
                                            <p:txEl>
                                              <p:pRg st="1" end="1"/>
                                            </p:txEl>
                                          </p:spTgt>
                                        </p:tgtEl>
                                        <p:attrNameLst>
                                          <p:attrName>ppt_c</p:attrName>
                                        </p:attrNameLst>
                                      </p:cBhvr>
                                      <p:to>
                                        <a:schemeClr val="bg2"/>
                                      </p:to>
                                    </p:animClr>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9395">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59395">
                                            <p:txEl>
                                              <p:pRg st="2" end="2"/>
                                            </p:txEl>
                                          </p:spTgt>
                                        </p:tgtEl>
                                        <p:attrNameLst>
                                          <p:attrName>ppt_c</p:attrName>
                                        </p:attrNameLst>
                                      </p:cBhvr>
                                      <p:to>
                                        <a:schemeClr val="bg2"/>
                                      </p:to>
                                    </p:animClr>
                                  </p:sub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9395">
                                            <p:txEl>
                                              <p:pRg st="3" end="3"/>
                                            </p:txEl>
                                          </p:spTgt>
                                        </p:tgtEl>
                                        <p:attrNameLst>
                                          <p:attrName>style.visibility</p:attrName>
                                        </p:attrNameLst>
                                      </p:cBhvr>
                                      <p:to>
                                        <p:strVal val="visible"/>
                                      </p:to>
                                    </p:set>
                                  </p:childTnLst>
                                  <p:subTnLst>
                                    <p:animClr clrSpc="rgb" dir="cw">
                                      <p:cBhvr override="childStyle">
                                        <p:cTn dur="1" fill="hold" display="0" masterRel="nextClick" afterEffect="1"/>
                                        <p:tgtEl>
                                          <p:spTgt spid="59395">
                                            <p:txEl>
                                              <p:pRg st="3" end="3"/>
                                            </p:txEl>
                                          </p:spTgt>
                                        </p:tgtEl>
                                        <p:attrNameLst>
                                          <p:attrName>ppt_c</p:attrName>
                                        </p:attrNameLst>
                                      </p:cBhvr>
                                      <p:to>
                                        <a:schemeClr val="bg2"/>
                                      </p:to>
                                    </p:animClr>
                                  </p:sub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9395">
                                            <p:txEl>
                                              <p:pRg st="4" end="4"/>
                                            </p:txEl>
                                          </p:spTgt>
                                        </p:tgtEl>
                                        <p:attrNameLst>
                                          <p:attrName>style.visibility</p:attrName>
                                        </p:attrNameLst>
                                      </p:cBhvr>
                                      <p:to>
                                        <p:strVal val="visible"/>
                                      </p:to>
                                    </p:set>
                                  </p:childTnLst>
                                  <p:subTnLst>
                                    <p:animClr clrSpc="rgb" dir="cw">
                                      <p:cBhvr override="childStyle">
                                        <p:cTn dur="1" fill="hold" display="0" masterRel="nextClick" afterEffect="1"/>
                                        <p:tgtEl>
                                          <p:spTgt spid="59395">
                                            <p:txEl>
                                              <p:pRg st="4" end="4"/>
                                            </p:txEl>
                                          </p:spTgt>
                                        </p:tgtEl>
                                        <p:attrNameLst>
                                          <p:attrName>ppt_c</p:attrName>
                                        </p:attrNameLst>
                                      </p:cBhvr>
                                      <p:to>
                                        <a:schemeClr val="bg2"/>
                                      </p:to>
                                    </p:animClr>
                                  </p:sub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9395">
                                            <p:txEl>
                                              <p:pRg st="6" end="6"/>
                                            </p:txEl>
                                          </p:spTgt>
                                        </p:tgtEl>
                                        <p:attrNameLst>
                                          <p:attrName>style.visibility</p:attrName>
                                        </p:attrNameLst>
                                      </p:cBhvr>
                                      <p:to>
                                        <p:strVal val="visible"/>
                                      </p:to>
                                    </p:set>
                                  </p:childTnLst>
                                  <p:subTnLst>
                                    <p:animClr clrSpc="rgb" dir="cw">
                                      <p:cBhvr override="childStyle">
                                        <p:cTn dur="1" fill="hold" display="0" masterRel="nextClick" afterEffect="1"/>
                                        <p:tgtEl>
                                          <p:spTgt spid="59395">
                                            <p:txEl>
                                              <p:pRg st="6" end="6"/>
                                            </p:txEl>
                                          </p:spTgt>
                                        </p:tgtEl>
                                        <p:attrNameLst>
                                          <p:attrName>ppt_c</p:attrName>
                                        </p:attrNameLst>
                                      </p:cBhvr>
                                      <p:to>
                                        <a:schemeClr val="bg2"/>
                                      </p:to>
                                    </p:animClr>
                                  </p:sub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9395">
                                            <p:txEl>
                                              <p:pRg st="7" end="7"/>
                                            </p:txEl>
                                          </p:spTgt>
                                        </p:tgtEl>
                                        <p:attrNameLst>
                                          <p:attrName>style.visibility</p:attrName>
                                        </p:attrNameLst>
                                      </p:cBhvr>
                                      <p:to>
                                        <p:strVal val="visible"/>
                                      </p:to>
                                    </p:set>
                                  </p:childTnLst>
                                  <p:subTnLst>
                                    <p:animClr clrSpc="rgb" dir="cw">
                                      <p:cBhvr override="childStyle">
                                        <p:cTn dur="1" fill="hold" display="0" masterRel="nextClick" afterEffect="1"/>
                                        <p:tgtEl>
                                          <p:spTgt spid="59395">
                                            <p:txEl>
                                              <p:pRg st="7" end="7"/>
                                            </p:txEl>
                                          </p:spTgt>
                                        </p:tgtEl>
                                        <p:attrNameLst>
                                          <p:attrName>ppt_c</p:attrName>
                                        </p:attrNameLst>
                                      </p:cBhvr>
                                      <p:to>
                                        <a:schemeClr val="bg2"/>
                                      </p:to>
                                    </p:animClr>
                                  </p:sub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9395">
                                            <p:txEl>
                                              <p:pRg st="8" end="8"/>
                                            </p:txEl>
                                          </p:spTgt>
                                        </p:tgtEl>
                                        <p:attrNameLst>
                                          <p:attrName>style.visibility</p:attrName>
                                        </p:attrNameLst>
                                      </p:cBhvr>
                                      <p:to>
                                        <p:strVal val="visible"/>
                                      </p:to>
                                    </p:set>
                                  </p:childTnLst>
                                  <p:subTnLst>
                                    <p:animClr clrSpc="rgb" dir="cw">
                                      <p:cBhvr override="childStyle">
                                        <p:cTn dur="1" fill="hold" display="0" masterRel="nextClick" afterEffect="1"/>
                                        <p:tgtEl>
                                          <p:spTgt spid="59395">
                                            <p:txEl>
                                              <p:pRg st="8" end="8"/>
                                            </p:txEl>
                                          </p:spTgt>
                                        </p:tgtEl>
                                        <p:attrNameLst>
                                          <p:attrName>ppt_c</p:attrName>
                                        </p:attrNameLst>
                                      </p:cBhvr>
                                      <p:to>
                                        <a:schemeClr val="bg2"/>
                                      </p:to>
                                    </p:animClr>
                                  </p:sub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59395">
                                            <p:txEl>
                                              <p:pRg st="9" end="9"/>
                                            </p:txEl>
                                          </p:spTgt>
                                        </p:tgtEl>
                                        <p:attrNameLst>
                                          <p:attrName>style.visibility</p:attrName>
                                        </p:attrNameLst>
                                      </p:cBhvr>
                                      <p:to>
                                        <p:strVal val="visible"/>
                                      </p:to>
                                    </p:set>
                                  </p:childTnLst>
                                  <p:subTnLst>
                                    <p:animClr clrSpc="rgb" dir="cw">
                                      <p:cBhvr override="childStyle">
                                        <p:cTn dur="1" fill="hold" display="0" masterRel="nextClick" afterEffect="1"/>
                                        <p:tgtEl>
                                          <p:spTgt spid="59395">
                                            <p:txEl>
                                              <p:pRg st="9" end="9"/>
                                            </p:txEl>
                                          </p:spTgt>
                                        </p:tgtEl>
                                        <p:attrNameLst>
                                          <p:attrName>ppt_c</p:attrName>
                                        </p:attrNameLst>
                                      </p:cBhvr>
                                      <p:to>
                                        <a:schemeClr val="bg2"/>
                                      </p:to>
                                    </p:animClr>
                                  </p:sub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59395">
                                            <p:txEl>
                                              <p:pRg st="10" end="10"/>
                                            </p:txEl>
                                          </p:spTgt>
                                        </p:tgtEl>
                                        <p:attrNameLst>
                                          <p:attrName>style.visibility</p:attrName>
                                        </p:attrNameLst>
                                      </p:cBhvr>
                                      <p:to>
                                        <p:strVal val="visible"/>
                                      </p:to>
                                    </p:set>
                                  </p:childTnLst>
                                  <p:subTnLst>
                                    <p:animClr clrSpc="rgb" dir="cw">
                                      <p:cBhvr override="childStyle">
                                        <p:cTn dur="1" fill="hold" display="0" masterRel="nextClick" afterEffect="1"/>
                                        <p:tgtEl>
                                          <p:spTgt spid="59395">
                                            <p:txEl>
                                              <p:pRg st="10" end="10"/>
                                            </p:txEl>
                                          </p:spTgt>
                                        </p:tgtEl>
                                        <p:attrNameLst>
                                          <p:attrName>ppt_c</p:attrName>
                                        </p:attrNameLst>
                                      </p:cBhvr>
                                      <p:to>
                                        <a:schemeClr val="bg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5" grpId="0" build="p" animBg="1"/>
    </p:bld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GB" altLang="en-US"/>
              <a:t>Department of Computer Science   and Information Systems</a:t>
            </a:r>
            <a:endParaRPr lang="en-US" altLang="en-US"/>
          </a:p>
        </p:txBody>
      </p:sp>
      <p:sp>
        <p:nvSpPr>
          <p:cNvPr id="8195" name="Rectangle 2"/>
          <p:cNvSpPr>
            <a:spLocks noGrp="1" noChangeArrowheads="1"/>
          </p:cNvSpPr>
          <p:nvPr>
            <p:ph type="title"/>
          </p:nvPr>
        </p:nvSpPr>
        <p:spPr>
          <a:xfrm>
            <a:off x="457200" y="115888"/>
            <a:ext cx="8218488" cy="450850"/>
          </a:xfrm>
        </p:spPr>
        <p:txBody>
          <a:bodyPr/>
          <a:lstStyle/>
          <a:p>
            <a:pPr eaLnBrk="1" hangingPunct="1"/>
            <a:r>
              <a:rPr lang="en-GB" dirty="0" smtClean="0"/>
              <a:t>FYP Penalties</a:t>
            </a:r>
            <a:endParaRPr lang="en-US" b="0" dirty="0" smtClean="0"/>
          </a:p>
        </p:txBody>
      </p:sp>
      <p:sp>
        <p:nvSpPr>
          <p:cNvPr id="8298" name="Rectangle 10"/>
          <p:cNvSpPr>
            <a:spLocks noChangeArrowheads="1"/>
          </p:cNvSpPr>
          <p:nvPr/>
        </p:nvSpPr>
        <p:spPr bwMode="auto">
          <a:xfrm>
            <a:off x="1324306" y="980728"/>
            <a:ext cx="6502100" cy="1578894"/>
          </a:xfrm>
          <a:prstGeom prst="rect">
            <a:avLst/>
          </a:prstGeom>
          <a:noFill/>
          <a:ln w="9525">
            <a:noFill/>
            <a:miter lim="800000"/>
            <a:headEnd/>
            <a:tailEnd/>
          </a:ln>
        </p:spPr>
        <p:txBody>
          <a:bodyPr wrap="square">
            <a:spAutoFit/>
          </a:bodyPr>
          <a:lstStyle/>
          <a:p>
            <a:pPr algn="ctr">
              <a:buFont typeface="Wingdings" pitchFamily="2" charset="2"/>
              <a:buNone/>
            </a:pPr>
            <a:r>
              <a:rPr lang="en-IE" sz="2800" dirty="0" smtClean="0"/>
              <a:t>Missed </a:t>
            </a:r>
            <a:r>
              <a:rPr lang="en-IE" sz="2800" dirty="0" smtClean="0"/>
              <a:t>Proposal submission – Fail</a:t>
            </a:r>
          </a:p>
          <a:p>
            <a:pPr algn="ctr">
              <a:buFont typeface="Wingdings" pitchFamily="2" charset="2"/>
              <a:buNone/>
            </a:pPr>
            <a:r>
              <a:rPr lang="en-IE" sz="2800" dirty="0" smtClean="0"/>
              <a:t>Missed Showcase </a:t>
            </a:r>
            <a:r>
              <a:rPr lang="en-IE" sz="2800" dirty="0" smtClean="0"/>
              <a:t>day – 5</a:t>
            </a:r>
            <a:r>
              <a:rPr lang="en-IE" sz="2800" dirty="0" smtClean="0"/>
              <a:t>%</a:t>
            </a:r>
            <a:endParaRPr lang="en-IE" sz="1400" dirty="0" smtClean="0"/>
          </a:p>
          <a:p>
            <a:pPr algn="ctr">
              <a:buFont typeface="Wingdings" pitchFamily="2" charset="2"/>
              <a:buNone/>
            </a:pPr>
            <a:r>
              <a:rPr lang="en-IE" sz="2800" dirty="0" smtClean="0"/>
              <a:t>Product </a:t>
            </a:r>
            <a:r>
              <a:rPr lang="en-IE" sz="2800" dirty="0"/>
              <a:t>Late – deduction of 1% per </a:t>
            </a:r>
            <a:r>
              <a:rPr lang="en-IE" sz="2800" dirty="0" smtClean="0"/>
              <a:t>day</a:t>
            </a:r>
          </a:p>
        </p:txBody>
      </p:sp>
      <p:sp>
        <p:nvSpPr>
          <p:cNvPr id="8299" name="Rectangle 13"/>
          <p:cNvSpPr>
            <a:spLocks noChangeArrowheads="1"/>
          </p:cNvSpPr>
          <p:nvPr/>
        </p:nvSpPr>
        <p:spPr bwMode="auto">
          <a:xfrm>
            <a:off x="385139" y="2588842"/>
            <a:ext cx="8362609" cy="2656112"/>
          </a:xfrm>
          <a:prstGeom prst="rect">
            <a:avLst/>
          </a:prstGeom>
          <a:noFill/>
          <a:ln w="9525">
            <a:noFill/>
            <a:miter lim="800000"/>
            <a:headEnd/>
            <a:tailEnd/>
          </a:ln>
        </p:spPr>
        <p:txBody>
          <a:bodyPr wrap="none">
            <a:spAutoFit/>
          </a:bodyPr>
          <a:lstStyle/>
          <a:p>
            <a:pPr algn="ctr">
              <a:buFont typeface="Wingdings" pitchFamily="2" charset="2"/>
              <a:buNone/>
            </a:pPr>
            <a:r>
              <a:rPr lang="en-IE" sz="2800" dirty="0"/>
              <a:t>Report Late – deduction of 2% per </a:t>
            </a:r>
            <a:r>
              <a:rPr lang="en-IE" sz="2800" dirty="0" smtClean="0"/>
              <a:t>day</a:t>
            </a:r>
            <a:endParaRPr lang="en-IE" sz="1400" dirty="0" smtClean="0"/>
          </a:p>
          <a:p>
            <a:pPr algn="ctr">
              <a:buFont typeface="Wingdings" pitchFamily="2" charset="2"/>
              <a:buNone/>
            </a:pPr>
            <a:r>
              <a:rPr lang="en-IE" sz="2800" dirty="0" smtClean="0"/>
              <a:t>And after the final cut-off day: NG</a:t>
            </a:r>
          </a:p>
          <a:p>
            <a:pPr algn="ctr">
              <a:buFont typeface="Wingdings" pitchFamily="2" charset="2"/>
              <a:buNone/>
            </a:pPr>
            <a:endParaRPr lang="en-IE" sz="1400" dirty="0" smtClean="0"/>
          </a:p>
          <a:p>
            <a:pPr algn="ctr">
              <a:buFont typeface="Wingdings" pitchFamily="2" charset="2"/>
              <a:buNone/>
            </a:pPr>
            <a:endParaRPr lang="en-IE" sz="1400" dirty="0" smtClean="0"/>
          </a:p>
          <a:p>
            <a:pPr algn="ctr">
              <a:buFont typeface="Wingdings" pitchFamily="2" charset="2"/>
              <a:buNone/>
            </a:pPr>
            <a:r>
              <a:rPr lang="en-IE" sz="2800" i="1" dirty="0" smtClean="0"/>
              <a:t>This year, the difference between submission dates</a:t>
            </a:r>
          </a:p>
          <a:p>
            <a:pPr algn="ctr">
              <a:buFont typeface="Wingdings" pitchFamily="2" charset="2"/>
              <a:buNone/>
            </a:pPr>
            <a:r>
              <a:rPr lang="en-IE" sz="2800" i="1" dirty="0" smtClean="0"/>
              <a:t> and </a:t>
            </a:r>
            <a:r>
              <a:rPr lang="en-IE" sz="2800" i="1" dirty="0" smtClean="0"/>
              <a:t>the cut-off date </a:t>
            </a:r>
            <a:r>
              <a:rPr lang="en-IE" sz="2800" i="1" dirty="0" smtClean="0"/>
              <a:t>are MUCH closer: be warned</a:t>
            </a:r>
            <a:endParaRPr lang="en-IE" sz="2800" i="1" dirty="0"/>
          </a:p>
        </p:txBody>
      </p:sp>
    </p:spTree>
    <p:extLst>
      <p:ext uri="{BB962C8B-B14F-4D97-AF65-F5344CB8AC3E}">
        <p14:creationId xmlns:p14="http://schemas.microsoft.com/office/powerpoint/2010/main" val="266241926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GB" altLang="en-US"/>
              <a:t>Department of Computer Science   and Information Systems</a:t>
            </a:r>
            <a:endParaRPr lang="en-US" altLang="en-US"/>
          </a:p>
        </p:txBody>
      </p:sp>
      <p:sp>
        <p:nvSpPr>
          <p:cNvPr id="7171" name="Rectangle 2"/>
          <p:cNvSpPr>
            <a:spLocks noGrp="1" noChangeArrowheads="1"/>
          </p:cNvSpPr>
          <p:nvPr>
            <p:ph type="title"/>
          </p:nvPr>
        </p:nvSpPr>
        <p:spPr>
          <a:xfrm>
            <a:off x="457200" y="115888"/>
            <a:ext cx="8218488" cy="450850"/>
          </a:xfrm>
        </p:spPr>
        <p:txBody>
          <a:bodyPr/>
          <a:lstStyle/>
          <a:p>
            <a:pPr eaLnBrk="1" hangingPunct="1"/>
            <a:r>
              <a:rPr lang="en-GB" dirty="0" smtClean="0"/>
              <a:t>FYP Deadlines Inflexibility</a:t>
            </a:r>
            <a:r>
              <a:rPr lang="en-GB" b="0" dirty="0" smtClean="0"/>
              <a:t/>
            </a:r>
            <a:br>
              <a:rPr lang="en-GB" b="0" dirty="0" smtClean="0"/>
            </a:br>
            <a:endParaRPr lang="en-US" b="0" dirty="0" smtClean="0"/>
          </a:p>
        </p:txBody>
      </p:sp>
      <p:sp>
        <p:nvSpPr>
          <p:cNvPr id="43011" name="Rectangle 3"/>
          <p:cNvSpPr>
            <a:spLocks noGrp="1" noChangeArrowheads="1"/>
          </p:cNvSpPr>
          <p:nvPr>
            <p:ph type="body" idx="1"/>
          </p:nvPr>
        </p:nvSpPr>
        <p:spPr>
          <a:xfrm>
            <a:off x="214313" y="714375"/>
            <a:ext cx="8678862" cy="5561013"/>
          </a:xfrm>
        </p:spPr>
        <p:txBody>
          <a:bodyPr/>
          <a:lstStyle/>
          <a:p>
            <a:pPr marL="571500" indent="-571500" eaLnBrk="1" hangingPunct="1">
              <a:lnSpc>
                <a:spcPct val="95000"/>
              </a:lnSpc>
              <a:spcBef>
                <a:spcPct val="30000"/>
              </a:spcBef>
            </a:pPr>
            <a:r>
              <a:rPr lang="en-GB" sz="2200" dirty="0" smtClean="0"/>
              <a:t>You are probably used to some sort of flexibility over deadlines set by your lecturers</a:t>
            </a:r>
          </a:p>
          <a:p>
            <a:pPr marL="571500" indent="-571500" eaLnBrk="1" hangingPunct="1">
              <a:lnSpc>
                <a:spcPct val="95000"/>
              </a:lnSpc>
              <a:spcBef>
                <a:spcPct val="30000"/>
              </a:spcBef>
            </a:pPr>
            <a:r>
              <a:rPr lang="en-GB" sz="2200" dirty="0" smtClean="0"/>
              <a:t>You should be aware that there is</a:t>
            </a:r>
            <a:r>
              <a:rPr lang="en-GB" sz="2200" b="1" dirty="0" smtClean="0"/>
              <a:t> no</a:t>
            </a:r>
            <a:r>
              <a:rPr lang="en-GB" sz="2200" dirty="0" smtClean="0"/>
              <a:t> </a:t>
            </a:r>
            <a:r>
              <a:rPr lang="en-GB" sz="2200" b="1" dirty="0" smtClean="0"/>
              <a:t>such flexibility in the deadlines of the FYP</a:t>
            </a:r>
            <a:r>
              <a:rPr lang="en-GB" sz="2200" dirty="0" smtClean="0"/>
              <a:t>.   </a:t>
            </a:r>
          </a:p>
          <a:p>
            <a:pPr marL="571500" indent="-571500" eaLnBrk="1" hangingPunct="1">
              <a:lnSpc>
                <a:spcPct val="95000"/>
              </a:lnSpc>
              <a:spcBef>
                <a:spcPct val="30000"/>
              </a:spcBef>
            </a:pPr>
            <a:r>
              <a:rPr lang="en-GB" sz="2200" dirty="0" smtClean="0"/>
              <a:t>Adherence to the deadlines, and application of the set penalties for missing those deadlines, is enforced by the </a:t>
            </a:r>
            <a:r>
              <a:rPr lang="en-GB" sz="2200" b="1" dirty="0" smtClean="0"/>
              <a:t>administrative staff</a:t>
            </a:r>
            <a:r>
              <a:rPr lang="en-GB" sz="2200" dirty="0" smtClean="0"/>
              <a:t> after the supervisor has awarded a mark to the project.</a:t>
            </a:r>
          </a:p>
          <a:p>
            <a:pPr marL="571500" indent="-571500" eaLnBrk="1" hangingPunct="1">
              <a:lnSpc>
                <a:spcPct val="95000"/>
              </a:lnSpc>
              <a:spcBef>
                <a:spcPct val="30000"/>
              </a:spcBef>
            </a:pPr>
            <a:r>
              <a:rPr lang="en-IE" sz="2200" dirty="0" smtClean="0"/>
              <a:t>An extension may be granted in the case of documented illness or other exceptional circumstance but only after agreement by the student, the supervisor, the project co-ordinator, and the course leader</a:t>
            </a:r>
            <a:r>
              <a:rPr lang="en-IE" sz="2200" dirty="0" smtClean="0"/>
              <a:t>.</a:t>
            </a:r>
          </a:p>
          <a:p>
            <a:pPr marL="571500" indent="-571500" eaLnBrk="1" hangingPunct="1">
              <a:lnSpc>
                <a:spcPct val="95000"/>
              </a:lnSpc>
              <a:spcBef>
                <a:spcPct val="30000"/>
              </a:spcBef>
            </a:pPr>
            <a:r>
              <a:rPr lang="en-IE" sz="2200" dirty="0" smtClean="0"/>
              <a:t>Ideally this should be in advance of deadlines.</a:t>
            </a:r>
            <a:r>
              <a:rPr lang="en-IE" dirty="0" smtClean="0"/>
              <a:t>  </a:t>
            </a:r>
            <a:endParaRPr lang="en-IE" dirty="0" smtClean="0"/>
          </a:p>
          <a:p>
            <a:pPr marL="571500" indent="-571500" eaLnBrk="1" hangingPunct="1">
              <a:lnSpc>
                <a:spcPct val="95000"/>
              </a:lnSpc>
              <a:spcBef>
                <a:spcPct val="30000"/>
              </a:spcBef>
            </a:pPr>
            <a:r>
              <a:rPr lang="en-IE" sz="2200" dirty="0" smtClean="0"/>
              <a:t>In past years the application of penalties for late submission caused one student to drop from D2D1 to FF</a:t>
            </a:r>
            <a:r>
              <a:rPr lang="en-IE" sz="2200" dirty="0" smtClean="0"/>
              <a:t>. But this is not the only case.</a:t>
            </a:r>
            <a:endParaRPr lang="en-US" sz="2200" dirty="0" smtClean="0"/>
          </a:p>
        </p:txBody>
      </p:sp>
    </p:spTree>
    <p:extLst>
      <p:ext uri="{BB962C8B-B14F-4D97-AF65-F5344CB8AC3E}">
        <p14:creationId xmlns:p14="http://schemas.microsoft.com/office/powerpoint/2010/main" val="29412572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3011">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43011">
                                            <p:txEl>
                                              <p:pRg st="0" end="0"/>
                                            </p:txEl>
                                          </p:spTgt>
                                        </p:tgtEl>
                                        <p:attrNameLst>
                                          <p:attrName>ppt_c</p:attrName>
                                        </p:attrNameLst>
                                      </p:cBhvr>
                                      <p:to>
                                        <a:schemeClr val="bg2"/>
                                      </p:to>
                                    </p:animClr>
                                  </p:sub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3011">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43011">
                                            <p:txEl>
                                              <p:pRg st="1" end="1"/>
                                            </p:txEl>
                                          </p:spTgt>
                                        </p:tgtEl>
                                        <p:attrNameLst>
                                          <p:attrName>ppt_c</p:attrName>
                                        </p:attrNameLst>
                                      </p:cBhvr>
                                      <p:to>
                                        <a:schemeClr val="bg2"/>
                                      </p:to>
                                    </p:animClr>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3011">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43011">
                                            <p:txEl>
                                              <p:pRg st="2" end="2"/>
                                            </p:txEl>
                                          </p:spTgt>
                                        </p:tgtEl>
                                        <p:attrNameLst>
                                          <p:attrName>ppt_c</p:attrName>
                                        </p:attrNameLst>
                                      </p:cBhvr>
                                      <p:to>
                                        <a:schemeClr val="bg2"/>
                                      </p:to>
                                    </p:animClr>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3011">
                                            <p:txEl>
                                              <p:pRg st="3" end="3"/>
                                            </p:txEl>
                                          </p:spTgt>
                                        </p:tgtEl>
                                        <p:attrNameLst>
                                          <p:attrName>style.visibility</p:attrName>
                                        </p:attrNameLst>
                                      </p:cBhvr>
                                      <p:to>
                                        <p:strVal val="visible"/>
                                      </p:to>
                                    </p:set>
                                  </p:childTnLst>
                                  <p:subTnLst>
                                    <p:animClr clrSpc="rgb" dir="cw">
                                      <p:cBhvr override="childStyle">
                                        <p:cTn dur="1" fill="hold" display="0" masterRel="nextClick" afterEffect="1"/>
                                        <p:tgtEl>
                                          <p:spTgt spid="43011">
                                            <p:txEl>
                                              <p:pRg st="3" end="3"/>
                                            </p:txEl>
                                          </p:spTgt>
                                        </p:tgtEl>
                                        <p:attrNameLst>
                                          <p:attrName>ppt_c</p:attrName>
                                        </p:attrNameLst>
                                      </p:cBhvr>
                                      <p:to>
                                        <a:schemeClr val="bg2"/>
                                      </p:to>
                                    </p:animClr>
                                  </p:sub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3011">
                                            <p:txEl>
                                              <p:pRg st="4" end="4"/>
                                            </p:txEl>
                                          </p:spTgt>
                                        </p:tgtEl>
                                        <p:attrNameLst>
                                          <p:attrName>style.visibility</p:attrName>
                                        </p:attrNameLst>
                                      </p:cBhvr>
                                      <p:to>
                                        <p:strVal val="visible"/>
                                      </p:to>
                                    </p:set>
                                  </p:childTnLst>
                                  <p:subTnLst>
                                    <p:animClr clrSpc="rgb" dir="cw">
                                      <p:cBhvr override="childStyle">
                                        <p:cTn dur="1" fill="hold" display="0" masterRel="nextClick" afterEffect="1"/>
                                        <p:tgtEl>
                                          <p:spTgt spid="43011">
                                            <p:txEl>
                                              <p:pRg st="4" end="4"/>
                                            </p:txEl>
                                          </p:spTgt>
                                        </p:tgtEl>
                                        <p:attrNameLst>
                                          <p:attrName>ppt_c</p:attrName>
                                        </p:attrNameLst>
                                      </p:cBhvr>
                                      <p:to>
                                        <a:schemeClr val="bg2"/>
                                      </p:to>
                                    </p:animClr>
                                  </p:sub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3011">
                                            <p:txEl>
                                              <p:pRg st="5" end="5"/>
                                            </p:txEl>
                                          </p:spTgt>
                                        </p:tgtEl>
                                        <p:attrNameLst>
                                          <p:attrName>style.visibility</p:attrName>
                                        </p:attrNameLst>
                                      </p:cBhvr>
                                      <p:to>
                                        <p:strVal val="visible"/>
                                      </p:to>
                                    </p:set>
                                  </p:childTnLst>
                                  <p:subTnLst>
                                    <p:animClr clrSpc="rgb" dir="cw">
                                      <p:cBhvr override="childStyle">
                                        <p:cTn dur="1" fill="hold" display="0" masterRel="nextClick" afterEffect="1"/>
                                        <p:tgtEl>
                                          <p:spTgt spid="43011">
                                            <p:txEl>
                                              <p:pRg st="5" end="5"/>
                                            </p:txEl>
                                          </p:spTgt>
                                        </p:tgtEl>
                                        <p:attrNameLst>
                                          <p:attrName>ppt_c</p:attrName>
                                        </p:attrNameLst>
                                      </p:cBhvr>
                                      <p:to>
                                        <a:schemeClr val="bg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1" grpId="0" build="p"/>
    </p:bld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GB" altLang="en-US"/>
              <a:t>Department of Computer Science   and Information Systems</a:t>
            </a:r>
            <a:endParaRPr lang="en-US" altLang="en-US"/>
          </a:p>
        </p:txBody>
      </p:sp>
      <p:sp>
        <p:nvSpPr>
          <p:cNvPr id="12291" name="Rectangle 2"/>
          <p:cNvSpPr>
            <a:spLocks noGrp="1" noChangeArrowheads="1"/>
          </p:cNvSpPr>
          <p:nvPr>
            <p:ph type="title"/>
          </p:nvPr>
        </p:nvSpPr>
        <p:spPr/>
        <p:txBody>
          <a:bodyPr/>
          <a:lstStyle/>
          <a:p>
            <a:pPr eaLnBrk="1" hangingPunct="1"/>
            <a:r>
              <a:rPr lang="en-GB" dirty="0" smtClean="0"/>
              <a:t>Choosing an FYP 1</a:t>
            </a:r>
            <a:r>
              <a:rPr lang="en-US" dirty="0" smtClean="0"/>
              <a:t> </a:t>
            </a:r>
          </a:p>
        </p:txBody>
      </p:sp>
      <p:sp>
        <p:nvSpPr>
          <p:cNvPr id="44035" name="Rectangle 3"/>
          <p:cNvSpPr>
            <a:spLocks noGrp="1" noChangeArrowheads="1"/>
          </p:cNvSpPr>
          <p:nvPr>
            <p:ph type="body" idx="1"/>
          </p:nvPr>
        </p:nvSpPr>
        <p:spPr/>
        <p:txBody>
          <a:bodyPr/>
          <a:lstStyle/>
          <a:p>
            <a:pPr>
              <a:defRPr/>
            </a:pPr>
            <a:r>
              <a:rPr lang="en-IE" dirty="0" smtClean="0"/>
              <a:t>This needs to be done and approved by </a:t>
            </a:r>
            <a:r>
              <a:rPr lang="en-IE" b="1" dirty="0" smtClean="0"/>
              <a:t>Monday  Week 3 12:00</a:t>
            </a:r>
          </a:p>
          <a:p>
            <a:pPr>
              <a:defRPr/>
            </a:pPr>
            <a:r>
              <a:rPr lang="en-IE" dirty="0" smtClean="0"/>
              <a:t>Do not leave it until the last minute or you may find </a:t>
            </a:r>
          </a:p>
          <a:p>
            <a:pPr lvl="1">
              <a:defRPr/>
            </a:pPr>
            <a:r>
              <a:rPr lang="en-IE" b="1" dirty="0" smtClean="0"/>
              <a:t>The project </a:t>
            </a:r>
            <a:r>
              <a:rPr lang="en-IE" b="1" dirty="0" smtClean="0"/>
              <a:t>you want has </a:t>
            </a:r>
            <a:r>
              <a:rPr lang="en-IE" b="1" dirty="0" smtClean="0"/>
              <a:t>already been taken</a:t>
            </a:r>
          </a:p>
          <a:p>
            <a:pPr lvl="1">
              <a:defRPr/>
            </a:pPr>
            <a:r>
              <a:rPr lang="en-IE" b="1" dirty="0" smtClean="0"/>
              <a:t>The supervisor cannot be contacted</a:t>
            </a:r>
            <a:endParaRPr lang="en-IE" dirty="0" smtClean="0"/>
          </a:p>
          <a:p>
            <a:pPr>
              <a:defRPr/>
            </a:pPr>
            <a:r>
              <a:rPr lang="en-GB" dirty="0" smtClean="0"/>
              <a:t>Three main possibilities:</a:t>
            </a:r>
          </a:p>
          <a:p>
            <a:pPr lvl="1" eaLnBrk="1" hangingPunct="1">
              <a:defRPr/>
            </a:pPr>
            <a:r>
              <a:rPr lang="en-GB" dirty="0" smtClean="0"/>
              <a:t>Choose a project from the Final Year Project CSIS Suggestions document</a:t>
            </a:r>
          </a:p>
          <a:p>
            <a:pPr lvl="1" eaLnBrk="1" hangingPunct="1">
              <a:defRPr/>
            </a:pPr>
            <a:r>
              <a:rPr lang="en-GB" dirty="0" smtClean="0"/>
              <a:t>Decide on your own project</a:t>
            </a:r>
          </a:p>
          <a:p>
            <a:pPr lvl="1" eaLnBrk="1" hangingPunct="1">
              <a:defRPr/>
            </a:pPr>
            <a:r>
              <a:rPr lang="en-GB" dirty="0" smtClean="0"/>
              <a:t>Select an area of interest and then narrow down to the above</a:t>
            </a:r>
            <a:endParaRPr lang="en-IE" dirty="0" smtClean="0"/>
          </a:p>
          <a:p>
            <a:pPr algn="ctr">
              <a:spcBef>
                <a:spcPts val="1800"/>
              </a:spcBef>
              <a:buFont typeface="Wingdings" pitchFamily="2" charset="2"/>
              <a:buNone/>
              <a:defRPr/>
            </a:pPr>
            <a:r>
              <a:rPr lang="en-IE" sz="2800" b="1" dirty="0" smtClean="0">
                <a:solidFill>
                  <a:srgbClr val="FF0000"/>
                </a:solidFill>
                <a:effectLst>
                  <a:outerShdw blurRad="38100" dist="38100" dir="2700000" algn="tl">
                    <a:srgbClr val="000000">
                      <a:alpha val="43137"/>
                    </a:srgbClr>
                  </a:outerShdw>
                </a:effectLst>
              </a:rPr>
              <a:t>Warning!!</a:t>
            </a:r>
            <a:r>
              <a:rPr lang="en-IE" dirty="0" smtClean="0"/>
              <a:t/>
            </a:r>
            <a:br>
              <a:rPr lang="en-IE" dirty="0" smtClean="0"/>
            </a:br>
            <a:r>
              <a:rPr lang="en-IE" sz="2800" dirty="0" smtClean="0">
                <a:solidFill>
                  <a:srgbClr val="FF0000"/>
                </a:solidFill>
                <a:effectLst>
                  <a:outerShdw blurRad="38100" dist="38100" dir="2700000" algn="tl">
                    <a:srgbClr val="000000">
                      <a:alpha val="43137"/>
                    </a:srgbClr>
                  </a:outerShdw>
                </a:effectLst>
              </a:rPr>
              <a:t>If your proposal is not submitted by the deadline </a:t>
            </a:r>
            <a:br>
              <a:rPr lang="en-IE" sz="2800" dirty="0" smtClean="0">
                <a:solidFill>
                  <a:srgbClr val="FF0000"/>
                </a:solidFill>
                <a:effectLst>
                  <a:outerShdw blurRad="38100" dist="38100" dir="2700000" algn="tl">
                    <a:srgbClr val="000000">
                      <a:alpha val="43137"/>
                    </a:srgbClr>
                  </a:outerShdw>
                </a:effectLst>
              </a:rPr>
            </a:br>
            <a:r>
              <a:rPr lang="en-IE" sz="2800" dirty="0" smtClean="0">
                <a:solidFill>
                  <a:srgbClr val="FF0000"/>
                </a:solidFill>
                <a:effectLst>
                  <a:outerShdw blurRad="38100" dist="38100" dir="2700000" algn="tl">
                    <a:srgbClr val="000000">
                      <a:alpha val="43137"/>
                    </a:srgbClr>
                  </a:outerShdw>
                </a:effectLst>
              </a:rPr>
              <a:t>you will </a:t>
            </a:r>
            <a:r>
              <a:rPr lang="en-IE" sz="2800" b="1" dirty="0" smtClean="0">
                <a:solidFill>
                  <a:srgbClr val="FF0000"/>
                </a:solidFill>
                <a:effectLst>
                  <a:outerShdw blurRad="38100" dist="38100" dir="2700000" algn="tl">
                    <a:srgbClr val="000000">
                      <a:alpha val="43137"/>
                    </a:srgbClr>
                  </a:outerShdw>
                </a:effectLst>
              </a:rPr>
              <a:t>fail your FYP</a:t>
            </a:r>
            <a:endParaRPr lang="en-US" sz="2800" b="1" dirty="0" smtClean="0">
              <a:solidFill>
                <a:srgbClr val="FF0000"/>
              </a:solidFill>
              <a:effectLst>
                <a:outerShdw blurRad="38100" dist="38100" dir="2700000" algn="tl">
                  <a:srgbClr val="000000">
                    <a:alpha val="43137"/>
                  </a:srgbClr>
                </a:outerShdw>
              </a:effectLs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4035">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44035">
                                            <p:txEl>
                                              <p:pRg st="0" end="0"/>
                                            </p:txEl>
                                          </p:spTgt>
                                        </p:tgtEl>
                                        <p:attrNameLst>
                                          <p:attrName>ppt_c</p:attrName>
                                        </p:attrNameLst>
                                      </p:cBhvr>
                                      <p:to>
                                        <a:schemeClr val="bg2"/>
                                      </p:to>
                                    </p:animClr>
                                  </p:sub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4035">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44035">
                                            <p:txEl>
                                              <p:pRg st="1" end="1"/>
                                            </p:txEl>
                                          </p:spTgt>
                                        </p:tgtEl>
                                        <p:attrNameLst>
                                          <p:attrName>ppt_c</p:attrName>
                                        </p:attrNameLst>
                                      </p:cBhvr>
                                      <p:to>
                                        <a:schemeClr val="bg2"/>
                                      </p:to>
                                    </p:animClr>
                                  </p:subTnLst>
                                </p:cTn>
                              </p:par>
                              <p:par>
                                <p:cTn id="11" presetID="1" presetClass="entr" presetSubtype="0" fill="hold" grpId="0" nodeType="withEffect">
                                  <p:stCondLst>
                                    <p:cond delay="0"/>
                                  </p:stCondLst>
                                  <p:childTnLst>
                                    <p:set>
                                      <p:cBhvr>
                                        <p:cTn id="12" dur="1" fill="hold">
                                          <p:stCondLst>
                                            <p:cond delay="0"/>
                                          </p:stCondLst>
                                        </p:cTn>
                                        <p:tgtEl>
                                          <p:spTgt spid="44035">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44035">
                                            <p:txEl>
                                              <p:pRg st="2" end="2"/>
                                            </p:txEl>
                                          </p:spTgt>
                                        </p:tgtEl>
                                        <p:attrNameLst>
                                          <p:attrName>ppt_c</p:attrName>
                                        </p:attrNameLst>
                                      </p:cBhvr>
                                      <p:to>
                                        <a:schemeClr val="bg2"/>
                                      </p:to>
                                    </p:animClr>
                                  </p:subTnLst>
                                </p:cTn>
                              </p:par>
                              <p:par>
                                <p:cTn id="13" presetID="1" presetClass="entr" presetSubtype="0" fill="hold" grpId="0" nodeType="withEffect">
                                  <p:stCondLst>
                                    <p:cond delay="0"/>
                                  </p:stCondLst>
                                  <p:childTnLst>
                                    <p:set>
                                      <p:cBhvr>
                                        <p:cTn id="14" dur="1" fill="hold">
                                          <p:stCondLst>
                                            <p:cond delay="0"/>
                                          </p:stCondLst>
                                        </p:cTn>
                                        <p:tgtEl>
                                          <p:spTgt spid="44035">
                                            <p:txEl>
                                              <p:pRg st="3" end="3"/>
                                            </p:txEl>
                                          </p:spTgt>
                                        </p:tgtEl>
                                        <p:attrNameLst>
                                          <p:attrName>style.visibility</p:attrName>
                                        </p:attrNameLst>
                                      </p:cBhvr>
                                      <p:to>
                                        <p:strVal val="visible"/>
                                      </p:to>
                                    </p:set>
                                  </p:childTnLst>
                                  <p:subTnLst>
                                    <p:animClr clrSpc="rgb" dir="cw">
                                      <p:cBhvr override="childStyle">
                                        <p:cTn dur="1" fill="hold" display="0" masterRel="nextClick" afterEffect="1"/>
                                        <p:tgtEl>
                                          <p:spTgt spid="44035">
                                            <p:txEl>
                                              <p:pRg st="3" end="3"/>
                                            </p:txEl>
                                          </p:spTgt>
                                        </p:tgtEl>
                                        <p:attrNameLst>
                                          <p:attrName>ppt_c</p:attrName>
                                        </p:attrNameLst>
                                      </p:cBhvr>
                                      <p:to>
                                        <a:schemeClr val="bg2"/>
                                      </p:to>
                                    </p:animClr>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4035">
                                            <p:txEl>
                                              <p:pRg st="4" end="4"/>
                                            </p:txEl>
                                          </p:spTgt>
                                        </p:tgtEl>
                                        <p:attrNameLst>
                                          <p:attrName>style.visibility</p:attrName>
                                        </p:attrNameLst>
                                      </p:cBhvr>
                                      <p:to>
                                        <p:strVal val="visible"/>
                                      </p:to>
                                    </p:set>
                                  </p:childTnLst>
                                  <p:subTnLst>
                                    <p:animClr clrSpc="rgb" dir="cw">
                                      <p:cBhvr override="childStyle">
                                        <p:cTn dur="1" fill="hold" display="0" masterRel="nextClick" afterEffect="1"/>
                                        <p:tgtEl>
                                          <p:spTgt spid="44035">
                                            <p:txEl>
                                              <p:pRg st="4" end="4"/>
                                            </p:txEl>
                                          </p:spTgt>
                                        </p:tgtEl>
                                        <p:attrNameLst>
                                          <p:attrName>ppt_c</p:attrName>
                                        </p:attrNameLst>
                                      </p:cBhvr>
                                      <p:to>
                                        <a:schemeClr val="bg2"/>
                                      </p:to>
                                    </p:animClr>
                                  </p:subTnLst>
                                </p:cTn>
                              </p:par>
                              <p:par>
                                <p:cTn id="19" presetID="1" presetClass="entr" presetSubtype="0" fill="hold" grpId="0" nodeType="withEffect">
                                  <p:stCondLst>
                                    <p:cond delay="0"/>
                                  </p:stCondLst>
                                  <p:childTnLst>
                                    <p:set>
                                      <p:cBhvr>
                                        <p:cTn id="20" dur="1" fill="hold">
                                          <p:stCondLst>
                                            <p:cond delay="0"/>
                                          </p:stCondLst>
                                        </p:cTn>
                                        <p:tgtEl>
                                          <p:spTgt spid="44035">
                                            <p:txEl>
                                              <p:pRg st="5" end="5"/>
                                            </p:txEl>
                                          </p:spTgt>
                                        </p:tgtEl>
                                        <p:attrNameLst>
                                          <p:attrName>style.visibility</p:attrName>
                                        </p:attrNameLst>
                                      </p:cBhvr>
                                      <p:to>
                                        <p:strVal val="visible"/>
                                      </p:to>
                                    </p:set>
                                  </p:childTnLst>
                                  <p:subTnLst>
                                    <p:animClr clrSpc="rgb" dir="cw">
                                      <p:cBhvr override="childStyle">
                                        <p:cTn dur="1" fill="hold" display="0" masterRel="nextClick" afterEffect="1"/>
                                        <p:tgtEl>
                                          <p:spTgt spid="44035">
                                            <p:txEl>
                                              <p:pRg st="5" end="5"/>
                                            </p:txEl>
                                          </p:spTgt>
                                        </p:tgtEl>
                                        <p:attrNameLst>
                                          <p:attrName>ppt_c</p:attrName>
                                        </p:attrNameLst>
                                      </p:cBhvr>
                                      <p:to>
                                        <a:schemeClr val="bg2"/>
                                      </p:to>
                                    </p:animClr>
                                  </p:subTnLst>
                                </p:cTn>
                              </p:par>
                              <p:par>
                                <p:cTn id="21" presetID="1" presetClass="entr" presetSubtype="0" fill="hold" grpId="0" nodeType="withEffect">
                                  <p:stCondLst>
                                    <p:cond delay="0"/>
                                  </p:stCondLst>
                                  <p:childTnLst>
                                    <p:set>
                                      <p:cBhvr>
                                        <p:cTn id="22" dur="1" fill="hold">
                                          <p:stCondLst>
                                            <p:cond delay="0"/>
                                          </p:stCondLst>
                                        </p:cTn>
                                        <p:tgtEl>
                                          <p:spTgt spid="44035">
                                            <p:txEl>
                                              <p:pRg st="6" end="6"/>
                                            </p:txEl>
                                          </p:spTgt>
                                        </p:tgtEl>
                                        <p:attrNameLst>
                                          <p:attrName>style.visibility</p:attrName>
                                        </p:attrNameLst>
                                      </p:cBhvr>
                                      <p:to>
                                        <p:strVal val="visible"/>
                                      </p:to>
                                    </p:set>
                                  </p:childTnLst>
                                  <p:subTnLst>
                                    <p:animClr clrSpc="rgb" dir="cw">
                                      <p:cBhvr override="childStyle">
                                        <p:cTn dur="1" fill="hold" display="0" masterRel="nextClick" afterEffect="1"/>
                                        <p:tgtEl>
                                          <p:spTgt spid="44035">
                                            <p:txEl>
                                              <p:pRg st="6" end="6"/>
                                            </p:txEl>
                                          </p:spTgt>
                                        </p:tgtEl>
                                        <p:attrNameLst>
                                          <p:attrName>ppt_c</p:attrName>
                                        </p:attrNameLst>
                                      </p:cBhvr>
                                      <p:to>
                                        <a:schemeClr val="bg2"/>
                                      </p:to>
                                    </p:animClr>
                                  </p:subTnLst>
                                </p:cTn>
                              </p:par>
                              <p:par>
                                <p:cTn id="23" presetID="1" presetClass="entr" presetSubtype="0" fill="hold" grpId="0" nodeType="withEffect">
                                  <p:stCondLst>
                                    <p:cond delay="0"/>
                                  </p:stCondLst>
                                  <p:childTnLst>
                                    <p:set>
                                      <p:cBhvr>
                                        <p:cTn id="24" dur="1" fill="hold">
                                          <p:stCondLst>
                                            <p:cond delay="0"/>
                                          </p:stCondLst>
                                        </p:cTn>
                                        <p:tgtEl>
                                          <p:spTgt spid="44035">
                                            <p:txEl>
                                              <p:pRg st="7" end="7"/>
                                            </p:txEl>
                                          </p:spTgt>
                                        </p:tgtEl>
                                        <p:attrNameLst>
                                          <p:attrName>style.visibility</p:attrName>
                                        </p:attrNameLst>
                                      </p:cBhvr>
                                      <p:to>
                                        <p:strVal val="visible"/>
                                      </p:to>
                                    </p:set>
                                  </p:childTnLst>
                                  <p:subTnLst>
                                    <p:animClr clrSpc="rgb" dir="cw">
                                      <p:cBhvr override="childStyle">
                                        <p:cTn dur="1" fill="hold" display="0" masterRel="nextClick" afterEffect="1"/>
                                        <p:tgtEl>
                                          <p:spTgt spid="44035">
                                            <p:txEl>
                                              <p:pRg st="7" end="7"/>
                                            </p:txEl>
                                          </p:spTgt>
                                        </p:tgtEl>
                                        <p:attrNameLst>
                                          <p:attrName>ppt_c</p:attrName>
                                        </p:attrNameLst>
                                      </p:cBhvr>
                                      <p:to>
                                        <a:schemeClr val="bg2"/>
                                      </p:to>
                                    </p:animClr>
                                  </p:sub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4035">
                                            <p:txEl>
                                              <p:pRg st="8" end="8"/>
                                            </p:txEl>
                                          </p:spTgt>
                                        </p:tgtEl>
                                        <p:attrNameLst>
                                          <p:attrName>style.visibility</p:attrName>
                                        </p:attrNameLst>
                                      </p:cBhvr>
                                      <p:to>
                                        <p:strVal val="visible"/>
                                      </p:to>
                                    </p:set>
                                  </p:childTnLst>
                                  <p:subTnLst>
                                    <p:animClr clrSpc="rgb" dir="cw">
                                      <p:cBhvr override="childStyle">
                                        <p:cTn dur="1" fill="hold" display="0" masterRel="nextClick" afterEffect="1"/>
                                        <p:tgtEl>
                                          <p:spTgt spid="44035">
                                            <p:txEl>
                                              <p:pRg st="8" end="8"/>
                                            </p:txEl>
                                          </p:spTgt>
                                        </p:tgtEl>
                                        <p:attrNameLst>
                                          <p:attrName>ppt_c</p:attrName>
                                        </p:attrNameLst>
                                      </p:cBhvr>
                                      <p:to>
                                        <a:schemeClr val="bg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5" grpId="0" build="p"/>
    </p:bld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GB" altLang="en-US"/>
              <a:t>Department of Computer Science   and Information Systems</a:t>
            </a:r>
            <a:endParaRPr lang="en-US" altLang="en-US"/>
          </a:p>
        </p:txBody>
      </p:sp>
      <p:sp>
        <p:nvSpPr>
          <p:cNvPr id="13315" name="Rectangle 2"/>
          <p:cNvSpPr>
            <a:spLocks noGrp="1" noChangeArrowheads="1"/>
          </p:cNvSpPr>
          <p:nvPr>
            <p:ph type="title"/>
          </p:nvPr>
        </p:nvSpPr>
        <p:spPr/>
        <p:txBody>
          <a:bodyPr/>
          <a:lstStyle/>
          <a:p>
            <a:pPr eaLnBrk="1" hangingPunct="1"/>
            <a:r>
              <a:rPr lang="en-GB" smtClean="0"/>
              <a:t>Choose a Project from the CSIS suggestions</a:t>
            </a:r>
            <a:endParaRPr lang="en-US" smtClean="0"/>
          </a:p>
        </p:txBody>
      </p:sp>
      <p:sp>
        <p:nvSpPr>
          <p:cNvPr id="45059" name="Rectangle 3"/>
          <p:cNvSpPr>
            <a:spLocks noGrp="1" noChangeArrowheads="1"/>
          </p:cNvSpPr>
          <p:nvPr>
            <p:ph type="body" idx="1"/>
          </p:nvPr>
        </p:nvSpPr>
        <p:spPr>
          <a:xfrm>
            <a:off x="179512" y="980728"/>
            <a:ext cx="8785225" cy="5256584"/>
          </a:xfrm>
        </p:spPr>
        <p:txBody>
          <a:bodyPr/>
          <a:lstStyle/>
          <a:p>
            <a:pPr eaLnBrk="1" hangingPunct="1">
              <a:spcBef>
                <a:spcPts val="600"/>
              </a:spcBef>
            </a:pPr>
            <a:r>
              <a:rPr lang="en-GB" sz="2200" dirty="0" smtClean="0"/>
              <a:t>If you like the look of a project, approach the supervisor </a:t>
            </a:r>
            <a:r>
              <a:rPr lang="en-GB" sz="2200" dirty="0" smtClean="0"/>
              <a:t>ASAP.</a:t>
            </a:r>
            <a:endParaRPr lang="en-GB" sz="2200" dirty="0" smtClean="0"/>
          </a:p>
          <a:p>
            <a:pPr eaLnBrk="1" hangingPunct="1">
              <a:spcBef>
                <a:spcPts val="600"/>
              </a:spcBef>
            </a:pPr>
            <a:r>
              <a:rPr lang="en-GB" sz="2200" dirty="0" smtClean="0"/>
              <a:t>If you </a:t>
            </a:r>
            <a:r>
              <a:rPr lang="en-GB" sz="2200" dirty="0" smtClean="0"/>
              <a:t>both want </a:t>
            </a:r>
            <a:r>
              <a:rPr lang="en-GB" sz="2200" dirty="0" smtClean="0"/>
              <a:t>to </a:t>
            </a:r>
            <a:r>
              <a:rPr lang="en-GB" sz="2200" dirty="0" smtClean="0"/>
              <a:t>go for it, </a:t>
            </a:r>
            <a:r>
              <a:rPr lang="en-GB" sz="2200" dirty="0" smtClean="0"/>
              <a:t>‘book’ the project with the supervisor.</a:t>
            </a:r>
          </a:p>
          <a:p>
            <a:pPr eaLnBrk="1" hangingPunct="1">
              <a:spcBef>
                <a:spcPts val="600"/>
              </a:spcBef>
            </a:pPr>
            <a:r>
              <a:rPr lang="en-GB" sz="2200" dirty="0" smtClean="0"/>
              <a:t>Then: </a:t>
            </a:r>
            <a:endParaRPr lang="en-GB" sz="1800" dirty="0"/>
          </a:p>
          <a:p>
            <a:pPr lvl="1" eaLnBrk="1" hangingPunct="1">
              <a:spcBef>
                <a:spcPts val="600"/>
              </a:spcBef>
            </a:pPr>
            <a:r>
              <a:rPr lang="en-GB" sz="1800" b="1" i="1" dirty="0">
                <a:solidFill>
                  <a:srgbClr val="FF0000"/>
                </a:solidFill>
              </a:rPr>
              <a:t>Fill in the Final Year Project Proposal form, get the supervisor to sign it, </a:t>
            </a:r>
          </a:p>
          <a:p>
            <a:pPr lvl="1" eaLnBrk="1" hangingPunct="1">
              <a:spcBef>
                <a:spcPts val="600"/>
              </a:spcBef>
            </a:pPr>
            <a:r>
              <a:rPr lang="en-GB" sz="1800" b="1" i="1" dirty="0" smtClean="0">
                <a:solidFill>
                  <a:srgbClr val="FF0000"/>
                </a:solidFill>
              </a:rPr>
              <a:t>Fill </a:t>
            </a:r>
            <a:r>
              <a:rPr lang="en-GB" sz="1800" b="1" i="1" dirty="0">
                <a:solidFill>
                  <a:srgbClr val="FF0000"/>
                </a:solidFill>
              </a:rPr>
              <a:t>in the web-form and submit </a:t>
            </a:r>
            <a:r>
              <a:rPr lang="en-GB" sz="1800" b="1" i="1" dirty="0">
                <a:solidFill>
                  <a:srgbClr val="FF0000"/>
                </a:solidFill>
              </a:rPr>
              <a:t>it: </a:t>
            </a:r>
            <a:r>
              <a:rPr lang="en-GB" sz="1800" b="1" i="1" dirty="0">
                <a:solidFill>
                  <a:srgbClr val="FF0000"/>
                </a:solidFill>
                <a:hlinkClick r:id="rId2"/>
              </a:rPr>
              <a:t>https://</a:t>
            </a:r>
            <a:r>
              <a:rPr lang="en-GB" sz="1800" b="1" i="1" dirty="0" smtClean="0">
                <a:solidFill>
                  <a:srgbClr val="FF0000"/>
                </a:solidFill>
                <a:hlinkClick r:id="rId2"/>
              </a:rPr>
              <a:t>sharepoint.ul.ie/SiteDirectory/DepartmentofCSIS/Lists/Student_FYP_1920/NewForm.aspx</a:t>
            </a:r>
            <a:r>
              <a:rPr lang="en-GB" sz="1800" b="1" i="1" dirty="0" smtClean="0">
                <a:solidFill>
                  <a:srgbClr val="FF0000"/>
                </a:solidFill>
              </a:rPr>
              <a:t> </a:t>
            </a:r>
            <a:endParaRPr lang="en-GB" sz="1800" b="1" i="1" dirty="0">
              <a:solidFill>
                <a:srgbClr val="FF0000"/>
              </a:solidFill>
            </a:endParaRPr>
          </a:p>
          <a:p>
            <a:pPr lvl="1" eaLnBrk="1" hangingPunct="1">
              <a:spcBef>
                <a:spcPts val="600"/>
              </a:spcBef>
            </a:pPr>
            <a:r>
              <a:rPr lang="en-GB" sz="1800" b="1" i="1" dirty="0" smtClean="0">
                <a:solidFill>
                  <a:srgbClr val="FF0000"/>
                </a:solidFill>
              </a:rPr>
              <a:t>Hand </a:t>
            </a:r>
            <a:r>
              <a:rPr lang="en-GB" sz="1800" b="1" i="1" dirty="0">
                <a:solidFill>
                  <a:srgbClr val="FF0000"/>
                </a:solidFill>
              </a:rPr>
              <a:t>the proposal form in to the FYP Administrator in Departmental Office. </a:t>
            </a:r>
          </a:p>
          <a:p>
            <a:pPr eaLnBrk="1" hangingPunct="1">
              <a:spcBef>
                <a:spcPts val="600"/>
              </a:spcBef>
            </a:pPr>
            <a:r>
              <a:rPr lang="en-GB" sz="2200" dirty="0" smtClean="0"/>
              <a:t>Warnings:</a:t>
            </a:r>
          </a:p>
          <a:p>
            <a:pPr lvl="1" eaLnBrk="1" hangingPunct="1">
              <a:spcBef>
                <a:spcPts val="600"/>
              </a:spcBef>
            </a:pPr>
            <a:r>
              <a:rPr lang="en-US" sz="1800" dirty="0" smtClean="0"/>
              <a:t>Although </a:t>
            </a:r>
            <a:r>
              <a:rPr lang="en-US" sz="1800" dirty="0" smtClean="0"/>
              <a:t>the projects for all our degrees appear in the same list of suggestions not all projects are suitable for all students.  Make sure you have the background to undertake the </a:t>
            </a:r>
            <a:r>
              <a:rPr lang="en-US" sz="1800" dirty="0" smtClean="0"/>
              <a:t>task.</a:t>
            </a:r>
          </a:p>
          <a:p>
            <a:pPr lvl="1" eaLnBrk="1" hangingPunct="1">
              <a:spcBef>
                <a:spcPts val="600"/>
              </a:spcBef>
            </a:pPr>
            <a:r>
              <a:rPr lang="en-US" sz="1800" dirty="0"/>
              <a:t>Due to the constraints of Showcase Day no videos or compositions should exceed 10 minutes without special permission. Also, large scale installations can cause us problems</a:t>
            </a:r>
          </a:p>
          <a:p>
            <a:pPr eaLnBrk="1" hangingPunct="1">
              <a:spcBef>
                <a:spcPts val="600"/>
              </a:spcBef>
            </a:pPr>
            <a:endParaRPr lang="en-GB" sz="2200"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5059">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45059">
                                            <p:txEl>
                                              <p:pRg st="0" end="0"/>
                                            </p:txEl>
                                          </p:spTgt>
                                        </p:tgtEl>
                                        <p:attrNameLst>
                                          <p:attrName>ppt_c</p:attrName>
                                        </p:attrNameLst>
                                      </p:cBhvr>
                                      <p:to>
                                        <a:schemeClr val="bg2"/>
                                      </p:to>
                                    </p:animClr>
                                  </p:sub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5059">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45059">
                                            <p:txEl>
                                              <p:pRg st="1" end="1"/>
                                            </p:txEl>
                                          </p:spTgt>
                                        </p:tgtEl>
                                        <p:attrNameLst>
                                          <p:attrName>ppt_c</p:attrName>
                                        </p:attrNameLst>
                                      </p:cBhvr>
                                      <p:to>
                                        <a:schemeClr val="bg2"/>
                                      </p:to>
                                    </p:animClr>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5059">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45059">
                                            <p:txEl>
                                              <p:pRg st="2" end="2"/>
                                            </p:txEl>
                                          </p:spTgt>
                                        </p:tgtEl>
                                        <p:attrNameLst>
                                          <p:attrName>ppt_c</p:attrName>
                                        </p:attrNameLst>
                                      </p:cBhvr>
                                      <p:to>
                                        <a:schemeClr val="bg2"/>
                                      </p:to>
                                    </p:animClr>
                                  </p:subTnLst>
                                </p:cTn>
                              </p:par>
                              <p:par>
                                <p:cTn id="15" presetID="1" presetClass="entr" presetSubtype="0" fill="hold" grpId="0" nodeType="withEffect">
                                  <p:stCondLst>
                                    <p:cond delay="0"/>
                                  </p:stCondLst>
                                  <p:childTnLst>
                                    <p:set>
                                      <p:cBhvr>
                                        <p:cTn id="16" dur="1" fill="hold">
                                          <p:stCondLst>
                                            <p:cond delay="0"/>
                                          </p:stCondLst>
                                        </p:cTn>
                                        <p:tgtEl>
                                          <p:spTgt spid="45059">
                                            <p:txEl>
                                              <p:pRg st="3" end="3"/>
                                            </p:txEl>
                                          </p:spTgt>
                                        </p:tgtEl>
                                        <p:attrNameLst>
                                          <p:attrName>style.visibility</p:attrName>
                                        </p:attrNameLst>
                                      </p:cBhvr>
                                      <p:to>
                                        <p:strVal val="visible"/>
                                      </p:to>
                                    </p:set>
                                  </p:childTnLst>
                                  <p:subTnLst>
                                    <p:animClr clrSpc="rgb" dir="cw">
                                      <p:cBhvr override="childStyle">
                                        <p:cTn dur="1" fill="hold" display="0" masterRel="nextClick" afterEffect="1"/>
                                        <p:tgtEl>
                                          <p:spTgt spid="45059">
                                            <p:txEl>
                                              <p:pRg st="3" end="3"/>
                                            </p:txEl>
                                          </p:spTgt>
                                        </p:tgtEl>
                                        <p:attrNameLst>
                                          <p:attrName>ppt_c</p:attrName>
                                        </p:attrNameLst>
                                      </p:cBhvr>
                                      <p:to>
                                        <a:schemeClr val="bg2"/>
                                      </p:to>
                                    </p:animClr>
                                  </p:subTnLst>
                                </p:cTn>
                              </p:par>
                              <p:par>
                                <p:cTn id="17" presetID="1" presetClass="entr" presetSubtype="0" fill="hold" grpId="0" nodeType="withEffect">
                                  <p:stCondLst>
                                    <p:cond delay="0"/>
                                  </p:stCondLst>
                                  <p:childTnLst>
                                    <p:set>
                                      <p:cBhvr>
                                        <p:cTn id="18" dur="1" fill="hold">
                                          <p:stCondLst>
                                            <p:cond delay="0"/>
                                          </p:stCondLst>
                                        </p:cTn>
                                        <p:tgtEl>
                                          <p:spTgt spid="45059">
                                            <p:txEl>
                                              <p:pRg st="4" end="4"/>
                                            </p:txEl>
                                          </p:spTgt>
                                        </p:tgtEl>
                                        <p:attrNameLst>
                                          <p:attrName>style.visibility</p:attrName>
                                        </p:attrNameLst>
                                      </p:cBhvr>
                                      <p:to>
                                        <p:strVal val="visible"/>
                                      </p:to>
                                    </p:set>
                                  </p:childTnLst>
                                  <p:subTnLst>
                                    <p:animClr clrSpc="rgb" dir="cw">
                                      <p:cBhvr override="childStyle">
                                        <p:cTn dur="1" fill="hold" display="0" masterRel="nextClick" afterEffect="1"/>
                                        <p:tgtEl>
                                          <p:spTgt spid="45059">
                                            <p:txEl>
                                              <p:pRg st="4" end="4"/>
                                            </p:txEl>
                                          </p:spTgt>
                                        </p:tgtEl>
                                        <p:attrNameLst>
                                          <p:attrName>ppt_c</p:attrName>
                                        </p:attrNameLst>
                                      </p:cBhvr>
                                      <p:to>
                                        <a:schemeClr val="bg2"/>
                                      </p:to>
                                    </p:animClr>
                                  </p:subTnLst>
                                </p:cTn>
                              </p:par>
                              <p:par>
                                <p:cTn id="19" presetID="1" presetClass="entr" presetSubtype="0" fill="hold" grpId="0" nodeType="withEffect">
                                  <p:stCondLst>
                                    <p:cond delay="0"/>
                                  </p:stCondLst>
                                  <p:childTnLst>
                                    <p:set>
                                      <p:cBhvr>
                                        <p:cTn id="20" dur="1" fill="hold">
                                          <p:stCondLst>
                                            <p:cond delay="0"/>
                                          </p:stCondLst>
                                        </p:cTn>
                                        <p:tgtEl>
                                          <p:spTgt spid="45059">
                                            <p:txEl>
                                              <p:pRg st="5" end="5"/>
                                            </p:txEl>
                                          </p:spTgt>
                                        </p:tgtEl>
                                        <p:attrNameLst>
                                          <p:attrName>style.visibility</p:attrName>
                                        </p:attrNameLst>
                                      </p:cBhvr>
                                      <p:to>
                                        <p:strVal val="visible"/>
                                      </p:to>
                                    </p:set>
                                  </p:childTnLst>
                                  <p:subTnLst>
                                    <p:animClr clrSpc="rgb" dir="cw">
                                      <p:cBhvr override="childStyle">
                                        <p:cTn dur="1" fill="hold" display="0" masterRel="nextClick" afterEffect="1"/>
                                        <p:tgtEl>
                                          <p:spTgt spid="45059">
                                            <p:txEl>
                                              <p:pRg st="5" end="5"/>
                                            </p:txEl>
                                          </p:spTgt>
                                        </p:tgtEl>
                                        <p:attrNameLst>
                                          <p:attrName>ppt_c</p:attrName>
                                        </p:attrNameLst>
                                      </p:cBhvr>
                                      <p:to>
                                        <a:schemeClr val="bg2"/>
                                      </p:to>
                                    </p:animClr>
                                  </p:sub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5059">
                                            <p:txEl>
                                              <p:pRg st="6" end="6"/>
                                            </p:txEl>
                                          </p:spTgt>
                                        </p:tgtEl>
                                        <p:attrNameLst>
                                          <p:attrName>style.visibility</p:attrName>
                                        </p:attrNameLst>
                                      </p:cBhvr>
                                      <p:to>
                                        <p:strVal val="visible"/>
                                      </p:to>
                                    </p:set>
                                  </p:childTnLst>
                                  <p:subTnLst>
                                    <p:animClr clrSpc="rgb" dir="cw">
                                      <p:cBhvr override="childStyle">
                                        <p:cTn dur="1" fill="hold" display="0" masterRel="nextClick" afterEffect="1"/>
                                        <p:tgtEl>
                                          <p:spTgt spid="45059">
                                            <p:txEl>
                                              <p:pRg st="6" end="6"/>
                                            </p:txEl>
                                          </p:spTgt>
                                        </p:tgtEl>
                                        <p:attrNameLst>
                                          <p:attrName>ppt_c</p:attrName>
                                        </p:attrNameLst>
                                      </p:cBhvr>
                                      <p:to>
                                        <a:schemeClr val="bg2"/>
                                      </p:to>
                                    </p:animClr>
                                  </p:subTnLst>
                                </p:cTn>
                              </p:par>
                              <p:par>
                                <p:cTn id="25" presetID="1" presetClass="entr" presetSubtype="0" fill="hold" grpId="0" nodeType="withEffect">
                                  <p:stCondLst>
                                    <p:cond delay="0"/>
                                  </p:stCondLst>
                                  <p:childTnLst>
                                    <p:set>
                                      <p:cBhvr>
                                        <p:cTn id="26" dur="1" fill="hold">
                                          <p:stCondLst>
                                            <p:cond delay="0"/>
                                          </p:stCondLst>
                                        </p:cTn>
                                        <p:tgtEl>
                                          <p:spTgt spid="45059">
                                            <p:txEl>
                                              <p:pRg st="7" end="7"/>
                                            </p:txEl>
                                          </p:spTgt>
                                        </p:tgtEl>
                                        <p:attrNameLst>
                                          <p:attrName>style.visibility</p:attrName>
                                        </p:attrNameLst>
                                      </p:cBhvr>
                                      <p:to>
                                        <p:strVal val="visible"/>
                                      </p:to>
                                    </p:set>
                                  </p:childTnLst>
                                  <p:subTnLst>
                                    <p:animClr clrSpc="rgb" dir="cw">
                                      <p:cBhvr override="childStyle">
                                        <p:cTn dur="1" fill="hold" display="0" masterRel="nextClick" afterEffect="1"/>
                                        <p:tgtEl>
                                          <p:spTgt spid="45059">
                                            <p:txEl>
                                              <p:pRg st="7" end="7"/>
                                            </p:txEl>
                                          </p:spTgt>
                                        </p:tgtEl>
                                        <p:attrNameLst>
                                          <p:attrName>ppt_c</p:attrName>
                                        </p:attrNameLst>
                                      </p:cBhvr>
                                      <p:to>
                                        <a:schemeClr val="bg2"/>
                                      </p:to>
                                    </p:animClr>
                                  </p:subTnLst>
                                </p:cTn>
                              </p:par>
                              <p:par>
                                <p:cTn id="27" presetID="1" presetClass="entr" presetSubtype="0" fill="hold" grpId="0" nodeType="withEffect">
                                  <p:stCondLst>
                                    <p:cond delay="0"/>
                                  </p:stCondLst>
                                  <p:childTnLst>
                                    <p:set>
                                      <p:cBhvr>
                                        <p:cTn id="28" dur="1" fill="hold">
                                          <p:stCondLst>
                                            <p:cond delay="0"/>
                                          </p:stCondLst>
                                        </p:cTn>
                                        <p:tgtEl>
                                          <p:spTgt spid="45059">
                                            <p:txEl>
                                              <p:pRg st="8" end="8"/>
                                            </p:txEl>
                                          </p:spTgt>
                                        </p:tgtEl>
                                        <p:attrNameLst>
                                          <p:attrName>style.visibility</p:attrName>
                                        </p:attrNameLst>
                                      </p:cBhvr>
                                      <p:to>
                                        <p:strVal val="visible"/>
                                      </p:to>
                                    </p:set>
                                  </p:childTnLst>
                                  <p:subTnLst>
                                    <p:animClr clrSpc="rgb" dir="cw">
                                      <p:cBhvr override="childStyle">
                                        <p:cTn dur="1" fill="hold" display="0" masterRel="nextClick" afterEffect="1"/>
                                        <p:tgtEl>
                                          <p:spTgt spid="45059">
                                            <p:txEl>
                                              <p:pRg st="8" end="8"/>
                                            </p:txEl>
                                          </p:spTgt>
                                        </p:tgtEl>
                                        <p:attrNameLst>
                                          <p:attrName>ppt_c</p:attrName>
                                        </p:attrNameLst>
                                      </p:cBhvr>
                                      <p:to>
                                        <a:schemeClr val="bg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59" grpId="0" build="p"/>
    </p:bld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GB" altLang="en-US"/>
              <a:t>Department of Computer Science   and Information Systems</a:t>
            </a:r>
            <a:endParaRPr lang="en-US" altLang="en-US"/>
          </a:p>
        </p:txBody>
      </p:sp>
      <p:sp>
        <p:nvSpPr>
          <p:cNvPr id="14339" name="Rectangle 2"/>
          <p:cNvSpPr>
            <a:spLocks noGrp="1" noChangeArrowheads="1"/>
          </p:cNvSpPr>
          <p:nvPr>
            <p:ph type="title"/>
          </p:nvPr>
        </p:nvSpPr>
        <p:spPr/>
        <p:txBody>
          <a:bodyPr/>
          <a:lstStyle/>
          <a:p>
            <a:pPr eaLnBrk="1" hangingPunct="1"/>
            <a:r>
              <a:rPr lang="en-GB" smtClean="0"/>
              <a:t>Decide on your own Project 1</a:t>
            </a:r>
            <a:r>
              <a:rPr lang="en-US" smtClean="0"/>
              <a:t> </a:t>
            </a:r>
          </a:p>
        </p:txBody>
      </p:sp>
      <p:sp>
        <p:nvSpPr>
          <p:cNvPr id="46083" name="Rectangle 3"/>
          <p:cNvSpPr>
            <a:spLocks noGrp="1" noChangeArrowheads="1"/>
          </p:cNvSpPr>
          <p:nvPr>
            <p:ph type="body" idx="1"/>
          </p:nvPr>
        </p:nvSpPr>
        <p:spPr>
          <a:xfrm>
            <a:off x="467544" y="1196752"/>
            <a:ext cx="8362950" cy="4536504"/>
          </a:xfrm>
        </p:spPr>
        <p:txBody>
          <a:bodyPr/>
          <a:lstStyle/>
          <a:p>
            <a:pPr eaLnBrk="1" hangingPunct="1">
              <a:spcBef>
                <a:spcPts val="1800"/>
              </a:spcBef>
            </a:pPr>
            <a:r>
              <a:rPr lang="en-GB" dirty="0" smtClean="0"/>
              <a:t>If you want to do this and have not already secured the agreement of a supervisor to supervise your project you are now very late because this always takes more organising than selecting a project from the provided list.</a:t>
            </a:r>
          </a:p>
          <a:p>
            <a:pPr eaLnBrk="1" hangingPunct="1">
              <a:spcBef>
                <a:spcPts val="1800"/>
              </a:spcBef>
            </a:pPr>
            <a:r>
              <a:rPr lang="en-GB" dirty="0" smtClean="0"/>
              <a:t>Some supervisors will refuse, based on the assumption that it will take more time than the 12 days left</a:t>
            </a:r>
          </a:p>
          <a:p>
            <a:pPr eaLnBrk="1" hangingPunct="1">
              <a:spcBef>
                <a:spcPts val="1800"/>
              </a:spcBef>
            </a:pPr>
            <a:r>
              <a:rPr lang="en-GB" dirty="0" smtClean="0"/>
              <a:t>The student must find a supervisor who will review the proposal, probably suggest refinements (to ensure it is suitable for an FYP) and, after the student has adopted those refinements, may agree to supervise that project. (</a:t>
            </a:r>
            <a:r>
              <a:rPr lang="en-GB" dirty="0" err="1" smtClean="0"/>
              <a:t>ie</a:t>
            </a:r>
            <a:r>
              <a:rPr lang="en-GB" dirty="0" smtClean="0"/>
              <a:t>: it will take time to finalize, so get started)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6083">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46083">
                                            <p:txEl>
                                              <p:pRg st="0" end="0"/>
                                            </p:txEl>
                                          </p:spTgt>
                                        </p:tgtEl>
                                        <p:attrNameLst>
                                          <p:attrName>ppt_c</p:attrName>
                                        </p:attrNameLst>
                                      </p:cBhvr>
                                      <p:to>
                                        <a:schemeClr val="bg2"/>
                                      </p:to>
                                    </p:animClr>
                                  </p:sub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6083">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46083">
                                            <p:txEl>
                                              <p:pRg st="1" end="1"/>
                                            </p:txEl>
                                          </p:spTgt>
                                        </p:tgtEl>
                                        <p:attrNameLst>
                                          <p:attrName>ppt_c</p:attrName>
                                        </p:attrNameLst>
                                      </p:cBhvr>
                                      <p:to>
                                        <a:schemeClr val="bg2"/>
                                      </p:to>
                                    </p:animClr>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6083">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46083">
                                            <p:txEl>
                                              <p:pRg st="2" end="2"/>
                                            </p:txEl>
                                          </p:spTgt>
                                        </p:tgtEl>
                                        <p:attrNameLst>
                                          <p:attrName>ppt_c</p:attrName>
                                        </p:attrNameLst>
                                      </p:cBhvr>
                                      <p:to>
                                        <a:schemeClr val="bg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3" grpId="0" build="p"/>
    </p:bld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GB" altLang="en-US"/>
              <a:t>Department of Computer Science   and Information Systems</a:t>
            </a:r>
            <a:endParaRPr lang="en-US" altLang="en-US"/>
          </a:p>
        </p:txBody>
      </p:sp>
      <p:sp>
        <p:nvSpPr>
          <p:cNvPr id="15363" name="Rectangle 2"/>
          <p:cNvSpPr>
            <a:spLocks noGrp="1" noChangeArrowheads="1"/>
          </p:cNvSpPr>
          <p:nvPr>
            <p:ph type="title"/>
          </p:nvPr>
        </p:nvSpPr>
        <p:spPr/>
        <p:txBody>
          <a:bodyPr/>
          <a:lstStyle/>
          <a:p>
            <a:pPr eaLnBrk="1" hangingPunct="1"/>
            <a:r>
              <a:rPr lang="en-GB" smtClean="0"/>
              <a:t>Decide on your own Project</a:t>
            </a:r>
            <a:r>
              <a:rPr lang="en-US" smtClean="0"/>
              <a:t> 2</a:t>
            </a:r>
          </a:p>
        </p:txBody>
      </p:sp>
      <p:sp>
        <p:nvSpPr>
          <p:cNvPr id="46083" name="Rectangle 3"/>
          <p:cNvSpPr>
            <a:spLocks noGrp="1" noChangeArrowheads="1"/>
          </p:cNvSpPr>
          <p:nvPr>
            <p:ph type="body" idx="1"/>
          </p:nvPr>
        </p:nvSpPr>
        <p:spPr>
          <a:xfrm>
            <a:off x="395536" y="692696"/>
            <a:ext cx="8362950" cy="5832648"/>
          </a:xfrm>
        </p:spPr>
        <p:txBody>
          <a:bodyPr/>
          <a:lstStyle/>
          <a:p>
            <a:pPr eaLnBrk="1" hangingPunct="1">
              <a:spcBef>
                <a:spcPts val="1200"/>
              </a:spcBef>
            </a:pPr>
            <a:r>
              <a:rPr lang="en-GB" dirty="0" smtClean="0"/>
              <a:t>Therefore, you should try to make a list of who might supervise the project and go to everyone on the list asking them to supervise it.</a:t>
            </a:r>
          </a:p>
          <a:p>
            <a:pPr eaLnBrk="1" hangingPunct="1">
              <a:spcBef>
                <a:spcPts val="1200"/>
              </a:spcBef>
            </a:pPr>
            <a:r>
              <a:rPr lang="en-GB" dirty="0" smtClean="0"/>
              <a:t>How do you know who might supervise the project? </a:t>
            </a:r>
          </a:p>
          <a:p>
            <a:pPr lvl="1" eaLnBrk="1" hangingPunct="1">
              <a:spcBef>
                <a:spcPts val="1200"/>
              </a:spcBef>
            </a:pPr>
            <a:r>
              <a:rPr lang="en-GB" dirty="0" smtClean="0"/>
              <a:t>One way is to examine the suggestions supervisors have made is the past, to see if any have made suggestions in subject areas of interest to you. </a:t>
            </a:r>
          </a:p>
          <a:p>
            <a:pPr lvl="1" eaLnBrk="1" hangingPunct="1">
              <a:spcBef>
                <a:spcPts val="1200"/>
              </a:spcBef>
            </a:pPr>
            <a:r>
              <a:rPr lang="en-GB" dirty="0" smtClean="0"/>
              <a:t>Another is to look at their research papers</a:t>
            </a:r>
          </a:p>
          <a:p>
            <a:pPr eaLnBrk="1" hangingPunct="1">
              <a:spcBef>
                <a:spcPts val="1200"/>
              </a:spcBef>
            </a:pPr>
            <a:r>
              <a:rPr lang="en-GB" dirty="0" smtClean="0"/>
              <a:t>Once you have secured the agreement of the supervisor for your </a:t>
            </a:r>
            <a:r>
              <a:rPr lang="en-GB" i="1" dirty="0" smtClean="0"/>
              <a:t>Own Project </a:t>
            </a:r>
            <a:r>
              <a:rPr lang="en-GB" dirty="0" smtClean="0"/>
              <a:t>you should:</a:t>
            </a:r>
          </a:p>
          <a:p>
            <a:pPr lvl="1" eaLnBrk="1" hangingPunct="1">
              <a:spcBef>
                <a:spcPts val="600"/>
              </a:spcBef>
            </a:pPr>
            <a:r>
              <a:rPr lang="en-GB" sz="1800" b="1" i="1" dirty="0">
                <a:solidFill>
                  <a:srgbClr val="FF0000"/>
                </a:solidFill>
              </a:rPr>
              <a:t>Fill in the Final Year Project Proposal form, get the supervisor to sign it, </a:t>
            </a:r>
          </a:p>
          <a:p>
            <a:pPr lvl="1" eaLnBrk="1" hangingPunct="1">
              <a:spcBef>
                <a:spcPts val="600"/>
              </a:spcBef>
            </a:pPr>
            <a:r>
              <a:rPr lang="en-GB" sz="1800" b="1" i="1" dirty="0">
                <a:solidFill>
                  <a:srgbClr val="FF0000"/>
                </a:solidFill>
              </a:rPr>
              <a:t>Fill in the web-form and submit it;</a:t>
            </a:r>
          </a:p>
          <a:p>
            <a:pPr lvl="1" eaLnBrk="1" hangingPunct="1">
              <a:spcBef>
                <a:spcPts val="600"/>
              </a:spcBef>
            </a:pPr>
            <a:r>
              <a:rPr lang="en-GB" sz="1800" b="1" i="1" dirty="0">
                <a:solidFill>
                  <a:srgbClr val="FF0000"/>
                </a:solidFill>
              </a:rPr>
              <a:t>Hand the proposal form in to the FYP Administrator in Departmental Office. </a:t>
            </a:r>
            <a:endParaRPr lang="en-GB" sz="1800" b="1" i="1"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6083">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46083">
                                            <p:txEl>
                                              <p:pRg st="0" end="0"/>
                                            </p:txEl>
                                          </p:spTgt>
                                        </p:tgtEl>
                                        <p:attrNameLst>
                                          <p:attrName>ppt_c</p:attrName>
                                        </p:attrNameLst>
                                      </p:cBhvr>
                                      <p:to>
                                        <a:schemeClr val="bg2"/>
                                      </p:to>
                                    </p:animClr>
                                  </p:sub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6083">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46083">
                                            <p:txEl>
                                              <p:pRg st="1" end="1"/>
                                            </p:txEl>
                                          </p:spTgt>
                                        </p:tgtEl>
                                        <p:attrNameLst>
                                          <p:attrName>ppt_c</p:attrName>
                                        </p:attrNameLst>
                                      </p:cBhvr>
                                      <p:to>
                                        <a:schemeClr val="bg2"/>
                                      </p:to>
                                    </p:animClr>
                                  </p:subTnLst>
                                </p:cTn>
                              </p:par>
                              <p:par>
                                <p:cTn id="11" presetID="1" presetClass="entr" presetSubtype="0" fill="hold" grpId="0" nodeType="withEffect">
                                  <p:stCondLst>
                                    <p:cond delay="0"/>
                                  </p:stCondLst>
                                  <p:childTnLst>
                                    <p:set>
                                      <p:cBhvr>
                                        <p:cTn id="12" dur="1" fill="hold">
                                          <p:stCondLst>
                                            <p:cond delay="0"/>
                                          </p:stCondLst>
                                        </p:cTn>
                                        <p:tgtEl>
                                          <p:spTgt spid="46083">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46083">
                                            <p:txEl>
                                              <p:pRg st="2" end="2"/>
                                            </p:txEl>
                                          </p:spTgt>
                                        </p:tgtEl>
                                        <p:attrNameLst>
                                          <p:attrName>ppt_c</p:attrName>
                                        </p:attrNameLst>
                                      </p:cBhvr>
                                      <p:to>
                                        <a:schemeClr val="bg2"/>
                                      </p:to>
                                    </p:animClr>
                                  </p:subTnLst>
                                </p:cTn>
                              </p:par>
                              <p:par>
                                <p:cTn id="13" presetID="1" presetClass="entr" presetSubtype="0" fill="hold" grpId="0" nodeType="withEffect">
                                  <p:stCondLst>
                                    <p:cond delay="0"/>
                                  </p:stCondLst>
                                  <p:childTnLst>
                                    <p:set>
                                      <p:cBhvr>
                                        <p:cTn id="14" dur="1" fill="hold">
                                          <p:stCondLst>
                                            <p:cond delay="0"/>
                                          </p:stCondLst>
                                        </p:cTn>
                                        <p:tgtEl>
                                          <p:spTgt spid="46083">
                                            <p:txEl>
                                              <p:pRg st="3" end="3"/>
                                            </p:txEl>
                                          </p:spTgt>
                                        </p:tgtEl>
                                        <p:attrNameLst>
                                          <p:attrName>style.visibility</p:attrName>
                                        </p:attrNameLst>
                                      </p:cBhvr>
                                      <p:to>
                                        <p:strVal val="visible"/>
                                      </p:to>
                                    </p:set>
                                  </p:childTnLst>
                                  <p:subTnLst>
                                    <p:animClr clrSpc="rgb" dir="cw">
                                      <p:cBhvr override="childStyle">
                                        <p:cTn dur="1" fill="hold" display="0" masterRel="nextClick" afterEffect="1"/>
                                        <p:tgtEl>
                                          <p:spTgt spid="46083">
                                            <p:txEl>
                                              <p:pRg st="3" end="3"/>
                                            </p:txEl>
                                          </p:spTgt>
                                        </p:tgtEl>
                                        <p:attrNameLst>
                                          <p:attrName>ppt_c</p:attrName>
                                        </p:attrNameLst>
                                      </p:cBhvr>
                                      <p:to>
                                        <a:schemeClr val="bg2"/>
                                      </p:to>
                                    </p:animClr>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6083">
                                            <p:txEl>
                                              <p:pRg st="4" end="4"/>
                                            </p:txEl>
                                          </p:spTgt>
                                        </p:tgtEl>
                                        <p:attrNameLst>
                                          <p:attrName>style.visibility</p:attrName>
                                        </p:attrNameLst>
                                      </p:cBhvr>
                                      <p:to>
                                        <p:strVal val="visible"/>
                                      </p:to>
                                    </p:set>
                                  </p:childTnLst>
                                  <p:subTnLst>
                                    <p:animClr clrSpc="rgb" dir="cw">
                                      <p:cBhvr override="childStyle">
                                        <p:cTn dur="1" fill="hold" display="0" masterRel="nextClick" afterEffect="1"/>
                                        <p:tgtEl>
                                          <p:spTgt spid="46083">
                                            <p:txEl>
                                              <p:pRg st="4" end="4"/>
                                            </p:txEl>
                                          </p:spTgt>
                                        </p:tgtEl>
                                        <p:attrNameLst>
                                          <p:attrName>ppt_c</p:attrName>
                                        </p:attrNameLst>
                                      </p:cBhvr>
                                      <p:to>
                                        <a:schemeClr val="bg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3" grpId="0" build="p"/>
    </p:bld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GB" altLang="en-US"/>
              <a:t>Department of Computer Science   and Information Systems</a:t>
            </a:r>
            <a:endParaRPr lang="en-US" altLang="en-US"/>
          </a:p>
        </p:txBody>
      </p:sp>
      <p:sp>
        <p:nvSpPr>
          <p:cNvPr id="16387" name="Rectangle 2"/>
          <p:cNvSpPr>
            <a:spLocks noGrp="1" noChangeArrowheads="1"/>
          </p:cNvSpPr>
          <p:nvPr>
            <p:ph type="title"/>
          </p:nvPr>
        </p:nvSpPr>
        <p:spPr/>
        <p:txBody>
          <a:bodyPr/>
          <a:lstStyle/>
          <a:p>
            <a:pPr eaLnBrk="1" hangingPunct="1"/>
            <a:r>
              <a:rPr lang="en-IE" smtClean="0"/>
              <a:t>Select an area of interest</a:t>
            </a:r>
            <a:endParaRPr lang="en-US" smtClean="0"/>
          </a:p>
        </p:txBody>
      </p:sp>
      <p:sp>
        <p:nvSpPr>
          <p:cNvPr id="47107" name="Rectangle 3"/>
          <p:cNvSpPr>
            <a:spLocks noGrp="1" noChangeArrowheads="1"/>
          </p:cNvSpPr>
          <p:nvPr>
            <p:ph type="body" idx="1"/>
          </p:nvPr>
        </p:nvSpPr>
        <p:spPr/>
        <p:txBody>
          <a:bodyPr/>
          <a:lstStyle/>
          <a:p>
            <a:pPr eaLnBrk="1" hangingPunct="1">
              <a:spcBef>
                <a:spcPts val="1200"/>
              </a:spcBef>
            </a:pPr>
            <a:r>
              <a:rPr lang="en-GB" dirty="0" smtClean="0"/>
              <a:t>If you are not happy with any of the projects that have been suggested but do not  have a suggestion of your own then there is a third possibility to consider.</a:t>
            </a:r>
          </a:p>
          <a:p>
            <a:pPr eaLnBrk="1" hangingPunct="1">
              <a:spcBef>
                <a:spcPts val="1200"/>
              </a:spcBef>
            </a:pPr>
            <a:r>
              <a:rPr lang="en-GB" dirty="0" smtClean="0"/>
              <a:t>Try to identify an area of interest and then approach the member of faculty whose projects/history suggestions most closely match your area of interest.</a:t>
            </a:r>
          </a:p>
          <a:p>
            <a:pPr eaLnBrk="1" hangingPunct="1">
              <a:spcBef>
                <a:spcPts val="1200"/>
              </a:spcBef>
            </a:pPr>
            <a:r>
              <a:rPr lang="en-GB" dirty="0" smtClean="0"/>
              <a:t>It may well be that the faculty member who suggested the projects has other projects which, for one reason and another, they have not submitted for consideration.  </a:t>
            </a:r>
          </a:p>
          <a:p>
            <a:pPr eaLnBrk="1" hangingPunct="1">
              <a:spcBef>
                <a:spcPts val="1200"/>
              </a:spcBef>
            </a:pPr>
            <a:r>
              <a:rPr lang="en-GB" dirty="0" smtClean="0"/>
              <a:t>Or it may be that your area for a project could be combined with theirs to produce something which suits all parties.</a:t>
            </a:r>
          </a:p>
          <a:p>
            <a:pPr eaLnBrk="1" hangingPunct="1">
              <a:spcBef>
                <a:spcPts val="1200"/>
              </a:spcBef>
            </a:pPr>
            <a:r>
              <a:rPr lang="en-GB" dirty="0" smtClean="0"/>
              <a:t>But it is </a:t>
            </a:r>
            <a:r>
              <a:rPr lang="en-GB" b="1" dirty="0" smtClean="0"/>
              <a:t>VERY</a:t>
            </a:r>
            <a:r>
              <a:rPr lang="en-GB" dirty="0" smtClean="0"/>
              <a:t> late to consider this now.</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7107">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47107">
                                            <p:txEl>
                                              <p:pRg st="0" end="0"/>
                                            </p:txEl>
                                          </p:spTgt>
                                        </p:tgtEl>
                                        <p:attrNameLst>
                                          <p:attrName>ppt_c</p:attrName>
                                        </p:attrNameLst>
                                      </p:cBhvr>
                                      <p:to>
                                        <a:schemeClr val="bg2"/>
                                      </p:to>
                                    </p:animClr>
                                  </p:sub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7107">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47107">
                                            <p:txEl>
                                              <p:pRg st="1" end="1"/>
                                            </p:txEl>
                                          </p:spTgt>
                                        </p:tgtEl>
                                        <p:attrNameLst>
                                          <p:attrName>ppt_c</p:attrName>
                                        </p:attrNameLst>
                                      </p:cBhvr>
                                      <p:to>
                                        <a:schemeClr val="bg2"/>
                                      </p:to>
                                    </p:animClr>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7107">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47107">
                                            <p:txEl>
                                              <p:pRg st="2" end="2"/>
                                            </p:txEl>
                                          </p:spTgt>
                                        </p:tgtEl>
                                        <p:attrNameLst>
                                          <p:attrName>ppt_c</p:attrName>
                                        </p:attrNameLst>
                                      </p:cBhvr>
                                      <p:to>
                                        <a:schemeClr val="bg2"/>
                                      </p:to>
                                    </p:animClr>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7107">
                                            <p:txEl>
                                              <p:pRg st="3" end="3"/>
                                            </p:txEl>
                                          </p:spTgt>
                                        </p:tgtEl>
                                        <p:attrNameLst>
                                          <p:attrName>style.visibility</p:attrName>
                                        </p:attrNameLst>
                                      </p:cBhvr>
                                      <p:to>
                                        <p:strVal val="visible"/>
                                      </p:to>
                                    </p:set>
                                  </p:childTnLst>
                                  <p:subTnLst>
                                    <p:animClr clrSpc="rgb" dir="cw">
                                      <p:cBhvr override="childStyle">
                                        <p:cTn dur="1" fill="hold" display="0" masterRel="nextClick" afterEffect="1"/>
                                        <p:tgtEl>
                                          <p:spTgt spid="47107">
                                            <p:txEl>
                                              <p:pRg st="3" end="3"/>
                                            </p:txEl>
                                          </p:spTgt>
                                        </p:tgtEl>
                                        <p:attrNameLst>
                                          <p:attrName>ppt_c</p:attrName>
                                        </p:attrNameLst>
                                      </p:cBhvr>
                                      <p:to>
                                        <a:schemeClr val="bg2"/>
                                      </p:to>
                                    </p:animClr>
                                  </p:sub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7107">
                                            <p:txEl>
                                              <p:pRg st="4" end="4"/>
                                            </p:txEl>
                                          </p:spTgt>
                                        </p:tgtEl>
                                        <p:attrNameLst>
                                          <p:attrName>style.visibility</p:attrName>
                                        </p:attrNameLst>
                                      </p:cBhvr>
                                      <p:to>
                                        <p:strVal val="visible"/>
                                      </p:to>
                                    </p:set>
                                  </p:childTnLst>
                                  <p:subTnLst>
                                    <p:animClr clrSpc="rgb" dir="cw">
                                      <p:cBhvr override="childStyle">
                                        <p:cTn dur="1" fill="hold" display="0" masterRel="nextClick" afterEffect="1"/>
                                        <p:tgtEl>
                                          <p:spTgt spid="47107">
                                            <p:txEl>
                                              <p:pRg st="4" end="4"/>
                                            </p:txEl>
                                          </p:spTgt>
                                        </p:tgtEl>
                                        <p:attrNameLst>
                                          <p:attrName>ppt_c</p:attrName>
                                        </p:attrNameLst>
                                      </p:cBhvr>
                                      <p:to>
                                        <a:schemeClr val="bg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7" grpId="0" build="p"/>
    </p:bld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GB" altLang="en-US"/>
              <a:t>Department of Computer Science   and Information Systems</a:t>
            </a:r>
            <a:endParaRPr lang="en-US" altLang="en-US"/>
          </a:p>
        </p:txBody>
      </p:sp>
      <p:sp>
        <p:nvSpPr>
          <p:cNvPr id="17411" name="Rectangle 2"/>
          <p:cNvSpPr>
            <a:spLocks noGrp="1" noChangeArrowheads="1"/>
          </p:cNvSpPr>
          <p:nvPr>
            <p:ph type="title"/>
          </p:nvPr>
        </p:nvSpPr>
        <p:spPr/>
        <p:txBody>
          <a:bodyPr/>
          <a:lstStyle/>
          <a:p>
            <a:pPr eaLnBrk="1" hangingPunct="1"/>
            <a:r>
              <a:rPr lang="en-IE" dirty="0" smtClean="0"/>
              <a:t>Supervisors</a:t>
            </a:r>
            <a:endParaRPr lang="en-US" dirty="0" smtClean="0"/>
          </a:p>
        </p:txBody>
      </p:sp>
      <p:sp>
        <p:nvSpPr>
          <p:cNvPr id="48131" name="Rectangle 3"/>
          <p:cNvSpPr>
            <a:spLocks noGrp="1" noChangeArrowheads="1"/>
          </p:cNvSpPr>
          <p:nvPr>
            <p:ph type="body" idx="1"/>
          </p:nvPr>
        </p:nvSpPr>
        <p:spPr>
          <a:xfrm>
            <a:off x="457200" y="1196752"/>
            <a:ext cx="8362950" cy="5184998"/>
          </a:xfrm>
        </p:spPr>
        <p:txBody>
          <a:bodyPr/>
          <a:lstStyle/>
          <a:p>
            <a:pPr>
              <a:defRPr/>
            </a:pPr>
            <a:r>
              <a:rPr lang="en-IE" sz="2200" dirty="0" smtClean="0"/>
              <a:t>This year each supervisor will be asked to supervise a maximum of seven FYPs.</a:t>
            </a:r>
          </a:p>
          <a:p>
            <a:pPr lvl="3">
              <a:defRPr/>
            </a:pPr>
            <a:endParaRPr lang="en-IE" sz="1400" dirty="0" smtClean="0"/>
          </a:p>
          <a:p>
            <a:pPr marL="342900" lvl="1" indent="-342900">
              <a:buClr>
                <a:schemeClr val="accent1"/>
              </a:buClr>
              <a:buSzPct val="65000"/>
              <a:buFont typeface="Wingdings" pitchFamily="2" charset="2"/>
              <a:buChar char="n"/>
              <a:defRPr/>
            </a:pPr>
            <a:r>
              <a:rPr lang="en-US" sz="2200" dirty="0" smtClean="0">
                <a:ea typeface="+mn-ea"/>
                <a:cs typeface="+mn-cs"/>
              </a:rPr>
              <a:t>Students who wish to do a project suggested by a supervisor who has reached their quota may only choose that project if the proposing supervisor agrees or agrees that another (willing) supervisor can supervise them.</a:t>
            </a:r>
          </a:p>
          <a:p>
            <a:pPr marL="1354138" lvl="4" indent="-342900">
              <a:defRPr/>
            </a:pPr>
            <a:endParaRPr lang="en-IE" sz="1600" dirty="0" smtClean="0"/>
          </a:p>
          <a:p>
            <a:pPr marL="342900" lvl="1" indent="-342900">
              <a:buClr>
                <a:schemeClr val="accent1"/>
              </a:buClr>
              <a:buSzPct val="65000"/>
              <a:buFont typeface="Wingdings" pitchFamily="2" charset="2"/>
              <a:buChar char="n"/>
              <a:defRPr/>
            </a:pPr>
            <a:r>
              <a:rPr lang="en-IE" sz="2200" dirty="0" smtClean="0"/>
              <a:t>Some supervisors have suggested FYPs, or have research interests, that are popular and will consequently be in demand.</a:t>
            </a:r>
          </a:p>
          <a:p>
            <a:pPr marL="1354138" lvl="4" indent="-342900">
              <a:defRPr/>
            </a:pPr>
            <a:endParaRPr lang="en-IE" sz="1600" dirty="0" smtClean="0"/>
          </a:p>
          <a:p>
            <a:pPr marL="342900" lvl="1" indent="-342900">
              <a:buClr>
                <a:schemeClr val="accent1"/>
              </a:buClr>
              <a:buSzPct val="65000"/>
              <a:buFont typeface="Wingdings" pitchFamily="2" charset="2"/>
              <a:buChar char="n"/>
              <a:defRPr/>
            </a:pPr>
            <a:r>
              <a:rPr lang="en-IE" sz="2200" dirty="0" smtClean="0"/>
              <a:t>Supervisors are likely to adopt a “first come, first served” policy.  So get your proposals sealed-up as soon as possible.</a:t>
            </a:r>
          </a:p>
          <a:p>
            <a:pPr marL="669925" lvl="3" indent="0">
              <a:buNone/>
              <a:defRPr/>
            </a:pPr>
            <a:endParaRPr lang="en-IE" sz="2400" dirty="0" smtClean="0"/>
          </a:p>
          <a:p>
            <a:pPr marL="342900" lvl="1" indent="-342900">
              <a:buClr>
                <a:schemeClr val="accent1"/>
              </a:buClr>
              <a:buSzPct val="65000"/>
              <a:buFont typeface="Wingdings" pitchFamily="2" charset="2"/>
              <a:buChar char="n"/>
              <a:defRPr/>
            </a:pPr>
            <a:endParaRPr lang="en-IE" sz="2400" dirty="0" smtClean="0">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8131">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48131">
                                            <p:txEl>
                                              <p:pRg st="0" end="0"/>
                                            </p:txEl>
                                          </p:spTgt>
                                        </p:tgtEl>
                                        <p:attrNameLst>
                                          <p:attrName>ppt_c</p:attrName>
                                        </p:attrNameLst>
                                      </p:cBhvr>
                                      <p:to>
                                        <a:schemeClr val="bg2"/>
                                      </p:to>
                                    </p:animClr>
                                  </p:subTnLst>
                                </p:cTn>
                              </p:par>
                              <p:par>
                                <p:cTn id="7" presetID="1" presetClass="entr" presetSubtype="0" fill="hold" grpId="0" nodeType="withEffect">
                                  <p:stCondLst>
                                    <p:cond delay="0"/>
                                  </p:stCondLst>
                                  <p:childTnLst>
                                    <p:set>
                                      <p:cBhvr>
                                        <p:cTn id="8" dur="1" fill="hold">
                                          <p:stCondLst>
                                            <p:cond delay="0"/>
                                          </p:stCondLst>
                                        </p:cTn>
                                        <p:tgtEl>
                                          <p:spTgt spid="48131">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48131">
                                            <p:txEl>
                                              <p:pRg st="2" end="2"/>
                                            </p:txEl>
                                          </p:spTgt>
                                        </p:tgtEl>
                                        <p:attrNameLst>
                                          <p:attrName>ppt_c</p:attrName>
                                        </p:attrNameLst>
                                      </p:cBhvr>
                                      <p:to>
                                        <a:schemeClr val="bg2"/>
                                      </p:to>
                                    </p:animClr>
                                  </p:subTnLst>
                                </p:cTn>
                              </p:par>
                              <p:par>
                                <p:cTn id="9" presetID="1" presetClass="entr" presetSubtype="0" fill="hold" grpId="0" nodeType="withEffect">
                                  <p:stCondLst>
                                    <p:cond delay="0"/>
                                  </p:stCondLst>
                                  <p:childTnLst>
                                    <p:set>
                                      <p:cBhvr>
                                        <p:cTn id="10" dur="1" fill="hold">
                                          <p:stCondLst>
                                            <p:cond delay="0"/>
                                          </p:stCondLst>
                                        </p:cTn>
                                        <p:tgtEl>
                                          <p:spTgt spid="48131">
                                            <p:txEl>
                                              <p:pRg st="4" end="4"/>
                                            </p:txEl>
                                          </p:spTgt>
                                        </p:tgtEl>
                                        <p:attrNameLst>
                                          <p:attrName>style.visibility</p:attrName>
                                        </p:attrNameLst>
                                      </p:cBhvr>
                                      <p:to>
                                        <p:strVal val="visible"/>
                                      </p:to>
                                    </p:set>
                                  </p:childTnLst>
                                  <p:subTnLst>
                                    <p:animClr clrSpc="rgb" dir="cw">
                                      <p:cBhvr override="childStyle">
                                        <p:cTn dur="1" fill="hold" display="0" masterRel="nextClick" afterEffect="1"/>
                                        <p:tgtEl>
                                          <p:spTgt spid="48131">
                                            <p:txEl>
                                              <p:pRg st="4" end="4"/>
                                            </p:txEl>
                                          </p:spTgt>
                                        </p:tgtEl>
                                        <p:attrNameLst>
                                          <p:attrName>ppt_c</p:attrName>
                                        </p:attrNameLst>
                                      </p:cBhvr>
                                      <p:to>
                                        <a:schemeClr val="bg2"/>
                                      </p:to>
                                    </p:animClr>
                                  </p:subTnLst>
                                </p:cTn>
                              </p:par>
                              <p:par>
                                <p:cTn id="11" presetID="1" presetClass="entr" presetSubtype="0" fill="hold" grpId="0" nodeType="withEffect">
                                  <p:stCondLst>
                                    <p:cond delay="0"/>
                                  </p:stCondLst>
                                  <p:childTnLst>
                                    <p:set>
                                      <p:cBhvr>
                                        <p:cTn id="12" dur="1" fill="hold">
                                          <p:stCondLst>
                                            <p:cond delay="0"/>
                                          </p:stCondLst>
                                        </p:cTn>
                                        <p:tgtEl>
                                          <p:spTgt spid="48131">
                                            <p:txEl>
                                              <p:pRg st="6" end="6"/>
                                            </p:txEl>
                                          </p:spTgt>
                                        </p:tgtEl>
                                        <p:attrNameLst>
                                          <p:attrName>style.visibility</p:attrName>
                                        </p:attrNameLst>
                                      </p:cBhvr>
                                      <p:to>
                                        <p:strVal val="visible"/>
                                      </p:to>
                                    </p:set>
                                  </p:childTnLst>
                                  <p:subTnLst>
                                    <p:animClr clrSpc="rgb" dir="cw">
                                      <p:cBhvr override="childStyle">
                                        <p:cTn dur="1" fill="hold" display="0" masterRel="nextClick" afterEffect="1"/>
                                        <p:tgtEl>
                                          <p:spTgt spid="48131">
                                            <p:txEl>
                                              <p:pRg st="6" end="6"/>
                                            </p:txEl>
                                          </p:spTgt>
                                        </p:tgtEl>
                                        <p:attrNameLst>
                                          <p:attrName>ppt_c</p:attrName>
                                        </p:attrNameLst>
                                      </p:cBhvr>
                                      <p:to>
                                        <a:schemeClr val="bg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1" grpId="0" build="p"/>
    </p:bld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GB" altLang="en-US"/>
              <a:t>Department of Computer Science   and Information Systems</a:t>
            </a:r>
            <a:endParaRPr lang="en-US" altLang="en-US"/>
          </a:p>
        </p:txBody>
      </p:sp>
      <p:sp>
        <p:nvSpPr>
          <p:cNvPr id="20483" name="Rectangle 2"/>
          <p:cNvSpPr>
            <a:spLocks noGrp="1" noChangeArrowheads="1"/>
          </p:cNvSpPr>
          <p:nvPr>
            <p:ph type="title"/>
          </p:nvPr>
        </p:nvSpPr>
        <p:spPr/>
        <p:txBody>
          <a:bodyPr/>
          <a:lstStyle/>
          <a:p>
            <a:pPr eaLnBrk="1" hangingPunct="1"/>
            <a:r>
              <a:rPr lang="en-GB" smtClean="0"/>
              <a:t>The Role of your Supervisor</a:t>
            </a:r>
            <a:r>
              <a:rPr lang="en-US" smtClean="0"/>
              <a:t> </a:t>
            </a:r>
          </a:p>
        </p:txBody>
      </p:sp>
      <p:sp>
        <p:nvSpPr>
          <p:cNvPr id="50179" name="Rectangle 3"/>
          <p:cNvSpPr>
            <a:spLocks noGrp="1" noChangeArrowheads="1"/>
          </p:cNvSpPr>
          <p:nvPr>
            <p:ph type="body" idx="1"/>
          </p:nvPr>
        </p:nvSpPr>
        <p:spPr>
          <a:xfrm>
            <a:off x="395536" y="765175"/>
            <a:ext cx="8424862" cy="6092825"/>
          </a:xfrm>
        </p:spPr>
        <p:txBody>
          <a:bodyPr/>
          <a:lstStyle/>
          <a:p>
            <a:pPr eaLnBrk="1" hangingPunct="1">
              <a:lnSpc>
                <a:spcPct val="95000"/>
              </a:lnSpc>
              <a:spcBef>
                <a:spcPct val="40000"/>
              </a:spcBef>
            </a:pPr>
            <a:r>
              <a:rPr lang="en-GB" sz="2000" dirty="0" smtClean="0"/>
              <a:t>Because every project is different and every supervisor is different, how the supervisor interacts with you will differ from student to student and from project to project.</a:t>
            </a:r>
          </a:p>
          <a:p>
            <a:pPr eaLnBrk="1" hangingPunct="1">
              <a:lnSpc>
                <a:spcPct val="95000"/>
              </a:lnSpc>
              <a:spcBef>
                <a:spcPct val="40000"/>
              </a:spcBef>
            </a:pPr>
            <a:r>
              <a:rPr lang="en-GB" sz="2000" dirty="0" smtClean="0"/>
              <a:t>Some supervisors are very “hands on” and will closely supervise every step of the process while others, not-so-much.</a:t>
            </a:r>
          </a:p>
          <a:p>
            <a:pPr eaLnBrk="1" hangingPunct="1">
              <a:lnSpc>
                <a:spcPct val="95000"/>
              </a:lnSpc>
              <a:spcBef>
                <a:spcPct val="40000"/>
              </a:spcBef>
            </a:pPr>
            <a:r>
              <a:rPr lang="en-GB" sz="2000" dirty="0" smtClean="0"/>
              <a:t>If yours is not “hands on” then you should drive the interaction.</a:t>
            </a:r>
          </a:p>
          <a:p>
            <a:pPr lvl="1" eaLnBrk="1" hangingPunct="1">
              <a:lnSpc>
                <a:spcPct val="95000"/>
              </a:lnSpc>
              <a:spcBef>
                <a:spcPct val="40000"/>
              </a:spcBef>
            </a:pPr>
            <a:r>
              <a:rPr lang="en-GB" sz="1800" dirty="0" smtClean="0"/>
              <a:t>Meet with your supervisor at regular intervals.</a:t>
            </a:r>
          </a:p>
          <a:p>
            <a:pPr lvl="1" eaLnBrk="1" hangingPunct="1">
              <a:lnSpc>
                <a:spcPct val="95000"/>
              </a:lnSpc>
              <a:spcBef>
                <a:spcPct val="40000"/>
              </a:spcBef>
            </a:pPr>
            <a:r>
              <a:rPr lang="en-GB" sz="1800" dirty="0" smtClean="0"/>
              <a:t>Discuss progress you have made, problems you have encountered, and future directions you intend to take.</a:t>
            </a:r>
          </a:p>
          <a:p>
            <a:pPr lvl="1" eaLnBrk="1" hangingPunct="1">
              <a:lnSpc>
                <a:spcPct val="95000"/>
              </a:lnSpc>
              <a:spcBef>
                <a:spcPct val="40000"/>
              </a:spcBef>
            </a:pPr>
            <a:r>
              <a:rPr lang="en-GB" sz="1800" dirty="0" smtClean="0"/>
              <a:t>Ask for help and advice if you need it.</a:t>
            </a:r>
          </a:p>
          <a:p>
            <a:pPr eaLnBrk="1" hangingPunct="1">
              <a:lnSpc>
                <a:spcPct val="95000"/>
              </a:lnSpc>
              <a:spcBef>
                <a:spcPct val="40000"/>
              </a:spcBef>
            </a:pPr>
            <a:r>
              <a:rPr lang="en-IE" sz="2000" dirty="0" smtClean="0"/>
              <a:t>You </a:t>
            </a:r>
            <a:r>
              <a:rPr lang="en-IE" sz="2000" dirty="0"/>
              <a:t>are the engine and trainee navigator. Your supervisor is the experienced navigator who directs in emergencies </a:t>
            </a:r>
          </a:p>
          <a:p>
            <a:pPr eaLnBrk="1" hangingPunct="1">
              <a:lnSpc>
                <a:spcPct val="95000"/>
              </a:lnSpc>
              <a:spcBef>
                <a:spcPct val="40000"/>
              </a:spcBef>
            </a:pPr>
            <a:r>
              <a:rPr lang="en-IE" sz="2000" dirty="0" smtClean="0"/>
              <a:t>At the end of the project your supervisor will change hats to become one of the persons (the main one) who evaluates and grades your FYP</a:t>
            </a:r>
            <a:r>
              <a:rPr lang="en-IE" sz="2000" dirty="0" smtClean="0"/>
              <a:t>. </a:t>
            </a:r>
          </a:p>
          <a:p>
            <a:pPr eaLnBrk="1" hangingPunct="1">
              <a:lnSpc>
                <a:spcPct val="95000"/>
              </a:lnSpc>
              <a:spcBef>
                <a:spcPct val="40000"/>
              </a:spcBef>
            </a:pPr>
            <a:r>
              <a:rPr lang="en-IE" sz="2000" dirty="0" smtClean="0"/>
              <a:t>Evaluation will be based, in part, on your ability to self-navigate </a:t>
            </a:r>
            <a:endParaRPr lang="en-IE" sz="2000"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0179">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50179">
                                            <p:txEl>
                                              <p:pRg st="0" end="0"/>
                                            </p:txEl>
                                          </p:spTgt>
                                        </p:tgtEl>
                                        <p:attrNameLst>
                                          <p:attrName>ppt_c</p:attrName>
                                        </p:attrNameLst>
                                      </p:cBhvr>
                                      <p:to>
                                        <a:schemeClr val="bg2"/>
                                      </p:to>
                                    </p:animClr>
                                  </p:sub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0179">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50179">
                                            <p:txEl>
                                              <p:pRg st="1" end="1"/>
                                            </p:txEl>
                                          </p:spTgt>
                                        </p:tgtEl>
                                        <p:attrNameLst>
                                          <p:attrName>ppt_c</p:attrName>
                                        </p:attrNameLst>
                                      </p:cBhvr>
                                      <p:to>
                                        <a:schemeClr val="bg2"/>
                                      </p:to>
                                    </p:animClr>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0179">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50179">
                                            <p:txEl>
                                              <p:pRg st="2" end="2"/>
                                            </p:txEl>
                                          </p:spTgt>
                                        </p:tgtEl>
                                        <p:attrNameLst>
                                          <p:attrName>ppt_c</p:attrName>
                                        </p:attrNameLst>
                                      </p:cBhvr>
                                      <p:to>
                                        <a:schemeClr val="bg2"/>
                                      </p:to>
                                    </p:animClr>
                                  </p:subTnLst>
                                </p:cTn>
                              </p:par>
                              <p:par>
                                <p:cTn id="15" presetID="1" presetClass="entr" presetSubtype="0" fill="hold" grpId="0" nodeType="withEffect">
                                  <p:stCondLst>
                                    <p:cond delay="0"/>
                                  </p:stCondLst>
                                  <p:childTnLst>
                                    <p:set>
                                      <p:cBhvr>
                                        <p:cTn id="16" dur="1" fill="hold">
                                          <p:stCondLst>
                                            <p:cond delay="0"/>
                                          </p:stCondLst>
                                        </p:cTn>
                                        <p:tgtEl>
                                          <p:spTgt spid="50179">
                                            <p:txEl>
                                              <p:pRg st="3" end="3"/>
                                            </p:txEl>
                                          </p:spTgt>
                                        </p:tgtEl>
                                        <p:attrNameLst>
                                          <p:attrName>style.visibility</p:attrName>
                                        </p:attrNameLst>
                                      </p:cBhvr>
                                      <p:to>
                                        <p:strVal val="visible"/>
                                      </p:to>
                                    </p:set>
                                  </p:childTnLst>
                                  <p:subTnLst>
                                    <p:animClr clrSpc="rgb" dir="cw">
                                      <p:cBhvr override="childStyle">
                                        <p:cTn dur="1" fill="hold" display="0" masterRel="nextClick" afterEffect="1"/>
                                        <p:tgtEl>
                                          <p:spTgt spid="50179">
                                            <p:txEl>
                                              <p:pRg st="3" end="3"/>
                                            </p:txEl>
                                          </p:spTgt>
                                        </p:tgtEl>
                                        <p:attrNameLst>
                                          <p:attrName>ppt_c</p:attrName>
                                        </p:attrNameLst>
                                      </p:cBhvr>
                                      <p:to>
                                        <a:schemeClr val="bg2"/>
                                      </p:to>
                                    </p:animClr>
                                  </p:subTnLst>
                                </p:cTn>
                              </p:par>
                              <p:par>
                                <p:cTn id="17" presetID="1" presetClass="entr" presetSubtype="0" fill="hold" grpId="0" nodeType="withEffect">
                                  <p:stCondLst>
                                    <p:cond delay="0"/>
                                  </p:stCondLst>
                                  <p:childTnLst>
                                    <p:set>
                                      <p:cBhvr>
                                        <p:cTn id="18" dur="1" fill="hold">
                                          <p:stCondLst>
                                            <p:cond delay="0"/>
                                          </p:stCondLst>
                                        </p:cTn>
                                        <p:tgtEl>
                                          <p:spTgt spid="50179">
                                            <p:txEl>
                                              <p:pRg st="4" end="4"/>
                                            </p:txEl>
                                          </p:spTgt>
                                        </p:tgtEl>
                                        <p:attrNameLst>
                                          <p:attrName>style.visibility</p:attrName>
                                        </p:attrNameLst>
                                      </p:cBhvr>
                                      <p:to>
                                        <p:strVal val="visible"/>
                                      </p:to>
                                    </p:set>
                                  </p:childTnLst>
                                  <p:subTnLst>
                                    <p:animClr clrSpc="rgb" dir="cw">
                                      <p:cBhvr override="childStyle">
                                        <p:cTn dur="1" fill="hold" display="0" masterRel="nextClick" afterEffect="1"/>
                                        <p:tgtEl>
                                          <p:spTgt spid="50179">
                                            <p:txEl>
                                              <p:pRg st="4" end="4"/>
                                            </p:txEl>
                                          </p:spTgt>
                                        </p:tgtEl>
                                        <p:attrNameLst>
                                          <p:attrName>ppt_c</p:attrName>
                                        </p:attrNameLst>
                                      </p:cBhvr>
                                      <p:to>
                                        <a:schemeClr val="bg2"/>
                                      </p:to>
                                    </p:animClr>
                                  </p:subTnLst>
                                </p:cTn>
                              </p:par>
                              <p:par>
                                <p:cTn id="19" presetID="1" presetClass="entr" presetSubtype="0" fill="hold" grpId="0" nodeType="withEffect">
                                  <p:stCondLst>
                                    <p:cond delay="0"/>
                                  </p:stCondLst>
                                  <p:childTnLst>
                                    <p:set>
                                      <p:cBhvr>
                                        <p:cTn id="20" dur="1" fill="hold">
                                          <p:stCondLst>
                                            <p:cond delay="0"/>
                                          </p:stCondLst>
                                        </p:cTn>
                                        <p:tgtEl>
                                          <p:spTgt spid="50179">
                                            <p:txEl>
                                              <p:pRg st="5" end="5"/>
                                            </p:txEl>
                                          </p:spTgt>
                                        </p:tgtEl>
                                        <p:attrNameLst>
                                          <p:attrName>style.visibility</p:attrName>
                                        </p:attrNameLst>
                                      </p:cBhvr>
                                      <p:to>
                                        <p:strVal val="visible"/>
                                      </p:to>
                                    </p:set>
                                  </p:childTnLst>
                                  <p:subTnLst>
                                    <p:animClr clrSpc="rgb" dir="cw">
                                      <p:cBhvr override="childStyle">
                                        <p:cTn dur="1" fill="hold" display="0" masterRel="nextClick" afterEffect="1"/>
                                        <p:tgtEl>
                                          <p:spTgt spid="50179">
                                            <p:txEl>
                                              <p:pRg st="5" end="5"/>
                                            </p:txEl>
                                          </p:spTgt>
                                        </p:tgtEl>
                                        <p:attrNameLst>
                                          <p:attrName>ppt_c</p:attrName>
                                        </p:attrNameLst>
                                      </p:cBhvr>
                                      <p:to>
                                        <a:schemeClr val="bg2"/>
                                      </p:to>
                                    </p:animClr>
                                  </p:sub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0179">
                                            <p:txEl>
                                              <p:pRg st="6" end="6"/>
                                            </p:txEl>
                                          </p:spTgt>
                                        </p:tgtEl>
                                        <p:attrNameLst>
                                          <p:attrName>style.visibility</p:attrName>
                                        </p:attrNameLst>
                                      </p:cBhvr>
                                      <p:to>
                                        <p:strVal val="visible"/>
                                      </p:to>
                                    </p:set>
                                  </p:childTnLst>
                                  <p:subTnLst>
                                    <p:animClr clrSpc="rgb" dir="cw">
                                      <p:cBhvr override="childStyle">
                                        <p:cTn dur="1" fill="hold" display="0" masterRel="nextClick" afterEffect="1"/>
                                        <p:tgtEl>
                                          <p:spTgt spid="50179">
                                            <p:txEl>
                                              <p:pRg st="6" end="6"/>
                                            </p:txEl>
                                          </p:spTgt>
                                        </p:tgtEl>
                                        <p:attrNameLst>
                                          <p:attrName>ppt_c</p:attrName>
                                        </p:attrNameLst>
                                      </p:cBhvr>
                                      <p:to>
                                        <a:schemeClr val="bg2"/>
                                      </p:to>
                                    </p:animClr>
                                  </p:sub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50179">
                                            <p:txEl>
                                              <p:pRg st="7" end="7"/>
                                            </p:txEl>
                                          </p:spTgt>
                                        </p:tgtEl>
                                        <p:attrNameLst>
                                          <p:attrName>style.visibility</p:attrName>
                                        </p:attrNameLst>
                                      </p:cBhvr>
                                      <p:to>
                                        <p:strVal val="visible"/>
                                      </p:to>
                                    </p:set>
                                  </p:childTnLst>
                                  <p:subTnLst>
                                    <p:animClr clrSpc="rgb" dir="cw">
                                      <p:cBhvr override="childStyle">
                                        <p:cTn dur="1" fill="hold" display="0" masterRel="nextClick" afterEffect="1"/>
                                        <p:tgtEl>
                                          <p:spTgt spid="50179">
                                            <p:txEl>
                                              <p:pRg st="7" end="7"/>
                                            </p:txEl>
                                          </p:spTgt>
                                        </p:tgtEl>
                                        <p:attrNameLst>
                                          <p:attrName>ppt_c</p:attrName>
                                        </p:attrNameLst>
                                      </p:cBhvr>
                                      <p:to>
                                        <a:schemeClr val="bg2"/>
                                      </p:to>
                                    </p:animClr>
                                  </p:sub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50179">
                                            <p:txEl>
                                              <p:pRg st="8" end="8"/>
                                            </p:txEl>
                                          </p:spTgt>
                                        </p:tgtEl>
                                        <p:attrNameLst>
                                          <p:attrName>style.visibility</p:attrName>
                                        </p:attrNameLst>
                                      </p:cBhvr>
                                      <p:to>
                                        <p:strVal val="visible"/>
                                      </p:to>
                                    </p:set>
                                  </p:childTnLst>
                                  <p:subTnLst>
                                    <p:animClr clrSpc="rgb" dir="cw">
                                      <p:cBhvr override="childStyle">
                                        <p:cTn dur="1" fill="hold" display="0" masterRel="nextClick" afterEffect="1"/>
                                        <p:tgtEl>
                                          <p:spTgt spid="50179">
                                            <p:txEl>
                                              <p:pRg st="8" end="8"/>
                                            </p:txEl>
                                          </p:spTgt>
                                        </p:tgtEl>
                                        <p:attrNameLst>
                                          <p:attrName>ppt_c</p:attrName>
                                        </p:attrNameLst>
                                      </p:cBhvr>
                                      <p:to>
                                        <a:schemeClr val="bg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79" grpId="0" build="p"/>
    </p:bld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GB" altLang="en-US"/>
              <a:t>Department of Computer Science   and Information Systems</a:t>
            </a:r>
            <a:endParaRPr lang="en-US" altLang="en-US"/>
          </a:p>
        </p:txBody>
      </p:sp>
      <p:sp>
        <p:nvSpPr>
          <p:cNvPr id="18435" name="Rectangle 2"/>
          <p:cNvSpPr>
            <a:spLocks noGrp="1" noChangeArrowheads="1"/>
          </p:cNvSpPr>
          <p:nvPr>
            <p:ph type="title"/>
          </p:nvPr>
        </p:nvSpPr>
        <p:spPr/>
        <p:txBody>
          <a:bodyPr/>
          <a:lstStyle/>
          <a:p>
            <a:pPr eaLnBrk="1" hangingPunct="1"/>
            <a:r>
              <a:rPr lang="en-GB" smtClean="0"/>
              <a:t>Undertaking your Project</a:t>
            </a:r>
            <a:r>
              <a:rPr lang="en-US" smtClean="0"/>
              <a:t> </a:t>
            </a:r>
          </a:p>
        </p:txBody>
      </p:sp>
      <p:sp>
        <p:nvSpPr>
          <p:cNvPr id="49155" name="Rectangle 3"/>
          <p:cNvSpPr>
            <a:spLocks noGrp="1" noChangeArrowheads="1"/>
          </p:cNvSpPr>
          <p:nvPr>
            <p:ph type="body" idx="1"/>
          </p:nvPr>
        </p:nvSpPr>
        <p:spPr/>
        <p:txBody>
          <a:bodyPr/>
          <a:lstStyle/>
          <a:p>
            <a:pPr eaLnBrk="1" hangingPunct="1"/>
            <a:r>
              <a:rPr lang="en-GB" sz="2000" dirty="0" smtClean="0"/>
              <a:t>Choosing your </a:t>
            </a:r>
            <a:r>
              <a:rPr lang="en-GB" sz="2000" dirty="0" smtClean="0"/>
              <a:t>project/supervisor </a:t>
            </a:r>
            <a:r>
              <a:rPr lang="en-GB" sz="2000" dirty="0" smtClean="0"/>
              <a:t>are the two difficult, initial steps.</a:t>
            </a:r>
          </a:p>
          <a:p>
            <a:pPr eaLnBrk="1" hangingPunct="1">
              <a:spcBef>
                <a:spcPct val="35000"/>
              </a:spcBef>
            </a:pPr>
            <a:r>
              <a:rPr lang="en-GB" sz="2000" dirty="0" smtClean="0"/>
              <a:t>Completing the project may then involve:</a:t>
            </a:r>
          </a:p>
          <a:p>
            <a:pPr lvl="1" eaLnBrk="1" hangingPunct="1">
              <a:spcBef>
                <a:spcPts val="400"/>
              </a:spcBef>
            </a:pPr>
            <a:r>
              <a:rPr lang="en-GB" sz="1800" dirty="0" smtClean="0"/>
              <a:t>Investigating your topic further</a:t>
            </a:r>
          </a:p>
          <a:p>
            <a:pPr lvl="1" eaLnBrk="1" hangingPunct="1">
              <a:spcBef>
                <a:spcPts val="400"/>
              </a:spcBef>
            </a:pPr>
            <a:r>
              <a:rPr lang="en-GB" sz="1800" dirty="0" smtClean="0"/>
              <a:t>Looking at similar existing products </a:t>
            </a:r>
            <a:r>
              <a:rPr lang="en-GB" sz="1200" dirty="0" smtClean="0"/>
              <a:t>(development project)</a:t>
            </a:r>
          </a:p>
          <a:p>
            <a:pPr lvl="1" eaLnBrk="1" hangingPunct="1">
              <a:spcBef>
                <a:spcPts val="400"/>
              </a:spcBef>
            </a:pPr>
            <a:r>
              <a:rPr lang="en-GB" sz="1800" dirty="0" smtClean="0"/>
              <a:t>Reading the FYP reports of similar projects </a:t>
            </a:r>
          </a:p>
          <a:p>
            <a:pPr lvl="1" eaLnBrk="1" hangingPunct="1">
              <a:spcBef>
                <a:spcPts val="400"/>
              </a:spcBef>
            </a:pPr>
            <a:r>
              <a:rPr lang="en-GB" sz="1800" dirty="0" smtClean="0"/>
              <a:t>Reading academic papers on similar previous work </a:t>
            </a:r>
            <a:r>
              <a:rPr lang="en-GB" sz="1200" dirty="0" smtClean="0"/>
              <a:t>(research)</a:t>
            </a:r>
          </a:p>
          <a:p>
            <a:pPr lvl="1" eaLnBrk="1" hangingPunct="1">
              <a:spcBef>
                <a:spcPts val="400"/>
              </a:spcBef>
            </a:pPr>
            <a:r>
              <a:rPr lang="en-GB" sz="1800" dirty="0" smtClean="0"/>
              <a:t>Deciding on the software/research question that needs addressing </a:t>
            </a:r>
            <a:r>
              <a:rPr lang="en-GB" sz="1200" dirty="0" smtClean="0"/>
              <a:t>(research and development</a:t>
            </a:r>
            <a:r>
              <a:rPr lang="en-GB" sz="1200" dirty="0" smtClean="0"/>
              <a:t>)</a:t>
            </a:r>
          </a:p>
          <a:p>
            <a:pPr lvl="1" eaLnBrk="1" hangingPunct="1">
              <a:spcBef>
                <a:spcPts val="400"/>
              </a:spcBef>
            </a:pPr>
            <a:r>
              <a:rPr lang="en-GB" sz="1800" dirty="0" smtClean="0"/>
              <a:t>Ethics board applications/Usability </a:t>
            </a:r>
            <a:r>
              <a:rPr lang="en-GB" sz="1800" dirty="0"/>
              <a:t>studies towards prototypes </a:t>
            </a:r>
            <a:r>
              <a:rPr lang="en-GB" sz="1200" dirty="0"/>
              <a:t>(UX)</a:t>
            </a:r>
          </a:p>
          <a:p>
            <a:pPr lvl="1" eaLnBrk="1" hangingPunct="1">
              <a:spcBef>
                <a:spcPts val="400"/>
              </a:spcBef>
            </a:pPr>
            <a:r>
              <a:rPr lang="en-GB" sz="1800" dirty="0" smtClean="0"/>
              <a:t>Deciding on the appropriate platform and software </a:t>
            </a:r>
            <a:r>
              <a:rPr lang="en-GB" sz="1200" dirty="0" smtClean="0"/>
              <a:t>(development project)</a:t>
            </a:r>
          </a:p>
          <a:p>
            <a:pPr lvl="1" eaLnBrk="1" hangingPunct="1">
              <a:spcBef>
                <a:spcPts val="400"/>
              </a:spcBef>
            </a:pPr>
            <a:r>
              <a:rPr lang="en-GB" sz="1800" dirty="0" smtClean="0"/>
              <a:t>Producing a design for your software </a:t>
            </a:r>
            <a:r>
              <a:rPr lang="en-GB" sz="1200" dirty="0" smtClean="0"/>
              <a:t>(development project)</a:t>
            </a:r>
          </a:p>
          <a:p>
            <a:pPr lvl="1" eaLnBrk="1" hangingPunct="1">
              <a:spcBef>
                <a:spcPts val="400"/>
              </a:spcBef>
            </a:pPr>
            <a:r>
              <a:rPr lang="en-GB" sz="1800" dirty="0" smtClean="0"/>
              <a:t>Planning a series of experiments </a:t>
            </a:r>
            <a:r>
              <a:rPr lang="en-GB" sz="1200" dirty="0" smtClean="0"/>
              <a:t>(research)</a:t>
            </a:r>
          </a:p>
          <a:p>
            <a:pPr lvl="1" eaLnBrk="1" hangingPunct="1">
              <a:spcBef>
                <a:spcPts val="400"/>
              </a:spcBef>
            </a:pPr>
            <a:r>
              <a:rPr lang="en-GB" sz="1800" dirty="0" smtClean="0"/>
              <a:t>Creating a </a:t>
            </a:r>
            <a:r>
              <a:rPr lang="en-GB" sz="1800" dirty="0"/>
              <a:t>story </a:t>
            </a:r>
            <a:r>
              <a:rPr lang="en-GB" sz="1800" dirty="0" smtClean="0"/>
              <a:t>board </a:t>
            </a:r>
            <a:r>
              <a:rPr lang="en-GB" sz="1200" dirty="0" smtClean="0"/>
              <a:t>(</a:t>
            </a:r>
            <a:r>
              <a:rPr lang="en-GB" sz="1200" dirty="0" smtClean="0"/>
              <a:t>video)</a:t>
            </a:r>
            <a:endParaRPr lang="en-GB" sz="1800" dirty="0" smtClean="0"/>
          </a:p>
          <a:p>
            <a:pPr lvl="1" eaLnBrk="1" hangingPunct="1">
              <a:spcBef>
                <a:spcPts val="400"/>
              </a:spcBef>
            </a:pPr>
            <a:r>
              <a:rPr lang="en-GB" sz="1800" dirty="0" smtClean="0"/>
              <a:t>Writing a script </a:t>
            </a:r>
            <a:r>
              <a:rPr lang="en-GB" sz="1200" dirty="0" smtClean="0"/>
              <a:t>(video)</a:t>
            </a:r>
          </a:p>
          <a:p>
            <a:pPr lvl="1" eaLnBrk="1" hangingPunct="1">
              <a:spcBef>
                <a:spcPts val="400"/>
              </a:spcBef>
            </a:pPr>
            <a:r>
              <a:rPr lang="en-GB" sz="1800" dirty="0" smtClean="0"/>
              <a:t>Building and then evaluating your product </a:t>
            </a:r>
            <a:r>
              <a:rPr lang="en-GB" sz="1200" dirty="0" smtClean="0"/>
              <a:t>(development project)</a:t>
            </a:r>
          </a:p>
          <a:p>
            <a:pPr lvl="1" eaLnBrk="1" hangingPunct="1">
              <a:spcBef>
                <a:spcPts val="400"/>
              </a:spcBef>
            </a:pPr>
            <a:r>
              <a:rPr lang="en-GB" sz="1800" dirty="0" smtClean="0"/>
              <a:t>Conducting your experiments and analysing the results </a:t>
            </a:r>
            <a:r>
              <a:rPr lang="en-GB" sz="1200" dirty="0" smtClean="0"/>
              <a:t>(</a:t>
            </a:r>
            <a:r>
              <a:rPr lang="en-GB" sz="1200" dirty="0"/>
              <a:t>research</a:t>
            </a:r>
            <a:r>
              <a:rPr lang="en-GB" sz="1200" dirty="0" smtClean="0"/>
              <a:t>)</a:t>
            </a:r>
            <a:endParaRPr lang="en-GB" sz="1800" dirty="0" smtClean="0"/>
          </a:p>
          <a:p>
            <a:pPr lvl="1" eaLnBrk="1" hangingPunct="1">
              <a:spcBef>
                <a:spcPts val="400"/>
              </a:spcBef>
            </a:pPr>
            <a:r>
              <a:rPr lang="en-GB" sz="1800" dirty="0" smtClean="0"/>
              <a:t>Writing your Report </a:t>
            </a:r>
            <a:r>
              <a:rPr lang="en-GB" sz="1200" dirty="0"/>
              <a:t>(all)</a:t>
            </a:r>
            <a:endParaRPr lang="en-US"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9155">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49155">
                                            <p:txEl>
                                              <p:pRg st="0" end="0"/>
                                            </p:txEl>
                                          </p:spTgt>
                                        </p:tgtEl>
                                        <p:attrNameLst>
                                          <p:attrName>ppt_c</p:attrName>
                                        </p:attrNameLst>
                                      </p:cBhvr>
                                      <p:to>
                                        <a:schemeClr val="bg2"/>
                                      </p:to>
                                    </p:animClr>
                                  </p:sub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9155">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49155">
                                            <p:txEl>
                                              <p:pRg st="1" end="1"/>
                                            </p:txEl>
                                          </p:spTgt>
                                        </p:tgtEl>
                                        <p:attrNameLst>
                                          <p:attrName>ppt_c</p:attrName>
                                        </p:attrNameLst>
                                      </p:cBhvr>
                                      <p:to>
                                        <a:schemeClr val="bg2"/>
                                      </p:to>
                                    </p:animClr>
                                  </p:subTnLst>
                                </p:cTn>
                              </p:par>
                              <p:par>
                                <p:cTn id="11" presetID="1" presetClass="entr" presetSubtype="0" fill="hold" grpId="0" nodeType="withEffect">
                                  <p:stCondLst>
                                    <p:cond delay="0"/>
                                  </p:stCondLst>
                                  <p:childTnLst>
                                    <p:set>
                                      <p:cBhvr>
                                        <p:cTn id="12" dur="1" fill="hold">
                                          <p:stCondLst>
                                            <p:cond delay="0"/>
                                          </p:stCondLst>
                                        </p:cTn>
                                        <p:tgtEl>
                                          <p:spTgt spid="49155">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49155">
                                            <p:txEl>
                                              <p:pRg st="2" end="2"/>
                                            </p:txEl>
                                          </p:spTgt>
                                        </p:tgtEl>
                                        <p:attrNameLst>
                                          <p:attrName>ppt_c</p:attrName>
                                        </p:attrNameLst>
                                      </p:cBhvr>
                                      <p:to>
                                        <a:schemeClr val="bg2"/>
                                      </p:to>
                                    </p:animClr>
                                  </p:subTnLst>
                                </p:cTn>
                              </p:par>
                              <p:par>
                                <p:cTn id="13" presetID="1" presetClass="entr" presetSubtype="0" fill="hold" grpId="0" nodeType="withEffect">
                                  <p:stCondLst>
                                    <p:cond delay="0"/>
                                  </p:stCondLst>
                                  <p:childTnLst>
                                    <p:set>
                                      <p:cBhvr>
                                        <p:cTn id="14" dur="1" fill="hold">
                                          <p:stCondLst>
                                            <p:cond delay="0"/>
                                          </p:stCondLst>
                                        </p:cTn>
                                        <p:tgtEl>
                                          <p:spTgt spid="49155">
                                            <p:txEl>
                                              <p:pRg st="3" end="3"/>
                                            </p:txEl>
                                          </p:spTgt>
                                        </p:tgtEl>
                                        <p:attrNameLst>
                                          <p:attrName>style.visibility</p:attrName>
                                        </p:attrNameLst>
                                      </p:cBhvr>
                                      <p:to>
                                        <p:strVal val="visible"/>
                                      </p:to>
                                    </p:set>
                                  </p:childTnLst>
                                  <p:subTnLst>
                                    <p:animClr clrSpc="rgb" dir="cw">
                                      <p:cBhvr override="childStyle">
                                        <p:cTn dur="1" fill="hold" display="0" masterRel="nextClick" afterEffect="1"/>
                                        <p:tgtEl>
                                          <p:spTgt spid="49155">
                                            <p:txEl>
                                              <p:pRg st="3" end="3"/>
                                            </p:txEl>
                                          </p:spTgt>
                                        </p:tgtEl>
                                        <p:attrNameLst>
                                          <p:attrName>ppt_c</p:attrName>
                                        </p:attrNameLst>
                                      </p:cBhvr>
                                      <p:to>
                                        <a:schemeClr val="bg2"/>
                                      </p:to>
                                    </p:animClr>
                                  </p:subTnLst>
                                </p:cTn>
                              </p:par>
                              <p:par>
                                <p:cTn id="15" presetID="1" presetClass="entr" presetSubtype="0" fill="hold" grpId="0" nodeType="withEffect">
                                  <p:stCondLst>
                                    <p:cond delay="0"/>
                                  </p:stCondLst>
                                  <p:childTnLst>
                                    <p:set>
                                      <p:cBhvr>
                                        <p:cTn id="16" dur="1" fill="hold">
                                          <p:stCondLst>
                                            <p:cond delay="0"/>
                                          </p:stCondLst>
                                        </p:cTn>
                                        <p:tgtEl>
                                          <p:spTgt spid="49155">
                                            <p:txEl>
                                              <p:pRg st="4" end="4"/>
                                            </p:txEl>
                                          </p:spTgt>
                                        </p:tgtEl>
                                        <p:attrNameLst>
                                          <p:attrName>style.visibility</p:attrName>
                                        </p:attrNameLst>
                                      </p:cBhvr>
                                      <p:to>
                                        <p:strVal val="visible"/>
                                      </p:to>
                                    </p:set>
                                  </p:childTnLst>
                                  <p:subTnLst>
                                    <p:animClr clrSpc="rgb" dir="cw">
                                      <p:cBhvr override="childStyle">
                                        <p:cTn dur="1" fill="hold" display="0" masterRel="nextClick" afterEffect="1"/>
                                        <p:tgtEl>
                                          <p:spTgt spid="49155">
                                            <p:txEl>
                                              <p:pRg st="4" end="4"/>
                                            </p:txEl>
                                          </p:spTgt>
                                        </p:tgtEl>
                                        <p:attrNameLst>
                                          <p:attrName>ppt_c</p:attrName>
                                        </p:attrNameLst>
                                      </p:cBhvr>
                                      <p:to>
                                        <a:schemeClr val="bg2"/>
                                      </p:to>
                                    </p:animClr>
                                  </p:subTnLst>
                                </p:cTn>
                              </p:par>
                              <p:par>
                                <p:cTn id="17" presetID="1" presetClass="entr" presetSubtype="0" fill="hold" grpId="0" nodeType="withEffect">
                                  <p:stCondLst>
                                    <p:cond delay="0"/>
                                  </p:stCondLst>
                                  <p:childTnLst>
                                    <p:set>
                                      <p:cBhvr>
                                        <p:cTn id="18" dur="1" fill="hold">
                                          <p:stCondLst>
                                            <p:cond delay="0"/>
                                          </p:stCondLst>
                                        </p:cTn>
                                        <p:tgtEl>
                                          <p:spTgt spid="49155">
                                            <p:txEl>
                                              <p:pRg st="5" end="5"/>
                                            </p:txEl>
                                          </p:spTgt>
                                        </p:tgtEl>
                                        <p:attrNameLst>
                                          <p:attrName>style.visibility</p:attrName>
                                        </p:attrNameLst>
                                      </p:cBhvr>
                                      <p:to>
                                        <p:strVal val="visible"/>
                                      </p:to>
                                    </p:set>
                                  </p:childTnLst>
                                  <p:subTnLst>
                                    <p:animClr clrSpc="rgb" dir="cw">
                                      <p:cBhvr override="childStyle">
                                        <p:cTn dur="1" fill="hold" display="0" masterRel="nextClick" afterEffect="1"/>
                                        <p:tgtEl>
                                          <p:spTgt spid="49155">
                                            <p:txEl>
                                              <p:pRg st="5" end="5"/>
                                            </p:txEl>
                                          </p:spTgt>
                                        </p:tgtEl>
                                        <p:attrNameLst>
                                          <p:attrName>ppt_c</p:attrName>
                                        </p:attrNameLst>
                                      </p:cBhvr>
                                      <p:to>
                                        <a:schemeClr val="bg2"/>
                                      </p:to>
                                    </p:animClr>
                                  </p:subTnLst>
                                </p:cTn>
                              </p:par>
                              <p:par>
                                <p:cTn id="19" presetID="1" presetClass="entr" presetSubtype="0" fill="hold" grpId="0" nodeType="withEffect">
                                  <p:stCondLst>
                                    <p:cond delay="0"/>
                                  </p:stCondLst>
                                  <p:childTnLst>
                                    <p:set>
                                      <p:cBhvr>
                                        <p:cTn id="20" dur="1" fill="hold">
                                          <p:stCondLst>
                                            <p:cond delay="0"/>
                                          </p:stCondLst>
                                        </p:cTn>
                                        <p:tgtEl>
                                          <p:spTgt spid="49155">
                                            <p:txEl>
                                              <p:pRg st="6" end="6"/>
                                            </p:txEl>
                                          </p:spTgt>
                                        </p:tgtEl>
                                        <p:attrNameLst>
                                          <p:attrName>style.visibility</p:attrName>
                                        </p:attrNameLst>
                                      </p:cBhvr>
                                      <p:to>
                                        <p:strVal val="visible"/>
                                      </p:to>
                                    </p:set>
                                  </p:childTnLst>
                                  <p:subTnLst>
                                    <p:animClr clrSpc="rgb" dir="cw">
                                      <p:cBhvr override="childStyle">
                                        <p:cTn dur="1" fill="hold" display="0" masterRel="nextClick" afterEffect="1"/>
                                        <p:tgtEl>
                                          <p:spTgt spid="49155">
                                            <p:txEl>
                                              <p:pRg st="6" end="6"/>
                                            </p:txEl>
                                          </p:spTgt>
                                        </p:tgtEl>
                                        <p:attrNameLst>
                                          <p:attrName>ppt_c</p:attrName>
                                        </p:attrNameLst>
                                      </p:cBhvr>
                                      <p:to>
                                        <a:schemeClr val="bg2"/>
                                      </p:to>
                                    </p:animClr>
                                  </p:subTnLst>
                                </p:cTn>
                              </p:par>
                              <p:par>
                                <p:cTn id="21" presetID="1" presetClass="entr" presetSubtype="0" fill="hold" grpId="0" nodeType="withEffect">
                                  <p:stCondLst>
                                    <p:cond delay="0"/>
                                  </p:stCondLst>
                                  <p:childTnLst>
                                    <p:set>
                                      <p:cBhvr>
                                        <p:cTn id="22" dur="1" fill="hold">
                                          <p:stCondLst>
                                            <p:cond delay="0"/>
                                          </p:stCondLst>
                                        </p:cTn>
                                        <p:tgtEl>
                                          <p:spTgt spid="49155">
                                            <p:txEl>
                                              <p:pRg st="7" end="7"/>
                                            </p:txEl>
                                          </p:spTgt>
                                        </p:tgtEl>
                                        <p:attrNameLst>
                                          <p:attrName>style.visibility</p:attrName>
                                        </p:attrNameLst>
                                      </p:cBhvr>
                                      <p:to>
                                        <p:strVal val="visible"/>
                                      </p:to>
                                    </p:set>
                                  </p:childTnLst>
                                  <p:subTnLst>
                                    <p:animClr clrSpc="rgb" dir="cw">
                                      <p:cBhvr override="childStyle">
                                        <p:cTn dur="1" fill="hold" display="0" masterRel="nextClick" afterEffect="1"/>
                                        <p:tgtEl>
                                          <p:spTgt spid="49155">
                                            <p:txEl>
                                              <p:pRg st="7" end="7"/>
                                            </p:txEl>
                                          </p:spTgt>
                                        </p:tgtEl>
                                        <p:attrNameLst>
                                          <p:attrName>ppt_c</p:attrName>
                                        </p:attrNameLst>
                                      </p:cBhvr>
                                      <p:to>
                                        <a:schemeClr val="bg2"/>
                                      </p:to>
                                    </p:animClr>
                                  </p:subTnLst>
                                </p:cTn>
                              </p:par>
                              <p:par>
                                <p:cTn id="23" presetID="1" presetClass="entr" presetSubtype="0" fill="hold" grpId="0" nodeType="withEffect">
                                  <p:stCondLst>
                                    <p:cond delay="0"/>
                                  </p:stCondLst>
                                  <p:childTnLst>
                                    <p:set>
                                      <p:cBhvr>
                                        <p:cTn id="24" dur="1" fill="hold">
                                          <p:stCondLst>
                                            <p:cond delay="0"/>
                                          </p:stCondLst>
                                        </p:cTn>
                                        <p:tgtEl>
                                          <p:spTgt spid="49155">
                                            <p:txEl>
                                              <p:pRg st="8" end="8"/>
                                            </p:txEl>
                                          </p:spTgt>
                                        </p:tgtEl>
                                        <p:attrNameLst>
                                          <p:attrName>style.visibility</p:attrName>
                                        </p:attrNameLst>
                                      </p:cBhvr>
                                      <p:to>
                                        <p:strVal val="visible"/>
                                      </p:to>
                                    </p:set>
                                  </p:childTnLst>
                                  <p:subTnLst>
                                    <p:animClr clrSpc="rgb" dir="cw">
                                      <p:cBhvr override="childStyle">
                                        <p:cTn dur="1" fill="hold" display="0" masterRel="nextClick" afterEffect="1"/>
                                        <p:tgtEl>
                                          <p:spTgt spid="49155">
                                            <p:txEl>
                                              <p:pRg st="8" end="8"/>
                                            </p:txEl>
                                          </p:spTgt>
                                        </p:tgtEl>
                                        <p:attrNameLst>
                                          <p:attrName>ppt_c</p:attrName>
                                        </p:attrNameLst>
                                      </p:cBhvr>
                                      <p:to>
                                        <a:schemeClr val="bg2"/>
                                      </p:to>
                                    </p:animClr>
                                  </p:subTnLst>
                                </p:cTn>
                              </p:par>
                              <p:par>
                                <p:cTn id="25" presetID="1" presetClass="entr" presetSubtype="0" fill="hold" grpId="0" nodeType="withEffect">
                                  <p:stCondLst>
                                    <p:cond delay="0"/>
                                  </p:stCondLst>
                                  <p:childTnLst>
                                    <p:set>
                                      <p:cBhvr>
                                        <p:cTn id="26" dur="1" fill="hold">
                                          <p:stCondLst>
                                            <p:cond delay="0"/>
                                          </p:stCondLst>
                                        </p:cTn>
                                        <p:tgtEl>
                                          <p:spTgt spid="49155">
                                            <p:txEl>
                                              <p:pRg st="9" end="9"/>
                                            </p:txEl>
                                          </p:spTgt>
                                        </p:tgtEl>
                                        <p:attrNameLst>
                                          <p:attrName>style.visibility</p:attrName>
                                        </p:attrNameLst>
                                      </p:cBhvr>
                                      <p:to>
                                        <p:strVal val="visible"/>
                                      </p:to>
                                    </p:set>
                                  </p:childTnLst>
                                  <p:subTnLst>
                                    <p:animClr clrSpc="rgb" dir="cw">
                                      <p:cBhvr override="childStyle">
                                        <p:cTn dur="1" fill="hold" display="0" masterRel="nextClick" afterEffect="1"/>
                                        <p:tgtEl>
                                          <p:spTgt spid="49155">
                                            <p:txEl>
                                              <p:pRg st="9" end="9"/>
                                            </p:txEl>
                                          </p:spTgt>
                                        </p:tgtEl>
                                        <p:attrNameLst>
                                          <p:attrName>ppt_c</p:attrName>
                                        </p:attrNameLst>
                                      </p:cBhvr>
                                      <p:to>
                                        <a:schemeClr val="bg2"/>
                                      </p:to>
                                    </p:animClr>
                                  </p:subTnLst>
                                </p:cTn>
                              </p:par>
                              <p:par>
                                <p:cTn id="27" presetID="1" presetClass="entr" presetSubtype="0" fill="hold" grpId="0" nodeType="withEffect">
                                  <p:stCondLst>
                                    <p:cond delay="0"/>
                                  </p:stCondLst>
                                  <p:childTnLst>
                                    <p:set>
                                      <p:cBhvr>
                                        <p:cTn id="28" dur="1" fill="hold">
                                          <p:stCondLst>
                                            <p:cond delay="0"/>
                                          </p:stCondLst>
                                        </p:cTn>
                                        <p:tgtEl>
                                          <p:spTgt spid="49155">
                                            <p:txEl>
                                              <p:pRg st="10" end="10"/>
                                            </p:txEl>
                                          </p:spTgt>
                                        </p:tgtEl>
                                        <p:attrNameLst>
                                          <p:attrName>style.visibility</p:attrName>
                                        </p:attrNameLst>
                                      </p:cBhvr>
                                      <p:to>
                                        <p:strVal val="visible"/>
                                      </p:to>
                                    </p:set>
                                  </p:childTnLst>
                                  <p:subTnLst>
                                    <p:animClr clrSpc="rgb" dir="cw">
                                      <p:cBhvr override="childStyle">
                                        <p:cTn dur="1" fill="hold" display="0" masterRel="nextClick" afterEffect="1"/>
                                        <p:tgtEl>
                                          <p:spTgt spid="49155">
                                            <p:txEl>
                                              <p:pRg st="10" end="10"/>
                                            </p:txEl>
                                          </p:spTgt>
                                        </p:tgtEl>
                                        <p:attrNameLst>
                                          <p:attrName>ppt_c</p:attrName>
                                        </p:attrNameLst>
                                      </p:cBhvr>
                                      <p:to>
                                        <a:schemeClr val="bg2"/>
                                      </p:to>
                                    </p:animClr>
                                  </p:subTnLst>
                                </p:cTn>
                              </p:par>
                              <p:par>
                                <p:cTn id="29" presetID="1" presetClass="entr" presetSubtype="0" fill="hold" grpId="0" nodeType="withEffect">
                                  <p:stCondLst>
                                    <p:cond delay="0"/>
                                  </p:stCondLst>
                                  <p:childTnLst>
                                    <p:set>
                                      <p:cBhvr>
                                        <p:cTn id="30" dur="1" fill="hold">
                                          <p:stCondLst>
                                            <p:cond delay="0"/>
                                          </p:stCondLst>
                                        </p:cTn>
                                        <p:tgtEl>
                                          <p:spTgt spid="49155">
                                            <p:txEl>
                                              <p:pRg st="11" end="11"/>
                                            </p:txEl>
                                          </p:spTgt>
                                        </p:tgtEl>
                                        <p:attrNameLst>
                                          <p:attrName>style.visibility</p:attrName>
                                        </p:attrNameLst>
                                      </p:cBhvr>
                                      <p:to>
                                        <p:strVal val="visible"/>
                                      </p:to>
                                    </p:set>
                                  </p:childTnLst>
                                  <p:subTnLst>
                                    <p:animClr clrSpc="rgb" dir="cw">
                                      <p:cBhvr override="childStyle">
                                        <p:cTn dur="1" fill="hold" display="0" masterRel="nextClick" afterEffect="1"/>
                                        <p:tgtEl>
                                          <p:spTgt spid="49155">
                                            <p:txEl>
                                              <p:pRg st="11" end="11"/>
                                            </p:txEl>
                                          </p:spTgt>
                                        </p:tgtEl>
                                        <p:attrNameLst>
                                          <p:attrName>ppt_c</p:attrName>
                                        </p:attrNameLst>
                                      </p:cBhvr>
                                      <p:to>
                                        <a:schemeClr val="bg2"/>
                                      </p:to>
                                    </p:animClr>
                                  </p:subTnLst>
                                </p:cTn>
                              </p:par>
                              <p:par>
                                <p:cTn id="31" presetID="1" presetClass="entr" presetSubtype="0" fill="hold" grpId="0" nodeType="withEffect">
                                  <p:stCondLst>
                                    <p:cond delay="0"/>
                                  </p:stCondLst>
                                  <p:childTnLst>
                                    <p:set>
                                      <p:cBhvr>
                                        <p:cTn id="32" dur="1" fill="hold">
                                          <p:stCondLst>
                                            <p:cond delay="0"/>
                                          </p:stCondLst>
                                        </p:cTn>
                                        <p:tgtEl>
                                          <p:spTgt spid="49155">
                                            <p:txEl>
                                              <p:pRg st="12" end="12"/>
                                            </p:txEl>
                                          </p:spTgt>
                                        </p:tgtEl>
                                        <p:attrNameLst>
                                          <p:attrName>style.visibility</p:attrName>
                                        </p:attrNameLst>
                                      </p:cBhvr>
                                      <p:to>
                                        <p:strVal val="visible"/>
                                      </p:to>
                                    </p:set>
                                  </p:childTnLst>
                                  <p:subTnLst>
                                    <p:animClr clrSpc="rgb" dir="cw">
                                      <p:cBhvr override="childStyle">
                                        <p:cTn dur="1" fill="hold" display="0" masterRel="nextClick" afterEffect="1"/>
                                        <p:tgtEl>
                                          <p:spTgt spid="49155">
                                            <p:txEl>
                                              <p:pRg st="12" end="12"/>
                                            </p:txEl>
                                          </p:spTgt>
                                        </p:tgtEl>
                                        <p:attrNameLst>
                                          <p:attrName>ppt_c</p:attrName>
                                        </p:attrNameLst>
                                      </p:cBhvr>
                                      <p:to>
                                        <a:schemeClr val="bg2"/>
                                      </p:to>
                                    </p:animClr>
                                  </p:subTnLst>
                                </p:cTn>
                              </p:par>
                              <p:par>
                                <p:cTn id="33" presetID="1" presetClass="entr" presetSubtype="0" fill="hold" grpId="0" nodeType="withEffect">
                                  <p:stCondLst>
                                    <p:cond delay="0"/>
                                  </p:stCondLst>
                                  <p:childTnLst>
                                    <p:set>
                                      <p:cBhvr>
                                        <p:cTn id="34" dur="1" fill="hold">
                                          <p:stCondLst>
                                            <p:cond delay="0"/>
                                          </p:stCondLst>
                                        </p:cTn>
                                        <p:tgtEl>
                                          <p:spTgt spid="49155">
                                            <p:txEl>
                                              <p:pRg st="13" end="13"/>
                                            </p:txEl>
                                          </p:spTgt>
                                        </p:tgtEl>
                                        <p:attrNameLst>
                                          <p:attrName>style.visibility</p:attrName>
                                        </p:attrNameLst>
                                      </p:cBhvr>
                                      <p:to>
                                        <p:strVal val="visible"/>
                                      </p:to>
                                    </p:set>
                                  </p:childTnLst>
                                  <p:subTnLst>
                                    <p:animClr clrSpc="rgb" dir="cw">
                                      <p:cBhvr override="childStyle">
                                        <p:cTn dur="1" fill="hold" display="0" masterRel="nextClick" afterEffect="1"/>
                                        <p:tgtEl>
                                          <p:spTgt spid="49155">
                                            <p:txEl>
                                              <p:pRg st="13" end="13"/>
                                            </p:txEl>
                                          </p:spTgt>
                                        </p:tgtEl>
                                        <p:attrNameLst>
                                          <p:attrName>ppt_c</p:attrName>
                                        </p:attrNameLst>
                                      </p:cBhvr>
                                      <p:to>
                                        <a:schemeClr val="bg2"/>
                                      </p:to>
                                    </p:animClr>
                                  </p:subTnLst>
                                </p:cTn>
                              </p:par>
                              <p:par>
                                <p:cTn id="35" presetID="1" presetClass="entr" presetSubtype="0" fill="hold" grpId="0" nodeType="withEffect">
                                  <p:stCondLst>
                                    <p:cond delay="0"/>
                                  </p:stCondLst>
                                  <p:childTnLst>
                                    <p:set>
                                      <p:cBhvr>
                                        <p:cTn id="36" dur="1" fill="hold">
                                          <p:stCondLst>
                                            <p:cond delay="0"/>
                                          </p:stCondLst>
                                        </p:cTn>
                                        <p:tgtEl>
                                          <p:spTgt spid="49155">
                                            <p:txEl>
                                              <p:pRg st="14" end="14"/>
                                            </p:txEl>
                                          </p:spTgt>
                                        </p:tgtEl>
                                        <p:attrNameLst>
                                          <p:attrName>style.visibility</p:attrName>
                                        </p:attrNameLst>
                                      </p:cBhvr>
                                      <p:to>
                                        <p:strVal val="visible"/>
                                      </p:to>
                                    </p:set>
                                  </p:childTnLst>
                                  <p:subTnLst>
                                    <p:animClr clrSpc="rgb" dir="cw">
                                      <p:cBhvr override="childStyle">
                                        <p:cTn dur="1" fill="hold" display="0" masterRel="nextClick" afterEffect="1"/>
                                        <p:tgtEl>
                                          <p:spTgt spid="49155">
                                            <p:txEl>
                                              <p:pRg st="14" end="14"/>
                                            </p:txEl>
                                          </p:spTgt>
                                        </p:tgtEl>
                                        <p:attrNameLst>
                                          <p:attrName>ppt_c</p:attrName>
                                        </p:attrNameLst>
                                      </p:cBhvr>
                                      <p:to>
                                        <a:schemeClr val="bg2"/>
                                      </p:to>
                                    </p:animClr>
                                  </p:subTnLst>
                                </p:cTn>
                              </p:par>
                              <p:par>
                                <p:cTn id="37" presetID="1" presetClass="entr" presetSubtype="0" fill="hold" grpId="0" nodeType="withEffect">
                                  <p:stCondLst>
                                    <p:cond delay="0"/>
                                  </p:stCondLst>
                                  <p:childTnLst>
                                    <p:set>
                                      <p:cBhvr>
                                        <p:cTn id="38" dur="1" fill="hold">
                                          <p:stCondLst>
                                            <p:cond delay="0"/>
                                          </p:stCondLst>
                                        </p:cTn>
                                        <p:tgtEl>
                                          <p:spTgt spid="49155">
                                            <p:txEl>
                                              <p:pRg st="15" end="15"/>
                                            </p:txEl>
                                          </p:spTgt>
                                        </p:tgtEl>
                                        <p:attrNameLst>
                                          <p:attrName>style.visibility</p:attrName>
                                        </p:attrNameLst>
                                      </p:cBhvr>
                                      <p:to>
                                        <p:strVal val="visible"/>
                                      </p:to>
                                    </p:set>
                                  </p:childTnLst>
                                  <p:subTnLst>
                                    <p:animClr clrSpc="rgb" dir="cw">
                                      <p:cBhvr override="childStyle">
                                        <p:cTn dur="1" fill="hold" display="0" masterRel="nextClick" afterEffect="1"/>
                                        <p:tgtEl>
                                          <p:spTgt spid="49155">
                                            <p:txEl>
                                              <p:pRg st="15" end="15"/>
                                            </p:txEl>
                                          </p:spTgt>
                                        </p:tgtEl>
                                        <p:attrNameLst>
                                          <p:attrName>ppt_c</p:attrName>
                                        </p:attrNameLst>
                                      </p:cBhvr>
                                      <p:to>
                                        <a:schemeClr val="bg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5" grpId="0" build="p"/>
    </p:bld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GB" altLang="en-US"/>
              <a:t>Department of Computer Science   and Information Systems</a:t>
            </a:r>
            <a:endParaRPr lang="en-US" altLang="en-US"/>
          </a:p>
        </p:txBody>
      </p:sp>
      <p:sp>
        <p:nvSpPr>
          <p:cNvPr id="19459" name="Rectangle 2"/>
          <p:cNvSpPr>
            <a:spLocks noGrp="1" noChangeArrowheads="1"/>
          </p:cNvSpPr>
          <p:nvPr>
            <p:ph type="title"/>
          </p:nvPr>
        </p:nvSpPr>
        <p:spPr/>
        <p:txBody>
          <a:bodyPr/>
          <a:lstStyle/>
          <a:p>
            <a:pPr marL="342900" indent="-342900" eaLnBrk="1" hangingPunct="1"/>
            <a:r>
              <a:rPr lang="en-GB" smtClean="0"/>
              <a:t>Investigating your topic further – Old FYPs</a:t>
            </a:r>
          </a:p>
        </p:txBody>
      </p:sp>
      <p:sp>
        <p:nvSpPr>
          <p:cNvPr id="49155" name="Rectangle 3"/>
          <p:cNvSpPr>
            <a:spLocks noGrp="1" noChangeArrowheads="1"/>
          </p:cNvSpPr>
          <p:nvPr>
            <p:ph type="body" idx="1"/>
          </p:nvPr>
        </p:nvSpPr>
        <p:spPr>
          <a:xfrm>
            <a:off x="250825" y="765175"/>
            <a:ext cx="8642350" cy="5616575"/>
          </a:xfrm>
        </p:spPr>
        <p:txBody>
          <a:bodyPr/>
          <a:lstStyle/>
          <a:p>
            <a:pPr eaLnBrk="1" hangingPunct="1">
              <a:spcBef>
                <a:spcPct val="0"/>
              </a:spcBef>
              <a:spcAft>
                <a:spcPts val="1200"/>
              </a:spcAft>
            </a:pPr>
            <a:r>
              <a:rPr lang="en-US" dirty="0" smtClean="0"/>
              <a:t>The Reports and digital product of last year’s FYPs are to be found by mapping to the share – </a:t>
            </a:r>
            <a:br>
              <a:rPr lang="en-US" dirty="0" smtClean="0"/>
            </a:br>
            <a:r>
              <a:rPr lang="en-US" dirty="0" smtClean="0">
                <a:hlinkClick r:id="rId2" action="ppaction://hlinkfile"/>
              </a:rPr>
              <a:t>\\casper\fyp\2018 </a:t>
            </a:r>
            <a:r>
              <a:rPr lang="en-US" dirty="0" smtClean="0"/>
              <a:t>using your library credentials. (UN + PW)</a:t>
            </a:r>
          </a:p>
          <a:p>
            <a:pPr eaLnBrk="1" hangingPunct="1">
              <a:spcBef>
                <a:spcPct val="0"/>
              </a:spcBef>
              <a:spcAft>
                <a:spcPts val="1200"/>
              </a:spcAft>
            </a:pPr>
            <a:r>
              <a:rPr lang="en-IE" dirty="0" smtClean="0"/>
              <a:t>To connect to the share from an iMac the full address of the server is required.  On the iMac click on Go/Connect To Server.   In the dialogue box type - SMB://casper.csis.ul.ie/fyp/2018.   In the Username dialogue box use the form UL\</a:t>
            </a:r>
            <a:r>
              <a:rPr lang="en-IE" dirty="0" err="1" smtClean="0"/>
              <a:t>StudentId</a:t>
            </a:r>
            <a:r>
              <a:rPr lang="en-IE" dirty="0" smtClean="0"/>
              <a:t> (e.g. UL\0723456).  </a:t>
            </a:r>
          </a:p>
          <a:p>
            <a:pPr eaLnBrk="1" hangingPunct="1">
              <a:spcBef>
                <a:spcPct val="0"/>
              </a:spcBef>
              <a:spcAft>
                <a:spcPts val="1200"/>
              </a:spcAft>
            </a:pPr>
            <a:r>
              <a:rPr lang="en-US" dirty="0" smtClean="0"/>
              <a:t>There is a .pdf file “FYP-ProjectList-2017-2018.pdf” that contains the list of the project titles.  Each title is followed by the ID of the person who undertook the project.  You will need this ID because the project directories are identified using the Student ID.</a:t>
            </a:r>
          </a:p>
          <a:p>
            <a:pPr eaLnBrk="1" hangingPunct="1">
              <a:spcBef>
                <a:spcPct val="0"/>
              </a:spcBef>
              <a:spcAft>
                <a:spcPts val="1200"/>
              </a:spcAft>
            </a:pPr>
            <a:r>
              <a:rPr lang="en-US" dirty="0" smtClean="0"/>
              <a:t>Some other years are similarly available </a:t>
            </a:r>
            <a:r>
              <a:rPr lang="en-US" sz="2000" dirty="0" err="1" smtClean="0"/>
              <a:t>eg</a:t>
            </a:r>
            <a:r>
              <a:rPr lang="en-US" dirty="0" smtClean="0"/>
              <a:t> </a:t>
            </a:r>
            <a:r>
              <a:rPr lang="en-US" sz="2000" dirty="0" smtClean="0"/>
              <a:t>\\casper\fyp\2016 </a:t>
            </a:r>
            <a:endParaRPr lang="en-US"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9155">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49155">
                                            <p:txEl>
                                              <p:pRg st="0" end="0"/>
                                            </p:txEl>
                                          </p:spTgt>
                                        </p:tgtEl>
                                        <p:attrNameLst>
                                          <p:attrName>ppt_c</p:attrName>
                                        </p:attrNameLst>
                                      </p:cBhvr>
                                      <p:to>
                                        <a:schemeClr val="bg2"/>
                                      </p:to>
                                    </p:animClr>
                                  </p:sub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9155">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49155">
                                            <p:txEl>
                                              <p:pRg st="1" end="1"/>
                                            </p:txEl>
                                          </p:spTgt>
                                        </p:tgtEl>
                                        <p:attrNameLst>
                                          <p:attrName>ppt_c</p:attrName>
                                        </p:attrNameLst>
                                      </p:cBhvr>
                                      <p:to>
                                        <a:schemeClr val="bg2"/>
                                      </p:to>
                                    </p:animClr>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9155">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49155">
                                            <p:txEl>
                                              <p:pRg st="2" end="2"/>
                                            </p:txEl>
                                          </p:spTgt>
                                        </p:tgtEl>
                                        <p:attrNameLst>
                                          <p:attrName>ppt_c</p:attrName>
                                        </p:attrNameLst>
                                      </p:cBhvr>
                                      <p:to>
                                        <a:schemeClr val="bg2"/>
                                      </p:to>
                                    </p:animClr>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9155">
                                            <p:txEl>
                                              <p:pRg st="3" end="3"/>
                                            </p:txEl>
                                          </p:spTgt>
                                        </p:tgtEl>
                                        <p:attrNameLst>
                                          <p:attrName>style.visibility</p:attrName>
                                        </p:attrNameLst>
                                      </p:cBhvr>
                                      <p:to>
                                        <p:strVal val="visible"/>
                                      </p:to>
                                    </p:set>
                                  </p:childTnLst>
                                  <p:subTnLst>
                                    <p:animClr clrSpc="rgb" dir="cw">
                                      <p:cBhvr override="childStyle">
                                        <p:cTn dur="1" fill="hold" display="0" masterRel="nextClick" afterEffect="1"/>
                                        <p:tgtEl>
                                          <p:spTgt spid="49155">
                                            <p:txEl>
                                              <p:pRg st="3" end="3"/>
                                            </p:txEl>
                                          </p:spTgt>
                                        </p:tgtEl>
                                        <p:attrNameLst>
                                          <p:attrName>ppt_c</p:attrName>
                                        </p:attrNameLst>
                                      </p:cBhvr>
                                      <p:to>
                                        <a:schemeClr val="bg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5" grpId="0" build="p"/>
    </p:bld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GB" altLang="en-US"/>
              <a:t>Department of Computer Science   and Information Systems</a:t>
            </a:r>
            <a:endParaRPr lang="en-US" altLang="en-US"/>
          </a:p>
        </p:txBody>
      </p:sp>
      <p:sp>
        <p:nvSpPr>
          <p:cNvPr id="21507" name="Rectangle 2"/>
          <p:cNvSpPr>
            <a:spLocks noGrp="1" noChangeArrowheads="1"/>
          </p:cNvSpPr>
          <p:nvPr>
            <p:ph type="title"/>
          </p:nvPr>
        </p:nvSpPr>
        <p:spPr/>
        <p:txBody>
          <a:bodyPr/>
          <a:lstStyle/>
          <a:p>
            <a:pPr eaLnBrk="1" hangingPunct="1"/>
            <a:r>
              <a:rPr lang="en-IE" smtClean="0"/>
              <a:t>Project Presentation</a:t>
            </a:r>
            <a:endParaRPr lang="en-US" smtClean="0"/>
          </a:p>
        </p:txBody>
      </p:sp>
      <p:sp>
        <p:nvSpPr>
          <p:cNvPr id="51203" name="Rectangle 3"/>
          <p:cNvSpPr>
            <a:spLocks noGrp="1" noChangeArrowheads="1"/>
          </p:cNvSpPr>
          <p:nvPr>
            <p:ph type="body" idx="1"/>
          </p:nvPr>
        </p:nvSpPr>
        <p:spPr>
          <a:xfrm>
            <a:off x="107950" y="1052736"/>
            <a:ext cx="8856663" cy="5329014"/>
          </a:xfrm>
        </p:spPr>
        <p:txBody>
          <a:bodyPr/>
          <a:lstStyle/>
          <a:p>
            <a:pPr>
              <a:spcBef>
                <a:spcPct val="25000"/>
              </a:spcBef>
            </a:pPr>
            <a:r>
              <a:rPr lang="en-GB" sz="2000" dirty="0" smtClean="0"/>
              <a:t>In week 6 each student is required to make a mandatory presentation on their project progress.</a:t>
            </a:r>
          </a:p>
          <a:p>
            <a:pPr>
              <a:spcBef>
                <a:spcPct val="25000"/>
              </a:spcBef>
            </a:pPr>
            <a:r>
              <a:rPr lang="en-GB" sz="2000" dirty="0" smtClean="0"/>
              <a:t>The FYP Presentation will be attended two to three supervisors who will provide verbal feedback for each presenting student.   You should take note of their comments.</a:t>
            </a:r>
          </a:p>
          <a:p>
            <a:pPr>
              <a:spcBef>
                <a:spcPct val="25000"/>
              </a:spcBef>
            </a:pPr>
            <a:r>
              <a:rPr lang="en-GB" sz="2000" dirty="0" smtClean="0"/>
              <a:t>Each presentation will last 10-15 minutes.</a:t>
            </a:r>
          </a:p>
          <a:p>
            <a:r>
              <a:rPr lang="en-GB" sz="2000" dirty="0" smtClean="0"/>
              <a:t>The purpose of the FYP Presentations is to –</a:t>
            </a:r>
          </a:p>
          <a:p>
            <a:pPr lvl="1">
              <a:spcBef>
                <a:spcPct val="40000"/>
              </a:spcBef>
            </a:pPr>
            <a:r>
              <a:rPr lang="en-GB" dirty="0" smtClean="0"/>
              <a:t>Demonstrate to your supervisor, and the other attendees, just how well you understand the project.</a:t>
            </a:r>
          </a:p>
          <a:p>
            <a:pPr lvl="1">
              <a:spcBef>
                <a:spcPct val="40000"/>
              </a:spcBef>
            </a:pPr>
            <a:r>
              <a:rPr lang="en-GB" dirty="0" smtClean="0"/>
              <a:t>Outline the amount and quality of the research you have done in the area so far.</a:t>
            </a:r>
          </a:p>
          <a:p>
            <a:pPr lvl="1">
              <a:spcBef>
                <a:spcPct val="40000"/>
              </a:spcBef>
            </a:pPr>
            <a:r>
              <a:rPr lang="en-GB" dirty="0" smtClean="0"/>
              <a:t>Describe your plan for how you intend to proceed for the future.</a:t>
            </a:r>
          </a:p>
          <a:p>
            <a:pPr lvl="1">
              <a:spcBef>
                <a:spcPct val="40000"/>
              </a:spcBef>
            </a:pPr>
            <a:r>
              <a:rPr lang="en-GB" dirty="0" smtClean="0"/>
              <a:t>Obtain a proportion of your term 1 grade</a:t>
            </a:r>
            <a:endParaRPr lang="en-GB" sz="1800"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203">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51203">
                                            <p:txEl>
                                              <p:pRg st="0" end="0"/>
                                            </p:txEl>
                                          </p:spTgt>
                                        </p:tgtEl>
                                        <p:attrNameLst>
                                          <p:attrName>ppt_c</p:attrName>
                                        </p:attrNameLst>
                                      </p:cBhvr>
                                      <p:to>
                                        <a:schemeClr val="bg2"/>
                                      </p:to>
                                    </p:animClr>
                                  </p:sub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1203">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51203">
                                            <p:txEl>
                                              <p:pRg st="1" end="1"/>
                                            </p:txEl>
                                          </p:spTgt>
                                        </p:tgtEl>
                                        <p:attrNameLst>
                                          <p:attrName>ppt_c</p:attrName>
                                        </p:attrNameLst>
                                      </p:cBhvr>
                                      <p:to>
                                        <a:schemeClr val="bg2"/>
                                      </p:to>
                                    </p:animClr>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1203">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51203">
                                            <p:txEl>
                                              <p:pRg st="2" end="2"/>
                                            </p:txEl>
                                          </p:spTgt>
                                        </p:tgtEl>
                                        <p:attrNameLst>
                                          <p:attrName>ppt_c</p:attrName>
                                        </p:attrNameLst>
                                      </p:cBhvr>
                                      <p:to>
                                        <a:schemeClr val="bg2"/>
                                      </p:to>
                                    </p:animClr>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1203">
                                            <p:txEl>
                                              <p:pRg st="3" end="3"/>
                                            </p:txEl>
                                          </p:spTgt>
                                        </p:tgtEl>
                                        <p:attrNameLst>
                                          <p:attrName>style.visibility</p:attrName>
                                        </p:attrNameLst>
                                      </p:cBhvr>
                                      <p:to>
                                        <p:strVal val="visible"/>
                                      </p:to>
                                    </p:set>
                                  </p:childTnLst>
                                  <p:subTnLst>
                                    <p:animClr clrSpc="rgb" dir="cw">
                                      <p:cBhvr override="childStyle">
                                        <p:cTn dur="1" fill="hold" display="0" masterRel="nextClick" afterEffect="1"/>
                                        <p:tgtEl>
                                          <p:spTgt spid="51203">
                                            <p:txEl>
                                              <p:pRg st="3" end="3"/>
                                            </p:txEl>
                                          </p:spTgt>
                                        </p:tgtEl>
                                        <p:attrNameLst>
                                          <p:attrName>ppt_c</p:attrName>
                                        </p:attrNameLst>
                                      </p:cBhvr>
                                      <p:to>
                                        <a:schemeClr val="bg2"/>
                                      </p:to>
                                    </p:animClr>
                                  </p:subTnLst>
                                </p:cTn>
                              </p:par>
                              <p:par>
                                <p:cTn id="19" presetID="1" presetClass="entr" presetSubtype="0" fill="hold" grpId="0" nodeType="withEffect">
                                  <p:stCondLst>
                                    <p:cond delay="0"/>
                                  </p:stCondLst>
                                  <p:childTnLst>
                                    <p:set>
                                      <p:cBhvr>
                                        <p:cTn id="20" dur="1" fill="hold">
                                          <p:stCondLst>
                                            <p:cond delay="0"/>
                                          </p:stCondLst>
                                        </p:cTn>
                                        <p:tgtEl>
                                          <p:spTgt spid="51203">
                                            <p:txEl>
                                              <p:pRg st="4" end="4"/>
                                            </p:txEl>
                                          </p:spTgt>
                                        </p:tgtEl>
                                        <p:attrNameLst>
                                          <p:attrName>style.visibility</p:attrName>
                                        </p:attrNameLst>
                                      </p:cBhvr>
                                      <p:to>
                                        <p:strVal val="visible"/>
                                      </p:to>
                                    </p:set>
                                  </p:childTnLst>
                                  <p:subTnLst>
                                    <p:animClr clrSpc="rgb" dir="cw">
                                      <p:cBhvr override="childStyle">
                                        <p:cTn dur="1" fill="hold" display="0" masterRel="nextClick" afterEffect="1"/>
                                        <p:tgtEl>
                                          <p:spTgt spid="51203">
                                            <p:txEl>
                                              <p:pRg st="4" end="4"/>
                                            </p:txEl>
                                          </p:spTgt>
                                        </p:tgtEl>
                                        <p:attrNameLst>
                                          <p:attrName>ppt_c</p:attrName>
                                        </p:attrNameLst>
                                      </p:cBhvr>
                                      <p:to>
                                        <a:schemeClr val="bg2"/>
                                      </p:to>
                                    </p:animClr>
                                  </p:subTnLst>
                                </p:cTn>
                              </p:par>
                              <p:par>
                                <p:cTn id="21" presetID="1" presetClass="entr" presetSubtype="0" fill="hold" grpId="0" nodeType="withEffect">
                                  <p:stCondLst>
                                    <p:cond delay="0"/>
                                  </p:stCondLst>
                                  <p:childTnLst>
                                    <p:set>
                                      <p:cBhvr>
                                        <p:cTn id="22" dur="1" fill="hold">
                                          <p:stCondLst>
                                            <p:cond delay="0"/>
                                          </p:stCondLst>
                                        </p:cTn>
                                        <p:tgtEl>
                                          <p:spTgt spid="51203">
                                            <p:txEl>
                                              <p:pRg st="5" end="5"/>
                                            </p:txEl>
                                          </p:spTgt>
                                        </p:tgtEl>
                                        <p:attrNameLst>
                                          <p:attrName>style.visibility</p:attrName>
                                        </p:attrNameLst>
                                      </p:cBhvr>
                                      <p:to>
                                        <p:strVal val="visible"/>
                                      </p:to>
                                    </p:set>
                                  </p:childTnLst>
                                  <p:subTnLst>
                                    <p:animClr clrSpc="rgb" dir="cw">
                                      <p:cBhvr override="childStyle">
                                        <p:cTn dur="1" fill="hold" display="0" masterRel="nextClick" afterEffect="1"/>
                                        <p:tgtEl>
                                          <p:spTgt spid="51203">
                                            <p:txEl>
                                              <p:pRg st="5" end="5"/>
                                            </p:txEl>
                                          </p:spTgt>
                                        </p:tgtEl>
                                        <p:attrNameLst>
                                          <p:attrName>ppt_c</p:attrName>
                                        </p:attrNameLst>
                                      </p:cBhvr>
                                      <p:to>
                                        <a:schemeClr val="bg2"/>
                                      </p:to>
                                    </p:animClr>
                                  </p:subTnLst>
                                </p:cTn>
                              </p:par>
                              <p:par>
                                <p:cTn id="23" presetID="1" presetClass="entr" presetSubtype="0" fill="hold" grpId="0" nodeType="withEffect">
                                  <p:stCondLst>
                                    <p:cond delay="0"/>
                                  </p:stCondLst>
                                  <p:childTnLst>
                                    <p:set>
                                      <p:cBhvr>
                                        <p:cTn id="24" dur="1" fill="hold">
                                          <p:stCondLst>
                                            <p:cond delay="0"/>
                                          </p:stCondLst>
                                        </p:cTn>
                                        <p:tgtEl>
                                          <p:spTgt spid="51203">
                                            <p:txEl>
                                              <p:pRg st="6" end="6"/>
                                            </p:txEl>
                                          </p:spTgt>
                                        </p:tgtEl>
                                        <p:attrNameLst>
                                          <p:attrName>style.visibility</p:attrName>
                                        </p:attrNameLst>
                                      </p:cBhvr>
                                      <p:to>
                                        <p:strVal val="visible"/>
                                      </p:to>
                                    </p:set>
                                  </p:childTnLst>
                                  <p:subTnLst>
                                    <p:animClr clrSpc="rgb" dir="cw">
                                      <p:cBhvr override="childStyle">
                                        <p:cTn dur="1" fill="hold" display="0" masterRel="nextClick" afterEffect="1"/>
                                        <p:tgtEl>
                                          <p:spTgt spid="51203">
                                            <p:txEl>
                                              <p:pRg st="6" end="6"/>
                                            </p:txEl>
                                          </p:spTgt>
                                        </p:tgtEl>
                                        <p:attrNameLst>
                                          <p:attrName>ppt_c</p:attrName>
                                        </p:attrNameLst>
                                      </p:cBhvr>
                                      <p:to>
                                        <a:schemeClr val="bg2"/>
                                      </p:to>
                                    </p:animClr>
                                  </p:subTnLst>
                                </p:cTn>
                              </p:par>
                              <p:par>
                                <p:cTn id="25" presetID="1" presetClass="entr" presetSubtype="0" fill="hold" grpId="0" nodeType="withEffect">
                                  <p:stCondLst>
                                    <p:cond delay="0"/>
                                  </p:stCondLst>
                                  <p:childTnLst>
                                    <p:set>
                                      <p:cBhvr>
                                        <p:cTn id="26" dur="1" fill="hold">
                                          <p:stCondLst>
                                            <p:cond delay="0"/>
                                          </p:stCondLst>
                                        </p:cTn>
                                        <p:tgtEl>
                                          <p:spTgt spid="51203">
                                            <p:txEl>
                                              <p:pRg st="7" end="7"/>
                                            </p:txEl>
                                          </p:spTgt>
                                        </p:tgtEl>
                                        <p:attrNameLst>
                                          <p:attrName>style.visibility</p:attrName>
                                        </p:attrNameLst>
                                      </p:cBhvr>
                                      <p:to>
                                        <p:strVal val="visible"/>
                                      </p:to>
                                    </p:set>
                                  </p:childTnLst>
                                  <p:subTnLst>
                                    <p:animClr clrSpc="rgb" dir="cw">
                                      <p:cBhvr override="childStyle">
                                        <p:cTn dur="1" fill="hold" display="0" masterRel="nextClick" afterEffect="1"/>
                                        <p:tgtEl>
                                          <p:spTgt spid="51203">
                                            <p:txEl>
                                              <p:pRg st="7" end="7"/>
                                            </p:txEl>
                                          </p:spTgt>
                                        </p:tgtEl>
                                        <p:attrNameLst>
                                          <p:attrName>ppt_c</p:attrName>
                                        </p:attrNameLst>
                                      </p:cBhvr>
                                      <p:to>
                                        <a:schemeClr val="bg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smtClean="0"/>
              <a:t>Term 1 Grading</a:t>
            </a:r>
            <a:endParaRPr lang="en-IE" dirty="0"/>
          </a:p>
        </p:txBody>
      </p:sp>
      <p:sp>
        <p:nvSpPr>
          <p:cNvPr id="3" name="Content Placeholder 2"/>
          <p:cNvSpPr>
            <a:spLocks noGrp="1"/>
          </p:cNvSpPr>
          <p:nvPr>
            <p:ph idx="1"/>
          </p:nvPr>
        </p:nvSpPr>
        <p:spPr/>
        <p:txBody>
          <a:bodyPr/>
          <a:lstStyle/>
          <a:p>
            <a:r>
              <a:rPr lang="en-IE" dirty="0" smtClean="0"/>
              <a:t>FYPs are marked under 2 modules, one in term 1, one in term 2.</a:t>
            </a:r>
          </a:p>
          <a:p>
            <a:pPr lvl="6"/>
            <a:endParaRPr lang="en-IE" dirty="0" smtClean="0"/>
          </a:p>
          <a:p>
            <a:r>
              <a:rPr lang="en-IE" dirty="0" smtClean="0"/>
              <a:t>Term 1:</a:t>
            </a:r>
          </a:p>
          <a:p>
            <a:pPr lvl="1"/>
            <a:r>
              <a:rPr lang="en-IE" dirty="0" smtClean="0"/>
              <a:t>Process, meetings </a:t>
            </a:r>
            <a:r>
              <a:rPr lang="en-IE" dirty="0"/>
              <a:t>5</a:t>
            </a:r>
            <a:r>
              <a:rPr lang="en-IE" dirty="0" smtClean="0"/>
              <a:t>-20%:</a:t>
            </a:r>
            <a:endParaRPr lang="en-IE" dirty="0" smtClean="0"/>
          </a:p>
          <a:p>
            <a:pPr lvl="2"/>
            <a:r>
              <a:rPr lang="en-IE" dirty="0" smtClean="0"/>
              <a:t>Deliverables between meetings</a:t>
            </a:r>
          </a:p>
          <a:p>
            <a:pPr lvl="2"/>
            <a:r>
              <a:rPr lang="en-IE" dirty="0" smtClean="0"/>
              <a:t>Attendance</a:t>
            </a:r>
          </a:p>
          <a:p>
            <a:pPr lvl="2"/>
            <a:r>
              <a:rPr lang="en-IE" dirty="0" smtClean="0"/>
              <a:t>Soft skills</a:t>
            </a:r>
          </a:p>
          <a:p>
            <a:pPr lvl="2"/>
            <a:r>
              <a:rPr lang="en-IE" dirty="0" smtClean="0"/>
              <a:t>Absorbing guidance</a:t>
            </a:r>
          </a:p>
          <a:p>
            <a:pPr lvl="1"/>
            <a:r>
              <a:rPr lang="en-IE" dirty="0" smtClean="0"/>
              <a:t>Week 6 Presentation </a:t>
            </a:r>
            <a:r>
              <a:rPr lang="en-IE" dirty="0" smtClean="0"/>
              <a:t>10-20%:</a:t>
            </a:r>
            <a:endParaRPr lang="en-IE" dirty="0" smtClean="0"/>
          </a:p>
          <a:p>
            <a:pPr lvl="2"/>
            <a:r>
              <a:rPr lang="en-IE" dirty="0" smtClean="0"/>
              <a:t>Accurate summary of FYP</a:t>
            </a:r>
          </a:p>
          <a:p>
            <a:pPr lvl="2"/>
            <a:r>
              <a:rPr lang="en-IE" dirty="0" smtClean="0"/>
              <a:t>Identifying the relevant literature/material</a:t>
            </a:r>
          </a:p>
          <a:p>
            <a:pPr lvl="2"/>
            <a:r>
              <a:rPr lang="en-IE" dirty="0" smtClean="0"/>
              <a:t>Absorbing the relevant literature/material</a:t>
            </a:r>
          </a:p>
          <a:p>
            <a:pPr lvl="2"/>
            <a:r>
              <a:rPr lang="en-IE" dirty="0" smtClean="0"/>
              <a:t>Basic approach/prototype proposed</a:t>
            </a:r>
          </a:p>
          <a:p>
            <a:pPr lvl="2"/>
            <a:r>
              <a:rPr lang="en-IE" dirty="0" smtClean="0"/>
              <a:t>Having a plan</a:t>
            </a:r>
          </a:p>
          <a:p>
            <a:pPr lvl="1"/>
            <a:r>
              <a:rPr lang="en-IE" dirty="0" smtClean="0"/>
              <a:t>Interim report</a:t>
            </a:r>
            <a:r>
              <a:rPr lang="en-IE" dirty="0"/>
              <a:t> </a:t>
            </a:r>
            <a:r>
              <a:rPr lang="en-IE" dirty="0" smtClean="0"/>
              <a:t>and supplementary material 40-60%</a:t>
            </a:r>
            <a:endParaRPr lang="en-IE" dirty="0"/>
          </a:p>
        </p:txBody>
      </p:sp>
      <p:sp>
        <p:nvSpPr>
          <p:cNvPr id="4" name="Footer Placeholder 3"/>
          <p:cNvSpPr>
            <a:spLocks noGrp="1"/>
          </p:cNvSpPr>
          <p:nvPr>
            <p:ph type="ftr" sz="quarter" idx="10"/>
          </p:nvPr>
        </p:nvSpPr>
        <p:spPr/>
        <p:txBody>
          <a:bodyPr/>
          <a:lstStyle/>
          <a:p>
            <a:pPr>
              <a:defRPr/>
            </a:pPr>
            <a:r>
              <a:rPr lang="en-GB" altLang="en-US" smtClean="0"/>
              <a:t>Department of Computer Science   and Information Systems</a:t>
            </a:r>
            <a:endParaRPr lang="en-US" altLang="en-US"/>
          </a:p>
        </p:txBody>
      </p:sp>
    </p:spTree>
    <p:extLst>
      <p:ext uri="{BB962C8B-B14F-4D97-AF65-F5344CB8AC3E}">
        <p14:creationId xmlns:p14="http://schemas.microsoft.com/office/powerpoint/2010/main" val="397123946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smtClean="0"/>
              <a:t>Marks to Grades – both terms</a:t>
            </a:r>
            <a:endParaRPr lang="en-US" dirty="0"/>
          </a:p>
        </p:txBody>
      </p:sp>
      <p:sp>
        <p:nvSpPr>
          <p:cNvPr id="3" name="Content Placeholder 2"/>
          <p:cNvSpPr>
            <a:spLocks noGrp="1"/>
          </p:cNvSpPr>
          <p:nvPr>
            <p:ph idx="1"/>
          </p:nvPr>
        </p:nvSpPr>
        <p:spPr>
          <a:xfrm>
            <a:off x="457200" y="1054101"/>
            <a:ext cx="8229600" cy="3959076"/>
          </a:xfrm>
        </p:spPr>
        <p:txBody>
          <a:bodyPr/>
          <a:lstStyle/>
          <a:p>
            <a:pPr eaLnBrk="1" hangingPunct="1">
              <a:lnSpc>
                <a:spcPct val="80000"/>
              </a:lnSpc>
            </a:pPr>
            <a:r>
              <a:rPr lang="en-IE" altLang="en-US" sz="2800" dirty="0"/>
              <a:t>30%  D2   </a:t>
            </a:r>
          </a:p>
          <a:p>
            <a:pPr eaLnBrk="1" hangingPunct="1">
              <a:lnSpc>
                <a:spcPct val="80000"/>
              </a:lnSpc>
            </a:pPr>
            <a:r>
              <a:rPr lang="en-IE" altLang="en-US" sz="2800" dirty="0"/>
              <a:t>35%  D1</a:t>
            </a:r>
          </a:p>
          <a:p>
            <a:pPr eaLnBrk="1" hangingPunct="1">
              <a:lnSpc>
                <a:spcPct val="80000"/>
              </a:lnSpc>
            </a:pPr>
            <a:r>
              <a:rPr lang="en-IE" altLang="en-US" sz="2800" dirty="0"/>
              <a:t>40%  C3</a:t>
            </a:r>
          </a:p>
          <a:p>
            <a:pPr eaLnBrk="1" hangingPunct="1">
              <a:lnSpc>
                <a:spcPct val="80000"/>
              </a:lnSpc>
            </a:pPr>
            <a:r>
              <a:rPr lang="en-IE" altLang="en-US" sz="2800" dirty="0"/>
              <a:t>48%  C2</a:t>
            </a:r>
          </a:p>
          <a:p>
            <a:pPr eaLnBrk="1" hangingPunct="1">
              <a:lnSpc>
                <a:spcPct val="80000"/>
              </a:lnSpc>
            </a:pPr>
            <a:r>
              <a:rPr lang="en-IE" altLang="en-US" sz="2800" dirty="0"/>
              <a:t>52%  C1</a:t>
            </a:r>
          </a:p>
          <a:p>
            <a:pPr eaLnBrk="1" hangingPunct="1">
              <a:lnSpc>
                <a:spcPct val="80000"/>
              </a:lnSpc>
            </a:pPr>
            <a:r>
              <a:rPr lang="en-IE" altLang="en-US" sz="2800" dirty="0"/>
              <a:t>56%  B3</a:t>
            </a:r>
          </a:p>
          <a:p>
            <a:pPr eaLnBrk="1" hangingPunct="1">
              <a:lnSpc>
                <a:spcPct val="80000"/>
              </a:lnSpc>
            </a:pPr>
            <a:r>
              <a:rPr lang="en-IE" altLang="en-US" sz="2800" dirty="0"/>
              <a:t>60%  B2    </a:t>
            </a:r>
          </a:p>
          <a:p>
            <a:pPr eaLnBrk="1" hangingPunct="1">
              <a:lnSpc>
                <a:spcPct val="80000"/>
              </a:lnSpc>
            </a:pPr>
            <a:r>
              <a:rPr lang="en-IE" altLang="en-US" sz="2800" dirty="0"/>
              <a:t>64%  B1</a:t>
            </a:r>
          </a:p>
          <a:p>
            <a:pPr eaLnBrk="1" hangingPunct="1">
              <a:lnSpc>
                <a:spcPct val="80000"/>
              </a:lnSpc>
            </a:pPr>
            <a:r>
              <a:rPr lang="en-IE" altLang="en-US" sz="2800" dirty="0"/>
              <a:t>72%  A2    </a:t>
            </a:r>
          </a:p>
          <a:p>
            <a:pPr eaLnBrk="1" hangingPunct="1">
              <a:lnSpc>
                <a:spcPct val="80000"/>
              </a:lnSpc>
            </a:pPr>
            <a:r>
              <a:rPr lang="en-IE" altLang="en-US" sz="2800" dirty="0"/>
              <a:t>80%  A1</a:t>
            </a:r>
            <a:endParaRPr lang="en-US" altLang="en-US" sz="2800" dirty="0"/>
          </a:p>
          <a:p>
            <a:endParaRPr lang="en-US" dirty="0"/>
          </a:p>
        </p:txBody>
      </p:sp>
      <p:sp>
        <p:nvSpPr>
          <p:cNvPr id="4" name="Footer Placeholder 3"/>
          <p:cNvSpPr>
            <a:spLocks noGrp="1"/>
          </p:cNvSpPr>
          <p:nvPr>
            <p:ph type="ftr" sz="quarter" idx="10"/>
          </p:nvPr>
        </p:nvSpPr>
        <p:spPr/>
        <p:txBody>
          <a:bodyPr/>
          <a:lstStyle/>
          <a:p>
            <a:pPr>
              <a:defRPr/>
            </a:pPr>
            <a:r>
              <a:rPr lang="en-GB" altLang="en-US" smtClean="0"/>
              <a:t>Department of Computer Science   and Information Systems</a:t>
            </a:r>
            <a:endParaRPr lang="en-US" altLang="en-US"/>
          </a:p>
        </p:txBody>
      </p:sp>
    </p:spTree>
    <p:extLst>
      <p:ext uri="{BB962C8B-B14F-4D97-AF65-F5344CB8AC3E}">
        <p14:creationId xmlns:p14="http://schemas.microsoft.com/office/powerpoint/2010/main" val="330130830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smtClean="0"/>
              <a:t>CS/Games Marking Schema, Term 1</a:t>
            </a:r>
            <a:endParaRPr lang="en-US" dirty="0"/>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103653943"/>
              </p:ext>
            </p:extLst>
          </p:nvPr>
        </p:nvGraphicFramePr>
        <p:xfrm>
          <a:off x="899592" y="980728"/>
          <a:ext cx="6533718" cy="5049424"/>
        </p:xfrm>
        <a:graphic>
          <a:graphicData uri="http://schemas.openxmlformats.org/drawingml/2006/table">
            <a:tbl>
              <a:tblPr firstRow="1" firstCol="1" bandRow="1">
                <a:tableStyleId>{5C22544A-7EE6-4342-B048-85BDC9FD1C3A}</a:tableStyleId>
              </a:tblPr>
              <a:tblGrid>
                <a:gridCol w="1746530">
                  <a:extLst>
                    <a:ext uri="{9D8B030D-6E8A-4147-A177-3AD203B41FA5}">
                      <a16:colId xmlns:a16="http://schemas.microsoft.com/office/drawing/2014/main" val="56135236"/>
                    </a:ext>
                  </a:extLst>
                </a:gridCol>
                <a:gridCol w="3059508">
                  <a:extLst>
                    <a:ext uri="{9D8B030D-6E8A-4147-A177-3AD203B41FA5}">
                      <a16:colId xmlns:a16="http://schemas.microsoft.com/office/drawing/2014/main" val="2391981832"/>
                    </a:ext>
                  </a:extLst>
                </a:gridCol>
                <a:gridCol w="925103">
                  <a:extLst>
                    <a:ext uri="{9D8B030D-6E8A-4147-A177-3AD203B41FA5}">
                      <a16:colId xmlns:a16="http://schemas.microsoft.com/office/drawing/2014/main" val="3453204922"/>
                    </a:ext>
                  </a:extLst>
                </a:gridCol>
                <a:gridCol w="802577">
                  <a:extLst>
                    <a:ext uri="{9D8B030D-6E8A-4147-A177-3AD203B41FA5}">
                      <a16:colId xmlns:a16="http://schemas.microsoft.com/office/drawing/2014/main" val="925818433"/>
                    </a:ext>
                  </a:extLst>
                </a:gridCol>
              </a:tblGrid>
              <a:tr h="1049687">
                <a:tc>
                  <a:txBody>
                    <a:bodyPr/>
                    <a:lstStyle/>
                    <a:p>
                      <a:pPr>
                        <a:lnSpc>
                          <a:spcPct val="115000"/>
                        </a:lnSpc>
                        <a:spcAft>
                          <a:spcPts val="0"/>
                        </a:spcAft>
                      </a:pPr>
                      <a:r>
                        <a:rPr lang="en-IE" sz="1100">
                          <a:effectLst/>
                        </a:rPr>
                        <a:t>Graded Element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E" sz="1100">
                          <a:effectLst/>
                        </a:rPr>
                        <a:t>Description</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E" sz="1100">
                          <a:effectLst/>
                        </a:rPr>
                        <a:t>% Awarded for Graded Element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E" sz="1100">
                          <a:effectLst/>
                        </a:rPr>
                        <a:t>Mark Obtained</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655937964"/>
                  </a:ext>
                </a:extLst>
              </a:tr>
              <a:tr h="1049687">
                <a:tc>
                  <a:txBody>
                    <a:bodyPr/>
                    <a:lstStyle/>
                    <a:p>
                      <a:pPr>
                        <a:lnSpc>
                          <a:spcPct val="115000"/>
                        </a:lnSpc>
                        <a:spcAft>
                          <a:spcPts val="0"/>
                        </a:spcAft>
                      </a:pPr>
                      <a:r>
                        <a:rPr lang="en-IE" sz="1100">
                          <a:effectLst/>
                        </a:rPr>
                        <a:t>Process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E" sz="1100">
                          <a:effectLst/>
                        </a:rPr>
                        <a:t>Students will be assessed on their ability to absorb/act on guidance given by their supervisor, and on their achievement of agreed deliverables between meetings.</a:t>
                      </a:r>
                      <a:endParaRPr lang="en-US" sz="1100">
                        <a:effectLst/>
                      </a:endParaRPr>
                    </a:p>
                    <a:p>
                      <a:pPr>
                        <a:lnSpc>
                          <a:spcPct val="115000"/>
                        </a:lnSpc>
                        <a:spcAft>
                          <a:spcPts val="0"/>
                        </a:spcAft>
                      </a:pPr>
                      <a:r>
                        <a:rPr lang="en-IE" sz="11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E" sz="1100">
                          <a:effectLst/>
                        </a:rPr>
                        <a:t>20%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E" sz="11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444275400"/>
                  </a:ext>
                </a:extLst>
              </a:tr>
              <a:tr h="1262356">
                <a:tc>
                  <a:txBody>
                    <a:bodyPr/>
                    <a:lstStyle/>
                    <a:p>
                      <a:pPr>
                        <a:lnSpc>
                          <a:spcPct val="115000"/>
                        </a:lnSpc>
                        <a:spcAft>
                          <a:spcPts val="0"/>
                        </a:spcAft>
                      </a:pPr>
                      <a:r>
                        <a:rPr lang="en-IE" sz="1100">
                          <a:effectLst/>
                        </a:rPr>
                        <a:t>Presentations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E" sz="1100">
                          <a:effectLst/>
                        </a:rPr>
                        <a:t>Students will be assessed on their ability to accurately summarize their project theme, on the relevant literature/material identified and absorbed and on elucidating their proposed approach.</a:t>
                      </a:r>
                      <a:endParaRPr lang="en-US" sz="1100">
                        <a:effectLst/>
                      </a:endParaRPr>
                    </a:p>
                    <a:p>
                      <a:pPr>
                        <a:lnSpc>
                          <a:spcPct val="115000"/>
                        </a:lnSpc>
                        <a:spcAft>
                          <a:spcPts val="0"/>
                        </a:spcAft>
                      </a:pPr>
                      <a:r>
                        <a:rPr lang="en-IE" sz="11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E" sz="1100">
                          <a:effectLst/>
                        </a:rPr>
                        <a:t>20%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E" sz="11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762072467"/>
                  </a:ext>
                </a:extLst>
              </a:tr>
              <a:tr h="1687694">
                <a:tc>
                  <a:txBody>
                    <a:bodyPr/>
                    <a:lstStyle/>
                    <a:p>
                      <a:pPr>
                        <a:lnSpc>
                          <a:spcPct val="115000"/>
                        </a:lnSpc>
                        <a:spcAft>
                          <a:spcPts val="0"/>
                        </a:spcAft>
                      </a:pPr>
                      <a:r>
                        <a:rPr lang="en-IE" sz="1100">
                          <a:effectLst/>
                        </a:rPr>
                        <a:t>Interim Reports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E" sz="1100">
                          <a:effectLst/>
                        </a:rPr>
                        <a:t>Students will be assessed on their ability to accurately contextualize/motivate their work, to derive a traceable research question(s)/objectives from that context, to present a substantial, relevant state-of-the-art for their work and to plan for the remainder of the project.</a:t>
                      </a:r>
                      <a:endParaRPr lang="en-US" sz="1100">
                        <a:effectLst/>
                      </a:endParaRPr>
                    </a:p>
                    <a:p>
                      <a:pPr>
                        <a:lnSpc>
                          <a:spcPct val="115000"/>
                        </a:lnSpc>
                        <a:spcAft>
                          <a:spcPts val="0"/>
                        </a:spcAft>
                      </a:pPr>
                      <a:r>
                        <a:rPr lang="en-IE" sz="11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E" sz="1100">
                          <a:effectLst/>
                        </a:rPr>
                        <a:t>60%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IE" sz="1100" dirty="0">
                          <a:effectLst/>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390299056"/>
                  </a:ext>
                </a:extLst>
              </a:tr>
            </a:tbl>
          </a:graphicData>
        </a:graphic>
      </p:graphicFrame>
      <p:sp>
        <p:nvSpPr>
          <p:cNvPr id="4" name="Footer Placeholder 3"/>
          <p:cNvSpPr>
            <a:spLocks noGrp="1"/>
          </p:cNvSpPr>
          <p:nvPr>
            <p:ph type="ftr" sz="quarter" idx="10"/>
          </p:nvPr>
        </p:nvSpPr>
        <p:spPr/>
        <p:txBody>
          <a:bodyPr/>
          <a:lstStyle/>
          <a:p>
            <a:pPr>
              <a:defRPr/>
            </a:pPr>
            <a:r>
              <a:rPr lang="en-GB" altLang="en-US" smtClean="0"/>
              <a:t>Department of Computer Science   and Information Systems</a:t>
            </a:r>
            <a:endParaRPr lang="en-US" altLang="en-US"/>
          </a:p>
        </p:txBody>
      </p:sp>
    </p:spTree>
    <p:extLst>
      <p:ext uri="{BB962C8B-B14F-4D97-AF65-F5344CB8AC3E}">
        <p14:creationId xmlns:p14="http://schemas.microsoft.com/office/powerpoint/2010/main" val="38888452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smtClean="0"/>
              <a:t>MMPT Marking Schema, Term 1</a:t>
            </a:r>
            <a:endParaRPr lang="en-US" dirty="0"/>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2597085271"/>
              </p:ext>
            </p:extLst>
          </p:nvPr>
        </p:nvGraphicFramePr>
        <p:xfrm>
          <a:off x="457200" y="765175"/>
          <a:ext cx="8229600" cy="5616576"/>
        </p:xfrm>
        <a:graphic>
          <a:graphicData uri="http://schemas.openxmlformats.org/drawingml/2006/table">
            <a:tbl>
              <a:tblPr firstRow="1" firstCol="1" bandRow="1">
                <a:tableStyleId>{5C22544A-7EE6-4342-B048-85BDC9FD1C3A}</a:tableStyleId>
              </a:tblPr>
              <a:tblGrid>
                <a:gridCol w="2199857">
                  <a:extLst>
                    <a:ext uri="{9D8B030D-6E8A-4147-A177-3AD203B41FA5}">
                      <a16:colId xmlns:a16="http://schemas.microsoft.com/office/drawing/2014/main" val="137145811"/>
                    </a:ext>
                  </a:extLst>
                </a:gridCol>
                <a:gridCol w="3853629">
                  <a:extLst>
                    <a:ext uri="{9D8B030D-6E8A-4147-A177-3AD203B41FA5}">
                      <a16:colId xmlns:a16="http://schemas.microsoft.com/office/drawing/2014/main" val="1521961599"/>
                    </a:ext>
                  </a:extLst>
                </a:gridCol>
                <a:gridCol w="1165220">
                  <a:extLst>
                    <a:ext uri="{9D8B030D-6E8A-4147-A177-3AD203B41FA5}">
                      <a16:colId xmlns:a16="http://schemas.microsoft.com/office/drawing/2014/main" val="4158738632"/>
                    </a:ext>
                  </a:extLst>
                </a:gridCol>
                <a:gridCol w="1010894">
                  <a:extLst>
                    <a:ext uri="{9D8B030D-6E8A-4147-A177-3AD203B41FA5}">
                      <a16:colId xmlns:a16="http://schemas.microsoft.com/office/drawing/2014/main" val="986465582"/>
                    </a:ext>
                  </a:extLst>
                </a:gridCol>
              </a:tblGrid>
              <a:tr h="526554">
                <a:tc>
                  <a:txBody>
                    <a:bodyPr/>
                    <a:lstStyle/>
                    <a:p>
                      <a:pPr>
                        <a:lnSpc>
                          <a:spcPct val="115000"/>
                        </a:lnSpc>
                        <a:spcAft>
                          <a:spcPts val="0"/>
                        </a:spcAft>
                      </a:pPr>
                      <a:r>
                        <a:rPr lang="en-GB" sz="1000">
                          <a:effectLst/>
                        </a:rPr>
                        <a:t>Graded Element</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2437" marR="62437" marT="0" marB="0"/>
                </a:tc>
                <a:tc>
                  <a:txBody>
                    <a:bodyPr/>
                    <a:lstStyle/>
                    <a:p>
                      <a:pPr>
                        <a:lnSpc>
                          <a:spcPct val="115000"/>
                        </a:lnSpc>
                        <a:spcAft>
                          <a:spcPts val="0"/>
                        </a:spcAft>
                      </a:pPr>
                      <a:r>
                        <a:rPr lang="en-GB" sz="1000">
                          <a:effectLst/>
                        </a:rPr>
                        <a:t>Description</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2437" marR="62437" marT="0" marB="0"/>
                </a:tc>
                <a:tc>
                  <a:txBody>
                    <a:bodyPr/>
                    <a:lstStyle/>
                    <a:p>
                      <a:pPr>
                        <a:lnSpc>
                          <a:spcPct val="115000"/>
                        </a:lnSpc>
                        <a:spcAft>
                          <a:spcPts val="0"/>
                        </a:spcAft>
                      </a:pPr>
                      <a:r>
                        <a:rPr lang="en-GB" sz="1000">
                          <a:effectLst/>
                        </a:rPr>
                        <a:t>% Awarded for Graded Element</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2437" marR="62437" marT="0" marB="0"/>
                </a:tc>
                <a:tc>
                  <a:txBody>
                    <a:bodyPr/>
                    <a:lstStyle/>
                    <a:p>
                      <a:pPr>
                        <a:lnSpc>
                          <a:spcPct val="115000"/>
                        </a:lnSpc>
                        <a:spcAft>
                          <a:spcPts val="0"/>
                        </a:spcAft>
                      </a:pPr>
                      <a:r>
                        <a:rPr lang="en-GB" sz="1000">
                          <a:effectLst/>
                        </a:rPr>
                        <a:t>Mark Obtained</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2437" marR="62437" marT="0" marB="0"/>
                </a:tc>
                <a:extLst>
                  <a:ext uri="{0D108BD9-81ED-4DB2-BD59-A6C34878D82A}">
                    <a16:rowId xmlns:a16="http://schemas.microsoft.com/office/drawing/2014/main" val="3737850077"/>
                  </a:ext>
                </a:extLst>
              </a:tr>
              <a:tr h="1053108">
                <a:tc>
                  <a:txBody>
                    <a:bodyPr/>
                    <a:lstStyle/>
                    <a:p>
                      <a:pPr>
                        <a:lnSpc>
                          <a:spcPct val="115000"/>
                        </a:lnSpc>
                        <a:spcAft>
                          <a:spcPts val="0"/>
                        </a:spcAft>
                      </a:pPr>
                      <a:r>
                        <a:rPr lang="en-GB" sz="1000">
                          <a:effectLst/>
                        </a:rPr>
                        <a:t>Process</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2437" marR="62437" marT="0" marB="0"/>
                </a:tc>
                <a:tc>
                  <a:txBody>
                    <a:bodyPr/>
                    <a:lstStyle/>
                    <a:p>
                      <a:pPr>
                        <a:lnSpc>
                          <a:spcPct val="115000"/>
                        </a:lnSpc>
                        <a:spcAft>
                          <a:spcPts val="0"/>
                        </a:spcAft>
                      </a:pPr>
                      <a:r>
                        <a:rPr lang="en-GB" sz="1000">
                          <a:effectLst/>
                        </a:rPr>
                        <a:t>Under this graded element students will be assessed on the basis of their ability to absorb/act on guidance given by the supervisor, and achieving agreed deliverables between meetings.</a:t>
                      </a:r>
                      <a:endParaRPr lang="en-US" sz="1000">
                        <a:effectLst/>
                      </a:endParaRPr>
                    </a:p>
                    <a:p>
                      <a:pPr>
                        <a:lnSpc>
                          <a:spcPct val="115000"/>
                        </a:lnSpc>
                        <a:spcAft>
                          <a:spcPts val="0"/>
                        </a:spcAft>
                      </a:pPr>
                      <a:r>
                        <a:rPr lang="en-GB" sz="1000">
                          <a:effectLst/>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2437" marR="62437" marT="0" marB="0"/>
                </a:tc>
                <a:tc>
                  <a:txBody>
                    <a:bodyPr/>
                    <a:lstStyle/>
                    <a:p>
                      <a:pPr>
                        <a:lnSpc>
                          <a:spcPct val="115000"/>
                        </a:lnSpc>
                        <a:spcAft>
                          <a:spcPts val="0"/>
                        </a:spcAft>
                      </a:pPr>
                      <a:r>
                        <a:rPr lang="en-GB" sz="1000">
                          <a:effectLst/>
                        </a:rPr>
                        <a:t>20%</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2437" marR="62437" marT="0" marB="0"/>
                </a:tc>
                <a:tc>
                  <a:txBody>
                    <a:bodyPr/>
                    <a:lstStyle/>
                    <a:p>
                      <a:pPr>
                        <a:lnSpc>
                          <a:spcPct val="115000"/>
                        </a:lnSpc>
                        <a:spcAft>
                          <a:spcPts val="0"/>
                        </a:spcAft>
                      </a:pPr>
                      <a:r>
                        <a:rPr lang="en-GB" sz="1000">
                          <a:effectLst/>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2437" marR="62437" marT="0" marB="0"/>
                </a:tc>
                <a:extLst>
                  <a:ext uri="{0D108BD9-81ED-4DB2-BD59-A6C34878D82A}">
                    <a16:rowId xmlns:a16="http://schemas.microsoft.com/office/drawing/2014/main" val="3550889620"/>
                  </a:ext>
                </a:extLst>
              </a:tr>
              <a:tr h="1228626">
                <a:tc>
                  <a:txBody>
                    <a:bodyPr/>
                    <a:lstStyle/>
                    <a:p>
                      <a:pPr>
                        <a:lnSpc>
                          <a:spcPct val="115000"/>
                        </a:lnSpc>
                        <a:spcAft>
                          <a:spcPts val="0"/>
                        </a:spcAft>
                      </a:pPr>
                      <a:r>
                        <a:rPr lang="en-GB" sz="1000">
                          <a:effectLst/>
                        </a:rPr>
                        <a:t>Presentations</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2437" marR="62437" marT="0" marB="0"/>
                </a:tc>
                <a:tc>
                  <a:txBody>
                    <a:bodyPr/>
                    <a:lstStyle/>
                    <a:p>
                      <a:pPr>
                        <a:lnSpc>
                          <a:spcPct val="115000"/>
                        </a:lnSpc>
                        <a:spcAft>
                          <a:spcPts val="0"/>
                        </a:spcAft>
                      </a:pPr>
                      <a:r>
                        <a:rPr lang="en-GB" sz="1000">
                          <a:effectLst/>
                        </a:rPr>
                        <a:t>Under this graded element students will be assessed on their ability to accurately summarize their project theme, on the amount of relevant literature/material they have identified and absorbed and on elucidating their proposed approach.</a:t>
                      </a:r>
                      <a:endParaRPr lang="en-US" sz="1000">
                        <a:effectLst/>
                      </a:endParaRPr>
                    </a:p>
                    <a:p>
                      <a:pPr>
                        <a:lnSpc>
                          <a:spcPct val="115000"/>
                        </a:lnSpc>
                        <a:spcAft>
                          <a:spcPts val="0"/>
                        </a:spcAft>
                      </a:pPr>
                      <a:r>
                        <a:rPr lang="en-GB" sz="1000">
                          <a:effectLst/>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2437" marR="62437" marT="0" marB="0"/>
                </a:tc>
                <a:tc>
                  <a:txBody>
                    <a:bodyPr/>
                    <a:lstStyle/>
                    <a:p>
                      <a:pPr>
                        <a:lnSpc>
                          <a:spcPct val="115000"/>
                        </a:lnSpc>
                        <a:spcAft>
                          <a:spcPts val="0"/>
                        </a:spcAft>
                      </a:pPr>
                      <a:r>
                        <a:rPr lang="en-GB" sz="1000">
                          <a:effectLst/>
                        </a:rPr>
                        <a:t>20%</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2437" marR="62437" marT="0" marB="0"/>
                </a:tc>
                <a:tc>
                  <a:txBody>
                    <a:bodyPr/>
                    <a:lstStyle/>
                    <a:p>
                      <a:pPr>
                        <a:lnSpc>
                          <a:spcPct val="115000"/>
                        </a:lnSpc>
                        <a:spcAft>
                          <a:spcPts val="0"/>
                        </a:spcAft>
                      </a:pPr>
                      <a:r>
                        <a:rPr lang="en-GB" sz="1000">
                          <a:effectLst/>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2437" marR="62437" marT="0" marB="0"/>
                </a:tc>
                <a:extLst>
                  <a:ext uri="{0D108BD9-81ED-4DB2-BD59-A6C34878D82A}">
                    <a16:rowId xmlns:a16="http://schemas.microsoft.com/office/drawing/2014/main" val="3635644310"/>
                  </a:ext>
                </a:extLst>
              </a:tr>
              <a:tr h="1404144">
                <a:tc>
                  <a:txBody>
                    <a:bodyPr/>
                    <a:lstStyle/>
                    <a:p>
                      <a:pPr>
                        <a:lnSpc>
                          <a:spcPct val="115000"/>
                        </a:lnSpc>
                        <a:spcAft>
                          <a:spcPts val="0"/>
                        </a:spcAft>
                      </a:pPr>
                      <a:r>
                        <a:rPr lang="en-GB" sz="1000">
                          <a:effectLst/>
                        </a:rPr>
                        <a:t>Interim Reports</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2437" marR="62437" marT="0" marB="0"/>
                </a:tc>
                <a:tc>
                  <a:txBody>
                    <a:bodyPr/>
                    <a:lstStyle/>
                    <a:p>
                      <a:pPr>
                        <a:lnSpc>
                          <a:spcPct val="115000"/>
                        </a:lnSpc>
                        <a:spcAft>
                          <a:spcPts val="0"/>
                        </a:spcAft>
                      </a:pPr>
                      <a:r>
                        <a:rPr lang="en-GB" sz="1000">
                          <a:effectLst/>
                        </a:rPr>
                        <a:t>Under this graded element students will be graded on their ability to accurately contextualize/motivate their work, to derive traceable research questions/objectives from that context, to present a substantial, relevant state-of-the-art for their work and to plan for the remainder of the project.</a:t>
                      </a:r>
                      <a:endParaRPr lang="en-US" sz="1000">
                        <a:effectLst/>
                      </a:endParaRPr>
                    </a:p>
                    <a:p>
                      <a:pPr>
                        <a:lnSpc>
                          <a:spcPct val="115000"/>
                        </a:lnSpc>
                        <a:spcAft>
                          <a:spcPts val="0"/>
                        </a:spcAft>
                      </a:pPr>
                      <a:r>
                        <a:rPr lang="en-GB" sz="1000">
                          <a:effectLst/>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2437" marR="62437" marT="0" marB="0"/>
                </a:tc>
                <a:tc>
                  <a:txBody>
                    <a:bodyPr/>
                    <a:lstStyle/>
                    <a:p>
                      <a:pPr>
                        <a:lnSpc>
                          <a:spcPct val="115000"/>
                        </a:lnSpc>
                        <a:spcAft>
                          <a:spcPts val="0"/>
                        </a:spcAft>
                      </a:pPr>
                      <a:r>
                        <a:rPr lang="en-GB" sz="1000">
                          <a:effectLst/>
                        </a:rPr>
                        <a:t>30%</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2437" marR="62437" marT="0" marB="0"/>
                </a:tc>
                <a:tc>
                  <a:txBody>
                    <a:bodyPr/>
                    <a:lstStyle/>
                    <a:p>
                      <a:pPr>
                        <a:lnSpc>
                          <a:spcPct val="115000"/>
                        </a:lnSpc>
                        <a:spcAft>
                          <a:spcPts val="0"/>
                        </a:spcAft>
                      </a:pPr>
                      <a:r>
                        <a:rPr lang="en-GB" sz="1000">
                          <a:effectLst/>
                        </a:rPr>
                        <a:t> </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2437" marR="62437" marT="0" marB="0"/>
                </a:tc>
                <a:extLst>
                  <a:ext uri="{0D108BD9-81ED-4DB2-BD59-A6C34878D82A}">
                    <a16:rowId xmlns:a16="http://schemas.microsoft.com/office/drawing/2014/main" val="3010301641"/>
                  </a:ext>
                </a:extLst>
              </a:tr>
              <a:tr h="1404144">
                <a:tc>
                  <a:txBody>
                    <a:bodyPr/>
                    <a:lstStyle/>
                    <a:p>
                      <a:pPr>
                        <a:lnSpc>
                          <a:spcPct val="115000"/>
                        </a:lnSpc>
                        <a:spcAft>
                          <a:spcPts val="0"/>
                        </a:spcAft>
                      </a:pPr>
                      <a:r>
                        <a:rPr lang="en-GB" sz="1000">
                          <a:effectLst/>
                        </a:rPr>
                        <a:t>Preliminary material submission</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2437" marR="62437" marT="0" marB="0"/>
                </a:tc>
                <a:tc>
                  <a:txBody>
                    <a:bodyPr/>
                    <a:lstStyle/>
                    <a:p>
                      <a:pPr>
                        <a:lnSpc>
                          <a:spcPct val="115000"/>
                        </a:lnSpc>
                        <a:spcAft>
                          <a:spcPts val="0"/>
                        </a:spcAft>
                      </a:pPr>
                      <a:r>
                        <a:rPr lang="en-GB" sz="1000">
                          <a:effectLst/>
                        </a:rPr>
                        <a:t>Under this graded element students whose FYP projects are triple weighted will be expected to submit a body of materials (research chapter, examples of work in progress, prototypes, initial experiments) that reflect a substantial investment in the project. The nature of these materials must be agreed with the supervisor.</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2437" marR="62437" marT="0" marB="0"/>
                </a:tc>
                <a:tc>
                  <a:txBody>
                    <a:bodyPr/>
                    <a:lstStyle/>
                    <a:p>
                      <a:pPr>
                        <a:lnSpc>
                          <a:spcPct val="115000"/>
                        </a:lnSpc>
                        <a:spcAft>
                          <a:spcPts val="0"/>
                        </a:spcAft>
                      </a:pPr>
                      <a:r>
                        <a:rPr lang="en-GB" sz="1000">
                          <a:effectLst/>
                        </a:rPr>
                        <a:t>30%</a:t>
                      </a:r>
                      <a:endParaRPr lang="en-US" sz="1000">
                        <a:effectLst/>
                        <a:latin typeface="Calibri" panose="020F0502020204030204" pitchFamily="34" charset="0"/>
                        <a:ea typeface="Calibri" panose="020F0502020204030204" pitchFamily="34" charset="0"/>
                        <a:cs typeface="Times New Roman" panose="02020603050405020304" pitchFamily="18" charset="0"/>
                      </a:endParaRPr>
                    </a:p>
                  </a:txBody>
                  <a:tcPr marL="62437" marR="62437" marT="0" marB="0"/>
                </a:tc>
                <a:tc>
                  <a:txBody>
                    <a:bodyPr/>
                    <a:lstStyle/>
                    <a:p>
                      <a:pPr>
                        <a:lnSpc>
                          <a:spcPct val="115000"/>
                        </a:lnSpc>
                        <a:spcAft>
                          <a:spcPts val="0"/>
                        </a:spcAft>
                      </a:pPr>
                      <a:r>
                        <a:rPr lang="en-GB" sz="1000" dirty="0">
                          <a:effectLst/>
                        </a:rPr>
                        <a:t> </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2437" marR="62437" marT="0" marB="0"/>
                </a:tc>
                <a:extLst>
                  <a:ext uri="{0D108BD9-81ED-4DB2-BD59-A6C34878D82A}">
                    <a16:rowId xmlns:a16="http://schemas.microsoft.com/office/drawing/2014/main" val="3047834460"/>
                  </a:ext>
                </a:extLst>
              </a:tr>
            </a:tbl>
          </a:graphicData>
        </a:graphic>
      </p:graphicFrame>
      <p:sp>
        <p:nvSpPr>
          <p:cNvPr id="4" name="Footer Placeholder 3"/>
          <p:cNvSpPr>
            <a:spLocks noGrp="1"/>
          </p:cNvSpPr>
          <p:nvPr>
            <p:ph type="ftr" sz="quarter" idx="10"/>
          </p:nvPr>
        </p:nvSpPr>
        <p:spPr/>
        <p:txBody>
          <a:bodyPr/>
          <a:lstStyle/>
          <a:p>
            <a:pPr>
              <a:defRPr/>
            </a:pPr>
            <a:r>
              <a:rPr lang="en-GB" altLang="en-US" smtClean="0"/>
              <a:t>Department of Computer Science   and Information Systems</a:t>
            </a:r>
            <a:endParaRPr lang="en-US" altLang="en-US"/>
          </a:p>
        </p:txBody>
      </p:sp>
    </p:spTree>
    <p:extLst>
      <p:ext uri="{BB962C8B-B14F-4D97-AF65-F5344CB8AC3E}">
        <p14:creationId xmlns:p14="http://schemas.microsoft.com/office/powerpoint/2010/main" val="56247790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smtClean="0"/>
              <a:t>DMD Design Marking Schema, Term 1</a:t>
            </a:r>
            <a:endParaRPr lang="en-US" dirty="0"/>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939090609"/>
              </p:ext>
            </p:extLst>
          </p:nvPr>
        </p:nvGraphicFramePr>
        <p:xfrm>
          <a:off x="755576" y="629095"/>
          <a:ext cx="7560839" cy="5616574"/>
        </p:xfrm>
        <a:graphic>
          <a:graphicData uri="http://schemas.openxmlformats.org/drawingml/2006/table">
            <a:tbl>
              <a:tblPr firstRow="1" firstCol="1" bandRow="1">
                <a:tableStyleId>{5C22544A-7EE6-4342-B048-85BDC9FD1C3A}</a:tableStyleId>
              </a:tblPr>
              <a:tblGrid>
                <a:gridCol w="2021089">
                  <a:extLst>
                    <a:ext uri="{9D8B030D-6E8A-4147-A177-3AD203B41FA5}">
                      <a16:colId xmlns:a16="http://schemas.microsoft.com/office/drawing/2014/main" val="949780049"/>
                    </a:ext>
                  </a:extLst>
                </a:gridCol>
                <a:gridCol w="3540473">
                  <a:extLst>
                    <a:ext uri="{9D8B030D-6E8A-4147-A177-3AD203B41FA5}">
                      <a16:colId xmlns:a16="http://schemas.microsoft.com/office/drawing/2014/main" val="3498577045"/>
                    </a:ext>
                  </a:extLst>
                </a:gridCol>
                <a:gridCol w="1070532">
                  <a:extLst>
                    <a:ext uri="{9D8B030D-6E8A-4147-A177-3AD203B41FA5}">
                      <a16:colId xmlns:a16="http://schemas.microsoft.com/office/drawing/2014/main" val="2205383032"/>
                    </a:ext>
                  </a:extLst>
                </a:gridCol>
                <a:gridCol w="928745">
                  <a:extLst>
                    <a:ext uri="{9D8B030D-6E8A-4147-A177-3AD203B41FA5}">
                      <a16:colId xmlns:a16="http://schemas.microsoft.com/office/drawing/2014/main" val="411857030"/>
                    </a:ext>
                  </a:extLst>
                </a:gridCol>
              </a:tblGrid>
              <a:tr h="410969">
                <a:tc>
                  <a:txBody>
                    <a:bodyPr/>
                    <a:lstStyle/>
                    <a:p>
                      <a:pPr>
                        <a:lnSpc>
                          <a:spcPct val="115000"/>
                        </a:lnSpc>
                        <a:spcAft>
                          <a:spcPts val="0"/>
                        </a:spcAft>
                      </a:pPr>
                      <a:r>
                        <a:rPr lang="en-IE" sz="800">
                          <a:effectLst/>
                        </a:rPr>
                        <a:t>Graded Element</a:t>
                      </a:r>
                      <a:endParaRPr lang="en-US" sz="800">
                        <a:effectLst/>
                        <a:latin typeface="Calibri" panose="020F0502020204030204" pitchFamily="34" charset="0"/>
                        <a:ea typeface="Calibri" panose="020F0502020204030204" pitchFamily="34" charset="0"/>
                        <a:cs typeface="Times New Roman" panose="02020603050405020304" pitchFamily="18" charset="0"/>
                      </a:endParaRPr>
                    </a:p>
                  </a:txBody>
                  <a:tcPr marL="48731" marR="48731" marT="0" marB="0"/>
                </a:tc>
                <a:tc>
                  <a:txBody>
                    <a:bodyPr/>
                    <a:lstStyle/>
                    <a:p>
                      <a:pPr>
                        <a:lnSpc>
                          <a:spcPct val="115000"/>
                        </a:lnSpc>
                        <a:spcAft>
                          <a:spcPts val="0"/>
                        </a:spcAft>
                      </a:pPr>
                      <a:r>
                        <a:rPr lang="en-IE" sz="800">
                          <a:effectLst/>
                        </a:rPr>
                        <a:t>Description</a:t>
                      </a:r>
                      <a:endParaRPr lang="en-US" sz="800">
                        <a:effectLst/>
                        <a:latin typeface="Calibri" panose="020F0502020204030204" pitchFamily="34" charset="0"/>
                        <a:ea typeface="Calibri" panose="020F0502020204030204" pitchFamily="34" charset="0"/>
                        <a:cs typeface="Times New Roman" panose="02020603050405020304" pitchFamily="18" charset="0"/>
                      </a:endParaRPr>
                    </a:p>
                  </a:txBody>
                  <a:tcPr marL="48731" marR="48731" marT="0" marB="0"/>
                </a:tc>
                <a:tc>
                  <a:txBody>
                    <a:bodyPr/>
                    <a:lstStyle/>
                    <a:p>
                      <a:pPr>
                        <a:lnSpc>
                          <a:spcPct val="115000"/>
                        </a:lnSpc>
                        <a:spcAft>
                          <a:spcPts val="0"/>
                        </a:spcAft>
                      </a:pPr>
                      <a:r>
                        <a:rPr lang="en-IE" sz="800">
                          <a:effectLst/>
                        </a:rPr>
                        <a:t>% Awarded for Graded Element</a:t>
                      </a:r>
                      <a:endParaRPr lang="en-US" sz="800">
                        <a:effectLst/>
                        <a:latin typeface="Calibri" panose="020F0502020204030204" pitchFamily="34" charset="0"/>
                        <a:ea typeface="Calibri" panose="020F0502020204030204" pitchFamily="34" charset="0"/>
                        <a:cs typeface="Times New Roman" panose="02020603050405020304" pitchFamily="18" charset="0"/>
                      </a:endParaRPr>
                    </a:p>
                  </a:txBody>
                  <a:tcPr marL="48731" marR="48731" marT="0" marB="0"/>
                </a:tc>
                <a:tc>
                  <a:txBody>
                    <a:bodyPr/>
                    <a:lstStyle/>
                    <a:p>
                      <a:pPr>
                        <a:lnSpc>
                          <a:spcPct val="115000"/>
                        </a:lnSpc>
                        <a:spcAft>
                          <a:spcPts val="0"/>
                        </a:spcAft>
                      </a:pPr>
                      <a:r>
                        <a:rPr lang="en-IE" sz="800">
                          <a:effectLst/>
                        </a:rPr>
                        <a:t>Mark Obtained</a:t>
                      </a:r>
                      <a:endParaRPr lang="en-US" sz="800">
                        <a:effectLst/>
                        <a:latin typeface="Calibri" panose="020F0502020204030204" pitchFamily="34" charset="0"/>
                        <a:ea typeface="Calibri" panose="020F0502020204030204" pitchFamily="34" charset="0"/>
                        <a:cs typeface="Times New Roman" panose="02020603050405020304" pitchFamily="18" charset="0"/>
                      </a:endParaRPr>
                    </a:p>
                  </a:txBody>
                  <a:tcPr marL="48731" marR="48731" marT="0" marB="0"/>
                </a:tc>
                <a:extLst>
                  <a:ext uri="{0D108BD9-81ED-4DB2-BD59-A6C34878D82A}">
                    <a16:rowId xmlns:a16="http://schemas.microsoft.com/office/drawing/2014/main" val="2853143064"/>
                  </a:ext>
                </a:extLst>
              </a:tr>
              <a:tr h="821938">
                <a:tc>
                  <a:txBody>
                    <a:bodyPr/>
                    <a:lstStyle/>
                    <a:p>
                      <a:pPr>
                        <a:lnSpc>
                          <a:spcPct val="115000"/>
                        </a:lnSpc>
                        <a:spcAft>
                          <a:spcPts val="0"/>
                        </a:spcAft>
                      </a:pPr>
                      <a:r>
                        <a:rPr lang="en-IE" sz="800">
                          <a:effectLst/>
                        </a:rPr>
                        <a:t>Process</a:t>
                      </a:r>
                      <a:endParaRPr lang="en-US" sz="800">
                        <a:effectLst/>
                        <a:latin typeface="Calibri" panose="020F0502020204030204" pitchFamily="34" charset="0"/>
                        <a:ea typeface="Calibri" panose="020F0502020204030204" pitchFamily="34" charset="0"/>
                        <a:cs typeface="Times New Roman" panose="02020603050405020304" pitchFamily="18" charset="0"/>
                      </a:endParaRPr>
                    </a:p>
                  </a:txBody>
                  <a:tcPr marL="48731" marR="48731" marT="0" marB="0"/>
                </a:tc>
                <a:tc>
                  <a:txBody>
                    <a:bodyPr/>
                    <a:lstStyle/>
                    <a:p>
                      <a:pPr>
                        <a:lnSpc>
                          <a:spcPct val="115000"/>
                        </a:lnSpc>
                        <a:spcAft>
                          <a:spcPts val="0"/>
                        </a:spcAft>
                      </a:pPr>
                      <a:r>
                        <a:rPr lang="en-IE" sz="800">
                          <a:effectLst/>
                        </a:rPr>
                        <a:t>Under this graded element students will be assessed on the basis of their ability to act on guidance given by the supervisor, and achieve agreed deliverables between meetings. A pro-active attitude will be considered a plus.</a:t>
                      </a:r>
                      <a:endParaRPr lang="en-US" sz="800">
                        <a:effectLst/>
                        <a:latin typeface="Calibri" panose="020F0502020204030204" pitchFamily="34" charset="0"/>
                        <a:ea typeface="Calibri" panose="020F0502020204030204" pitchFamily="34" charset="0"/>
                        <a:cs typeface="Times New Roman" panose="02020603050405020304" pitchFamily="18" charset="0"/>
                      </a:endParaRPr>
                    </a:p>
                  </a:txBody>
                  <a:tcPr marL="48731" marR="48731" marT="0" marB="0"/>
                </a:tc>
                <a:tc>
                  <a:txBody>
                    <a:bodyPr/>
                    <a:lstStyle/>
                    <a:p>
                      <a:pPr>
                        <a:lnSpc>
                          <a:spcPct val="115000"/>
                        </a:lnSpc>
                        <a:spcAft>
                          <a:spcPts val="0"/>
                        </a:spcAft>
                      </a:pPr>
                      <a:r>
                        <a:rPr lang="en-IE" sz="800">
                          <a:effectLst/>
                        </a:rPr>
                        <a:t>5%</a:t>
                      </a:r>
                      <a:endParaRPr lang="en-US" sz="800">
                        <a:effectLst/>
                        <a:latin typeface="Calibri" panose="020F0502020204030204" pitchFamily="34" charset="0"/>
                        <a:ea typeface="Calibri" panose="020F0502020204030204" pitchFamily="34" charset="0"/>
                        <a:cs typeface="Times New Roman" panose="02020603050405020304" pitchFamily="18" charset="0"/>
                      </a:endParaRPr>
                    </a:p>
                  </a:txBody>
                  <a:tcPr marL="48731" marR="48731" marT="0" marB="0"/>
                </a:tc>
                <a:tc>
                  <a:txBody>
                    <a:bodyPr/>
                    <a:lstStyle/>
                    <a:p>
                      <a:pPr>
                        <a:lnSpc>
                          <a:spcPct val="115000"/>
                        </a:lnSpc>
                        <a:spcAft>
                          <a:spcPts val="0"/>
                        </a:spcAft>
                      </a:pPr>
                      <a:r>
                        <a:rPr lang="en-IE" sz="800">
                          <a:effectLst/>
                        </a:rPr>
                        <a:t> </a:t>
                      </a:r>
                      <a:endParaRPr lang="en-US" sz="800">
                        <a:effectLst/>
                        <a:latin typeface="Calibri" panose="020F0502020204030204" pitchFamily="34" charset="0"/>
                        <a:ea typeface="Calibri" panose="020F0502020204030204" pitchFamily="34" charset="0"/>
                        <a:cs typeface="Times New Roman" panose="02020603050405020304" pitchFamily="18" charset="0"/>
                      </a:endParaRPr>
                    </a:p>
                  </a:txBody>
                  <a:tcPr marL="48731" marR="48731" marT="0" marB="0"/>
                </a:tc>
                <a:extLst>
                  <a:ext uri="{0D108BD9-81ED-4DB2-BD59-A6C34878D82A}">
                    <a16:rowId xmlns:a16="http://schemas.microsoft.com/office/drawing/2014/main" val="3728705439"/>
                  </a:ext>
                </a:extLst>
              </a:tr>
              <a:tr h="958927">
                <a:tc>
                  <a:txBody>
                    <a:bodyPr/>
                    <a:lstStyle/>
                    <a:p>
                      <a:pPr>
                        <a:lnSpc>
                          <a:spcPct val="115000"/>
                        </a:lnSpc>
                        <a:spcAft>
                          <a:spcPts val="0"/>
                        </a:spcAft>
                      </a:pPr>
                      <a:r>
                        <a:rPr lang="en-IE" sz="800">
                          <a:effectLst/>
                        </a:rPr>
                        <a:t>Presentations</a:t>
                      </a:r>
                      <a:endParaRPr lang="en-US" sz="800">
                        <a:effectLst/>
                        <a:latin typeface="Calibri" panose="020F0502020204030204" pitchFamily="34" charset="0"/>
                        <a:ea typeface="Calibri" panose="020F0502020204030204" pitchFamily="34" charset="0"/>
                        <a:cs typeface="Times New Roman" panose="02020603050405020304" pitchFamily="18" charset="0"/>
                      </a:endParaRPr>
                    </a:p>
                  </a:txBody>
                  <a:tcPr marL="48731" marR="48731" marT="0" marB="0"/>
                </a:tc>
                <a:tc>
                  <a:txBody>
                    <a:bodyPr/>
                    <a:lstStyle/>
                    <a:p>
                      <a:pPr>
                        <a:lnSpc>
                          <a:spcPct val="115000"/>
                        </a:lnSpc>
                        <a:spcAft>
                          <a:spcPts val="0"/>
                        </a:spcAft>
                      </a:pPr>
                      <a:r>
                        <a:rPr lang="en-IE" sz="800">
                          <a:effectLst/>
                        </a:rPr>
                        <a:t>Under this graded element, students will be assessed on their ability to accurately introduce the problem they chose to solve through design, on the amount and significance  of relevant literature/material identified and summarised and on explaining their proposed approach.</a:t>
                      </a:r>
                      <a:endParaRPr lang="en-US" sz="800">
                        <a:effectLst/>
                        <a:latin typeface="Calibri" panose="020F0502020204030204" pitchFamily="34" charset="0"/>
                        <a:ea typeface="Calibri" panose="020F0502020204030204" pitchFamily="34" charset="0"/>
                        <a:cs typeface="Times New Roman" panose="02020603050405020304" pitchFamily="18" charset="0"/>
                      </a:endParaRPr>
                    </a:p>
                  </a:txBody>
                  <a:tcPr marL="48731" marR="48731" marT="0" marB="0"/>
                </a:tc>
                <a:tc>
                  <a:txBody>
                    <a:bodyPr/>
                    <a:lstStyle/>
                    <a:p>
                      <a:pPr>
                        <a:lnSpc>
                          <a:spcPct val="115000"/>
                        </a:lnSpc>
                        <a:spcAft>
                          <a:spcPts val="0"/>
                        </a:spcAft>
                      </a:pPr>
                      <a:r>
                        <a:rPr lang="en-IE" sz="800">
                          <a:effectLst/>
                        </a:rPr>
                        <a:t>10%</a:t>
                      </a:r>
                      <a:endParaRPr lang="en-US" sz="800">
                        <a:effectLst/>
                        <a:latin typeface="Calibri" panose="020F0502020204030204" pitchFamily="34" charset="0"/>
                        <a:ea typeface="Calibri" panose="020F0502020204030204" pitchFamily="34" charset="0"/>
                        <a:cs typeface="Times New Roman" panose="02020603050405020304" pitchFamily="18" charset="0"/>
                      </a:endParaRPr>
                    </a:p>
                  </a:txBody>
                  <a:tcPr marL="48731" marR="48731" marT="0" marB="0"/>
                </a:tc>
                <a:tc>
                  <a:txBody>
                    <a:bodyPr/>
                    <a:lstStyle/>
                    <a:p>
                      <a:pPr>
                        <a:lnSpc>
                          <a:spcPct val="115000"/>
                        </a:lnSpc>
                        <a:spcAft>
                          <a:spcPts val="0"/>
                        </a:spcAft>
                      </a:pPr>
                      <a:r>
                        <a:rPr lang="en-IE" sz="800">
                          <a:effectLst/>
                        </a:rPr>
                        <a:t> </a:t>
                      </a:r>
                      <a:endParaRPr lang="en-US" sz="800">
                        <a:effectLst/>
                        <a:latin typeface="Calibri" panose="020F0502020204030204" pitchFamily="34" charset="0"/>
                        <a:ea typeface="Calibri" panose="020F0502020204030204" pitchFamily="34" charset="0"/>
                        <a:cs typeface="Times New Roman" panose="02020603050405020304" pitchFamily="18" charset="0"/>
                      </a:endParaRPr>
                    </a:p>
                  </a:txBody>
                  <a:tcPr marL="48731" marR="48731" marT="0" marB="0"/>
                </a:tc>
                <a:extLst>
                  <a:ext uri="{0D108BD9-81ED-4DB2-BD59-A6C34878D82A}">
                    <a16:rowId xmlns:a16="http://schemas.microsoft.com/office/drawing/2014/main" val="1173889224"/>
                  </a:ext>
                </a:extLst>
              </a:tr>
              <a:tr h="958927">
                <a:tc>
                  <a:txBody>
                    <a:bodyPr/>
                    <a:lstStyle/>
                    <a:p>
                      <a:pPr>
                        <a:lnSpc>
                          <a:spcPct val="115000"/>
                        </a:lnSpc>
                        <a:spcAft>
                          <a:spcPts val="0"/>
                        </a:spcAft>
                      </a:pPr>
                      <a:r>
                        <a:rPr lang="en-IE" sz="800">
                          <a:effectLst/>
                        </a:rPr>
                        <a:t>User Studies</a:t>
                      </a:r>
                      <a:endParaRPr lang="en-US" sz="800">
                        <a:effectLst/>
                      </a:endParaRPr>
                    </a:p>
                    <a:p>
                      <a:pPr>
                        <a:lnSpc>
                          <a:spcPct val="115000"/>
                        </a:lnSpc>
                        <a:spcAft>
                          <a:spcPts val="0"/>
                        </a:spcAft>
                      </a:pPr>
                      <a:r>
                        <a:rPr lang="en-IE" sz="800">
                          <a:effectLst/>
                        </a:rPr>
                        <a:t> </a:t>
                      </a:r>
                      <a:endParaRPr lang="en-US" sz="800">
                        <a:effectLst/>
                        <a:latin typeface="Calibri" panose="020F0502020204030204" pitchFamily="34" charset="0"/>
                        <a:ea typeface="Calibri" panose="020F0502020204030204" pitchFamily="34" charset="0"/>
                        <a:cs typeface="Times New Roman" panose="02020603050405020304" pitchFamily="18" charset="0"/>
                      </a:endParaRPr>
                    </a:p>
                  </a:txBody>
                  <a:tcPr marL="48731" marR="48731" marT="0" marB="0"/>
                </a:tc>
                <a:tc>
                  <a:txBody>
                    <a:bodyPr/>
                    <a:lstStyle/>
                    <a:p>
                      <a:pPr>
                        <a:lnSpc>
                          <a:spcPct val="115000"/>
                        </a:lnSpc>
                        <a:spcAft>
                          <a:spcPts val="0"/>
                        </a:spcAft>
                      </a:pPr>
                      <a:r>
                        <a:rPr lang="en-IE" sz="800">
                          <a:effectLst/>
                        </a:rPr>
                        <a:t>Under this graded element students will be expected to submit  documentation resulting from observation, interviews (or focus groups), document analysis that reflect a substantial investment in the project. The nature of these materials must be agreed with the supervisor.</a:t>
                      </a:r>
                      <a:endParaRPr lang="en-US" sz="800">
                        <a:effectLst/>
                        <a:latin typeface="Calibri" panose="020F0502020204030204" pitchFamily="34" charset="0"/>
                        <a:ea typeface="Calibri" panose="020F0502020204030204" pitchFamily="34" charset="0"/>
                        <a:cs typeface="Times New Roman" panose="02020603050405020304" pitchFamily="18" charset="0"/>
                      </a:endParaRPr>
                    </a:p>
                  </a:txBody>
                  <a:tcPr marL="48731" marR="48731" marT="0" marB="0"/>
                </a:tc>
                <a:tc>
                  <a:txBody>
                    <a:bodyPr/>
                    <a:lstStyle/>
                    <a:p>
                      <a:pPr>
                        <a:lnSpc>
                          <a:spcPct val="115000"/>
                        </a:lnSpc>
                        <a:spcAft>
                          <a:spcPts val="0"/>
                        </a:spcAft>
                      </a:pPr>
                      <a:r>
                        <a:rPr lang="en-IE" sz="800">
                          <a:effectLst/>
                        </a:rPr>
                        <a:t>20%</a:t>
                      </a:r>
                      <a:endParaRPr lang="en-US" sz="800">
                        <a:effectLst/>
                        <a:latin typeface="Calibri" panose="020F0502020204030204" pitchFamily="34" charset="0"/>
                        <a:ea typeface="Calibri" panose="020F0502020204030204" pitchFamily="34" charset="0"/>
                        <a:cs typeface="Times New Roman" panose="02020603050405020304" pitchFamily="18" charset="0"/>
                      </a:endParaRPr>
                    </a:p>
                  </a:txBody>
                  <a:tcPr marL="48731" marR="48731" marT="0" marB="0"/>
                </a:tc>
                <a:tc>
                  <a:txBody>
                    <a:bodyPr/>
                    <a:lstStyle/>
                    <a:p>
                      <a:pPr>
                        <a:lnSpc>
                          <a:spcPct val="115000"/>
                        </a:lnSpc>
                        <a:spcAft>
                          <a:spcPts val="0"/>
                        </a:spcAft>
                      </a:pPr>
                      <a:r>
                        <a:rPr lang="en-IE" sz="800">
                          <a:effectLst/>
                        </a:rPr>
                        <a:t> </a:t>
                      </a:r>
                      <a:endParaRPr lang="en-US" sz="800">
                        <a:effectLst/>
                        <a:latin typeface="Calibri" panose="020F0502020204030204" pitchFamily="34" charset="0"/>
                        <a:ea typeface="Calibri" panose="020F0502020204030204" pitchFamily="34" charset="0"/>
                        <a:cs typeface="Times New Roman" panose="02020603050405020304" pitchFamily="18" charset="0"/>
                      </a:endParaRPr>
                    </a:p>
                  </a:txBody>
                  <a:tcPr marL="48731" marR="48731" marT="0" marB="0"/>
                </a:tc>
                <a:extLst>
                  <a:ext uri="{0D108BD9-81ED-4DB2-BD59-A6C34878D82A}">
                    <a16:rowId xmlns:a16="http://schemas.microsoft.com/office/drawing/2014/main" val="221501317"/>
                  </a:ext>
                </a:extLst>
              </a:tr>
              <a:tr h="958927">
                <a:tc>
                  <a:txBody>
                    <a:bodyPr/>
                    <a:lstStyle/>
                    <a:p>
                      <a:pPr>
                        <a:lnSpc>
                          <a:spcPct val="115000"/>
                        </a:lnSpc>
                        <a:spcAft>
                          <a:spcPts val="0"/>
                        </a:spcAft>
                      </a:pPr>
                      <a:r>
                        <a:rPr lang="en-IE" sz="800">
                          <a:effectLst/>
                        </a:rPr>
                        <a:t>Design Process and Prototype Development</a:t>
                      </a:r>
                      <a:endParaRPr lang="en-US" sz="800">
                        <a:effectLst/>
                        <a:latin typeface="Calibri" panose="020F0502020204030204" pitchFamily="34" charset="0"/>
                        <a:ea typeface="Calibri" panose="020F0502020204030204" pitchFamily="34" charset="0"/>
                        <a:cs typeface="Times New Roman" panose="02020603050405020304" pitchFamily="18" charset="0"/>
                      </a:endParaRPr>
                    </a:p>
                  </a:txBody>
                  <a:tcPr marL="48731" marR="48731" marT="0" marB="0"/>
                </a:tc>
                <a:tc>
                  <a:txBody>
                    <a:bodyPr/>
                    <a:lstStyle/>
                    <a:p>
                      <a:pPr>
                        <a:lnSpc>
                          <a:spcPct val="115000"/>
                        </a:lnSpc>
                        <a:spcAft>
                          <a:spcPts val="0"/>
                        </a:spcAft>
                      </a:pPr>
                      <a:r>
                        <a:rPr lang="en-IE" sz="800">
                          <a:effectLst/>
                        </a:rPr>
                        <a:t>Under this graded element students will be graded on their ability  to select the most appropriate design methods, put them to work and document the process, and to develop a low to medium fidelity prototype of the final design.</a:t>
                      </a:r>
                      <a:endParaRPr lang="en-US" sz="800">
                        <a:effectLst/>
                      </a:endParaRPr>
                    </a:p>
                    <a:p>
                      <a:pPr>
                        <a:lnSpc>
                          <a:spcPct val="115000"/>
                        </a:lnSpc>
                        <a:spcAft>
                          <a:spcPts val="0"/>
                        </a:spcAft>
                      </a:pPr>
                      <a:r>
                        <a:rPr lang="en-IE" sz="800">
                          <a:effectLst/>
                        </a:rPr>
                        <a:t>Maintaining a sketchbook is compulsory.</a:t>
                      </a:r>
                      <a:endParaRPr lang="en-US" sz="800">
                        <a:effectLst/>
                        <a:latin typeface="Calibri" panose="020F0502020204030204" pitchFamily="34" charset="0"/>
                        <a:ea typeface="Calibri" panose="020F0502020204030204" pitchFamily="34" charset="0"/>
                        <a:cs typeface="Times New Roman" panose="02020603050405020304" pitchFamily="18" charset="0"/>
                      </a:endParaRPr>
                    </a:p>
                  </a:txBody>
                  <a:tcPr marL="48731" marR="48731" marT="0" marB="0"/>
                </a:tc>
                <a:tc>
                  <a:txBody>
                    <a:bodyPr/>
                    <a:lstStyle/>
                    <a:p>
                      <a:pPr>
                        <a:lnSpc>
                          <a:spcPct val="115000"/>
                        </a:lnSpc>
                        <a:spcAft>
                          <a:spcPts val="0"/>
                        </a:spcAft>
                      </a:pPr>
                      <a:r>
                        <a:rPr lang="en-IE" sz="800">
                          <a:effectLst/>
                        </a:rPr>
                        <a:t>25%</a:t>
                      </a:r>
                      <a:endParaRPr lang="en-US" sz="800">
                        <a:effectLst/>
                        <a:latin typeface="Calibri" panose="020F0502020204030204" pitchFamily="34" charset="0"/>
                        <a:ea typeface="Calibri" panose="020F0502020204030204" pitchFamily="34" charset="0"/>
                        <a:cs typeface="Times New Roman" panose="02020603050405020304" pitchFamily="18" charset="0"/>
                      </a:endParaRPr>
                    </a:p>
                  </a:txBody>
                  <a:tcPr marL="48731" marR="48731" marT="0" marB="0"/>
                </a:tc>
                <a:tc>
                  <a:txBody>
                    <a:bodyPr/>
                    <a:lstStyle/>
                    <a:p>
                      <a:pPr>
                        <a:lnSpc>
                          <a:spcPct val="115000"/>
                        </a:lnSpc>
                        <a:spcAft>
                          <a:spcPts val="0"/>
                        </a:spcAft>
                      </a:pPr>
                      <a:r>
                        <a:rPr lang="en-IE" sz="800">
                          <a:effectLst/>
                        </a:rPr>
                        <a:t> </a:t>
                      </a:r>
                      <a:endParaRPr lang="en-US" sz="800">
                        <a:effectLst/>
                        <a:latin typeface="Calibri" panose="020F0502020204030204" pitchFamily="34" charset="0"/>
                        <a:ea typeface="Calibri" panose="020F0502020204030204" pitchFamily="34" charset="0"/>
                        <a:cs typeface="Times New Roman" panose="02020603050405020304" pitchFamily="18" charset="0"/>
                      </a:endParaRPr>
                    </a:p>
                  </a:txBody>
                  <a:tcPr marL="48731" marR="48731" marT="0" marB="0"/>
                </a:tc>
                <a:extLst>
                  <a:ext uri="{0D108BD9-81ED-4DB2-BD59-A6C34878D82A}">
                    <a16:rowId xmlns:a16="http://schemas.microsoft.com/office/drawing/2014/main" val="1708754372"/>
                  </a:ext>
                </a:extLst>
              </a:tr>
              <a:tr h="1506886">
                <a:tc>
                  <a:txBody>
                    <a:bodyPr/>
                    <a:lstStyle/>
                    <a:p>
                      <a:pPr>
                        <a:lnSpc>
                          <a:spcPct val="115000"/>
                        </a:lnSpc>
                        <a:spcAft>
                          <a:spcPts val="0"/>
                        </a:spcAft>
                      </a:pPr>
                      <a:r>
                        <a:rPr lang="en-IE" sz="800">
                          <a:effectLst/>
                        </a:rPr>
                        <a:t>Interim Reports</a:t>
                      </a:r>
                      <a:endParaRPr lang="en-US" sz="800">
                        <a:effectLst/>
                        <a:latin typeface="Calibri" panose="020F0502020204030204" pitchFamily="34" charset="0"/>
                        <a:ea typeface="Calibri" panose="020F0502020204030204" pitchFamily="34" charset="0"/>
                        <a:cs typeface="Times New Roman" panose="02020603050405020304" pitchFamily="18" charset="0"/>
                      </a:endParaRPr>
                    </a:p>
                  </a:txBody>
                  <a:tcPr marL="48731" marR="48731" marT="0" marB="0"/>
                </a:tc>
                <a:tc>
                  <a:txBody>
                    <a:bodyPr/>
                    <a:lstStyle/>
                    <a:p>
                      <a:pPr>
                        <a:lnSpc>
                          <a:spcPct val="115000"/>
                        </a:lnSpc>
                        <a:spcAft>
                          <a:spcPts val="0"/>
                        </a:spcAft>
                      </a:pPr>
                      <a:r>
                        <a:rPr lang="en-IE" sz="800">
                          <a:effectLst/>
                        </a:rPr>
                        <a:t>Under this graded element students will be graded on their ability to accurately contextualize/motivate their work, to formulate research questions/objectives from that context, to present a substantial, relevant state-of-the-art for their work, document the user studies undertaken, the design methods and techniques used, the development of at least a low-fidelity prototype, and  to plan for the remainder of the project.</a:t>
                      </a:r>
                      <a:endParaRPr lang="en-US" sz="800">
                        <a:effectLst/>
                        <a:latin typeface="Calibri" panose="020F0502020204030204" pitchFamily="34" charset="0"/>
                        <a:ea typeface="Calibri" panose="020F0502020204030204" pitchFamily="34" charset="0"/>
                        <a:cs typeface="Times New Roman" panose="02020603050405020304" pitchFamily="18" charset="0"/>
                      </a:endParaRPr>
                    </a:p>
                  </a:txBody>
                  <a:tcPr marL="48731" marR="48731" marT="0" marB="0"/>
                </a:tc>
                <a:tc>
                  <a:txBody>
                    <a:bodyPr/>
                    <a:lstStyle/>
                    <a:p>
                      <a:pPr>
                        <a:lnSpc>
                          <a:spcPct val="115000"/>
                        </a:lnSpc>
                        <a:spcAft>
                          <a:spcPts val="0"/>
                        </a:spcAft>
                      </a:pPr>
                      <a:r>
                        <a:rPr lang="en-IE" sz="800">
                          <a:effectLst/>
                        </a:rPr>
                        <a:t>40%</a:t>
                      </a:r>
                      <a:endParaRPr lang="en-US" sz="800">
                        <a:effectLst/>
                        <a:latin typeface="Calibri" panose="020F0502020204030204" pitchFamily="34" charset="0"/>
                        <a:ea typeface="Calibri" panose="020F0502020204030204" pitchFamily="34" charset="0"/>
                        <a:cs typeface="Times New Roman" panose="02020603050405020304" pitchFamily="18" charset="0"/>
                      </a:endParaRPr>
                    </a:p>
                  </a:txBody>
                  <a:tcPr marL="48731" marR="48731" marT="0" marB="0"/>
                </a:tc>
                <a:tc>
                  <a:txBody>
                    <a:bodyPr/>
                    <a:lstStyle/>
                    <a:p>
                      <a:pPr>
                        <a:lnSpc>
                          <a:spcPct val="115000"/>
                        </a:lnSpc>
                        <a:spcAft>
                          <a:spcPts val="0"/>
                        </a:spcAft>
                      </a:pPr>
                      <a:r>
                        <a:rPr lang="en-IE" sz="800" dirty="0">
                          <a:effectLst/>
                        </a:rPr>
                        <a:t> </a:t>
                      </a: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txBody>
                  <a:tcPr marL="48731" marR="48731" marT="0" marB="0"/>
                </a:tc>
                <a:extLst>
                  <a:ext uri="{0D108BD9-81ED-4DB2-BD59-A6C34878D82A}">
                    <a16:rowId xmlns:a16="http://schemas.microsoft.com/office/drawing/2014/main" val="2435498609"/>
                  </a:ext>
                </a:extLst>
              </a:tr>
            </a:tbl>
          </a:graphicData>
        </a:graphic>
      </p:graphicFrame>
      <p:sp>
        <p:nvSpPr>
          <p:cNvPr id="4" name="Footer Placeholder 3"/>
          <p:cNvSpPr>
            <a:spLocks noGrp="1"/>
          </p:cNvSpPr>
          <p:nvPr>
            <p:ph type="ftr" sz="quarter" idx="10"/>
          </p:nvPr>
        </p:nvSpPr>
        <p:spPr/>
        <p:txBody>
          <a:bodyPr/>
          <a:lstStyle/>
          <a:p>
            <a:pPr>
              <a:defRPr/>
            </a:pPr>
            <a:r>
              <a:rPr lang="en-GB" altLang="en-US" smtClean="0"/>
              <a:t>Department of Computer Science   and Information Systems</a:t>
            </a:r>
            <a:endParaRPr lang="en-US" altLang="en-US"/>
          </a:p>
        </p:txBody>
      </p:sp>
    </p:spTree>
    <p:extLst>
      <p:ext uri="{BB962C8B-B14F-4D97-AF65-F5344CB8AC3E}">
        <p14:creationId xmlns:p14="http://schemas.microsoft.com/office/powerpoint/2010/main" val="393239897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smtClean="0"/>
              <a:t>DMD Research: Marking Schema, Term 1</a:t>
            </a:r>
            <a:endParaRPr lang="en-US" dirty="0"/>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1372145561"/>
              </p:ext>
            </p:extLst>
          </p:nvPr>
        </p:nvGraphicFramePr>
        <p:xfrm>
          <a:off x="457199" y="765175"/>
          <a:ext cx="8229602" cy="5616574"/>
        </p:xfrm>
        <a:graphic>
          <a:graphicData uri="http://schemas.openxmlformats.org/drawingml/2006/table">
            <a:tbl>
              <a:tblPr firstRow="1" firstCol="1" bandRow="1">
                <a:tableStyleId>{5C22544A-7EE6-4342-B048-85BDC9FD1C3A}</a:tableStyleId>
              </a:tblPr>
              <a:tblGrid>
                <a:gridCol w="2199858">
                  <a:extLst>
                    <a:ext uri="{9D8B030D-6E8A-4147-A177-3AD203B41FA5}">
                      <a16:colId xmlns:a16="http://schemas.microsoft.com/office/drawing/2014/main" val="3463936483"/>
                    </a:ext>
                  </a:extLst>
                </a:gridCol>
                <a:gridCol w="3853630">
                  <a:extLst>
                    <a:ext uri="{9D8B030D-6E8A-4147-A177-3AD203B41FA5}">
                      <a16:colId xmlns:a16="http://schemas.microsoft.com/office/drawing/2014/main" val="2920598804"/>
                    </a:ext>
                  </a:extLst>
                </a:gridCol>
                <a:gridCol w="1165221">
                  <a:extLst>
                    <a:ext uri="{9D8B030D-6E8A-4147-A177-3AD203B41FA5}">
                      <a16:colId xmlns:a16="http://schemas.microsoft.com/office/drawing/2014/main" val="9883608"/>
                    </a:ext>
                  </a:extLst>
                </a:gridCol>
                <a:gridCol w="1010893">
                  <a:extLst>
                    <a:ext uri="{9D8B030D-6E8A-4147-A177-3AD203B41FA5}">
                      <a16:colId xmlns:a16="http://schemas.microsoft.com/office/drawing/2014/main" val="3267860158"/>
                    </a:ext>
                  </a:extLst>
                </a:gridCol>
              </a:tblGrid>
              <a:tr h="432044">
                <a:tc>
                  <a:txBody>
                    <a:bodyPr/>
                    <a:lstStyle/>
                    <a:p>
                      <a:pPr>
                        <a:lnSpc>
                          <a:spcPct val="115000"/>
                        </a:lnSpc>
                        <a:spcAft>
                          <a:spcPts val="0"/>
                        </a:spcAft>
                      </a:pPr>
                      <a:r>
                        <a:rPr lang="en-IE" sz="800">
                          <a:effectLst/>
                        </a:rPr>
                        <a:t>Graded Element</a:t>
                      </a:r>
                      <a:endParaRPr lang="en-US" sz="800">
                        <a:effectLst/>
                        <a:latin typeface="Calibri" panose="020F0502020204030204" pitchFamily="34" charset="0"/>
                        <a:ea typeface="Calibri" panose="020F0502020204030204" pitchFamily="34" charset="0"/>
                        <a:cs typeface="Times New Roman" panose="02020603050405020304" pitchFamily="18" charset="0"/>
                      </a:endParaRPr>
                    </a:p>
                  </a:txBody>
                  <a:tcPr marL="51231" marR="51231" marT="0" marB="0"/>
                </a:tc>
                <a:tc>
                  <a:txBody>
                    <a:bodyPr/>
                    <a:lstStyle/>
                    <a:p>
                      <a:pPr>
                        <a:lnSpc>
                          <a:spcPct val="115000"/>
                        </a:lnSpc>
                        <a:spcAft>
                          <a:spcPts val="0"/>
                        </a:spcAft>
                      </a:pPr>
                      <a:r>
                        <a:rPr lang="en-IE" sz="800">
                          <a:effectLst/>
                        </a:rPr>
                        <a:t>Description</a:t>
                      </a:r>
                      <a:endParaRPr lang="en-US" sz="800">
                        <a:effectLst/>
                        <a:latin typeface="Calibri" panose="020F0502020204030204" pitchFamily="34" charset="0"/>
                        <a:ea typeface="Calibri" panose="020F0502020204030204" pitchFamily="34" charset="0"/>
                        <a:cs typeface="Times New Roman" panose="02020603050405020304" pitchFamily="18" charset="0"/>
                      </a:endParaRPr>
                    </a:p>
                  </a:txBody>
                  <a:tcPr marL="51231" marR="51231" marT="0" marB="0"/>
                </a:tc>
                <a:tc>
                  <a:txBody>
                    <a:bodyPr/>
                    <a:lstStyle/>
                    <a:p>
                      <a:pPr>
                        <a:lnSpc>
                          <a:spcPct val="115000"/>
                        </a:lnSpc>
                        <a:spcAft>
                          <a:spcPts val="0"/>
                        </a:spcAft>
                      </a:pPr>
                      <a:r>
                        <a:rPr lang="en-IE" sz="800">
                          <a:effectLst/>
                        </a:rPr>
                        <a:t>% Awarded for Graded Element</a:t>
                      </a:r>
                      <a:endParaRPr lang="en-US" sz="800">
                        <a:effectLst/>
                        <a:latin typeface="Calibri" panose="020F0502020204030204" pitchFamily="34" charset="0"/>
                        <a:ea typeface="Calibri" panose="020F0502020204030204" pitchFamily="34" charset="0"/>
                        <a:cs typeface="Times New Roman" panose="02020603050405020304" pitchFamily="18" charset="0"/>
                      </a:endParaRPr>
                    </a:p>
                  </a:txBody>
                  <a:tcPr marL="51231" marR="51231" marT="0" marB="0"/>
                </a:tc>
                <a:tc>
                  <a:txBody>
                    <a:bodyPr/>
                    <a:lstStyle/>
                    <a:p>
                      <a:pPr>
                        <a:lnSpc>
                          <a:spcPct val="115000"/>
                        </a:lnSpc>
                        <a:spcAft>
                          <a:spcPts val="0"/>
                        </a:spcAft>
                      </a:pPr>
                      <a:r>
                        <a:rPr lang="en-IE" sz="800">
                          <a:effectLst/>
                        </a:rPr>
                        <a:t>Mark Obtained</a:t>
                      </a:r>
                      <a:endParaRPr lang="en-US" sz="800">
                        <a:effectLst/>
                        <a:latin typeface="Calibri" panose="020F0502020204030204" pitchFamily="34" charset="0"/>
                        <a:ea typeface="Calibri" panose="020F0502020204030204" pitchFamily="34" charset="0"/>
                        <a:cs typeface="Times New Roman" panose="02020603050405020304" pitchFamily="18" charset="0"/>
                      </a:endParaRPr>
                    </a:p>
                  </a:txBody>
                  <a:tcPr marL="51231" marR="51231" marT="0" marB="0"/>
                </a:tc>
                <a:extLst>
                  <a:ext uri="{0D108BD9-81ED-4DB2-BD59-A6C34878D82A}">
                    <a16:rowId xmlns:a16="http://schemas.microsoft.com/office/drawing/2014/main" val="2683744137"/>
                  </a:ext>
                </a:extLst>
              </a:tr>
              <a:tr h="864088">
                <a:tc>
                  <a:txBody>
                    <a:bodyPr/>
                    <a:lstStyle/>
                    <a:p>
                      <a:pPr>
                        <a:lnSpc>
                          <a:spcPct val="115000"/>
                        </a:lnSpc>
                        <a:spcAft>
                          <a:spcPts val="0"/>
                        </a:spcAft>
                      </a:pPr>
                      <a:r>
                        <a:rPr lang="en-IE" sz="800">
                          <a:effectLst/>
                        </a:rPr>
                        <a:t>Process</a:t>
                      </a:r>
                      <a:endParaRPr lang="en-US" sz="800">
                        <a:effectLst/>
                        <a:latin typeface="Calibri" panose="020F0502020204030204" pitchFamily="34" charset="0"/>
                        <a:ea typeface="Calibri" panose="020F0502020204030204" pitchFamily="34" charset="0"/>
                        <a:cs typeface="Times New Roman" panose="02020603050405020304" pitchFamily="18" charset="0"/>
                      </a:endParaRPr>
                    </a:p>
                  </a:txBody>
                  <a:tcPr marL="51231" marR="51231" marT="0" marB="0"/>
                </a:tc>
                <a:tc>
                  <a:txBody>
                    <a:bodyPr/>
                    <a:lstStyle/>
                    <a:p>
                      <a:pPr>
                        <a:lnSpc>
                          <a:spcPct val="115000"/>
                        </a:lnSpc>
                        <a:spcAft>
                          <a:spcPts val="0"/>
                        </a:spcAft>
                      </a:pPr>
                      <a:r>
                        <a:rPr lang="en-IE" sz="800">
                          <a:effectLst/>
                        </a:rPr>
                        <a:t>Under this graded element students will be assessed on the basis of their ability to act on guidance given by the supervisor, and achieve agreed deliverables between meetings. A pro-active attitude will be considered a plus.</a:t>
                      </a:r>
                      <a:endParaRPr lang="en-US" sz="800">
                        <a:effectLst/>
                        <a:latin typeface="Calibri" panose="020F0502020204030204" pitchFamily="34" charset="0"/>
                        <a:ea typeface="Calibri" panose="020F0502020204030204" pitchFamily="34" charset="0"/>
                        <a:cs typeface="Times New Roman" panose="02020603050405020304" pitchFamily="18" charset="0"/>
                      </a:endParaRPr>
                    </a:p>
                  </a:txBody>
                  <a:tcPr marL="51231" marR="51231" marT="0" marB="0"/>
                </a:tc>
                <a:tc>
                  <a:txBody>
                    <a:bodyPr/>
                    <a:lstStyle/>
                    <a:p>
                      <a:pPr>
                        <a:lnSpc>
                          <a:spcPct val="115000"/>
                        </a:lnSpc>
                        <a:spcAft>
                          <a:spcPts val="0"/>
                        </a:spcAft>
                      </a:pPr>
                      <a:r>
                        <a:rPr lang="en-IE" sz="800">
                          <a:effectLst/>
                        </a:rPr>
                        <a:t>5%</a:t>
                      </a:r>
                      <a:endParaRPr lang="en-US" sz="800">
                        <a:effectLst/>
                        <a:latin typeface="Calibri" panose="020F0502020204030204" pitchFamily="34" charset="0"/>
                        <a:ea typeface="Calibri" panose="020F0502020204030204" pitchFamily="34" charset="0"/>
                        <a:cs typeface="Times New Roman" panose="02020603050405020304" pitchFamily="18" charset="0"/>
                      </a:endParaRPr>
                    </a:p>
                  </a:txBody>
                  <a:tcPr marL="51231" marR="51231" marT="0" marB="0"/>
                </a:tc>
                <a:tc>
                  <a:txBody>
                    <a:bodyPr/>
                    <a:lstStyle/>
                    <a:p>
                      <a:pPr>
                        <a:lnSpc>
                          <a:spcPct val="115000"/>
                        </a:lnSpc>
                        <a:spcAft>
                          <a:spcPts val="0"/>
                        </a:spcAft>
                      </a:pPr>
                      <a:r>
                        <a:rPr lang="en-IE" sz="800">
                          <a:effectLst/>
                        </a:rPr>
                        <a:t> </a:t>
                      </a:r>
                      <a:endParaRPr lang="en-US" sz="800">
                        <a:effectLst/>
                        <a:latin typeface="Calibri" panose="020F0502020204030204" pitchFamily="34" charset="0"/>
                        <a:ea typeface="Calibri" panose="020F0502020204030204" pitchFamily="34" charset="0"/>
                        <a:cs typeface="Times New Roman" panose="02020603050405020304" pitchFamily="18" charset="0"/>
                      </a:endParaRPr>
                    </a:p>
                  </a:txBody>
                  <a:tcPr marL="51231" marR="51231" marT="0" marB="0"/>
                </a:tc>
                <a:extLst>
                  <a:ext uri="{0D108BD9-81ED-4DB2-BD59-A6C34878D82A}">
                    <a16:rowId xmlns:a16="http://schemas.microsoft.com/office/drawing/2014/main" val="2794644708"/>
                  </a:ext>
                </a:extLst>
              </a:tr>
              <a:tr h="1008103">
                <a:tc>
                  <a:txBody>
                    <a:bodyPr/>
                    <a:lstStyle/>
                    <a:p>
                      <a:pPr>
                        <a:lnSpc>
                          <a:spcPct val="115000"/>
                        </a:lnSpc>
                        <a:spcAft>
                          <a:spcPts val="0"/>
                        </a:spcAft>
                      </a:pPr>
                      <a:r>
                        <a:rPr lang="en-IE" sz="800">
                          <a:effectLst/>
                        </a:rPr>
                        <a:t>Presentations</a:t>
                      </a:r>
                      <a:endParaRPr lang="en-US" sz="800">
                        <a:effectLst/>
                        <a:latin typeface="Calibri" panose="020F0502020204030204" pitchFamily="34" charset="0"/>
                        <a:ea typeface="Calibri" panose="020F0502020204030204" pitchFamily="34" charset="0"/>
                        <a:cs typeface="Times New Roman" panose="02020603050405020304" pitchFamily="18" charset="0"/>
                      </a:endParaRPr>
                    </a:p>
                  </a:txBody>
                  <a:tcPr marL="51231" marR="51231" marT="0" marB="0"/>
                </a:tc>
                <a:tc>
                  <a:txBody>
                    <a:bodyPr/>
                    <a:lstStyle/>
                    <a:p>
                      <a:pPr>
                        <a:lnSpc>
                          <a:spcPct val="115000"/>
                        </a:lnSpc>
                        <a:spcAft>
                          <a:spcPts val="0"/>
                        </a:spcAft>
                      </a:pPr>
                      <a:r>
                        <a:rPr lang="en-IE" sz="800">
                          <a:effectLst/>
                        </a:rPr>
                        <a:t>Under this graded element, students will be assessed on their ability to accurately present the topic of research, on the amount and significance  of relevant literature/material identified and summarised, and on detailing the proposed approach.</a:t>
                      </a:r>
                      <a:endParaRPr lang="en-US" sz="800">
                        <a:effectLst/>
                        <a:latin typeface="Calibri" panose="020F0502020204030204" pitchFamily="34" charset="0"/>
                        <a:ea typeface="Calibri" panose="020F0502020204030204" pitchFamily="34" charset="0"/>
                        <a:cs typeface="Times New Roman" panose="02020603050405020304" pitchFamily="18" charset="0"/>
                      </a:endParaRPr>
                    </a:p>
                  </a:txBody>
                  <a:tcPr marL="51231" marR="51231" marT="0" marB="0"/>
                </a:tc>
                <a:tc>
                  <a:txBody>
                    <a:bodyPr/>
                    <a:lstStyle/>
                    <a:p>
                      <a:pPr>
                        <a:lnSpc>
                          <a:spcPct val="115000"/>
                        </a:lnSpc>
                        <a:spcAft>
                          <a:spcPts val="0"/>
                        </a:spcAft>
                      </a:pPr>
                      <a:r>
                        <a:rPr lang="en-IE" sz="800">
                          <a:effectLst/>
                        </a:rPr>
                        <a:t>10%</a:t>
                      </a:r>
                      <a:endParaRPr lang="en-US" sz="800">
                        <a:effectLst/>
                        <a:latin typeface="Calibri" panose="020F0502020204030204" pitchFamily="34" charset="0"/>
                        <a:ea typeface="Calibri" panose="020F0502020204030204" pitchFamily="34" charset="0"/>
                        <a:cs typeface="Times New Roman" panose="02020603050405020304" pitchFamily="18" charset="0"/>
                      </a:endParaRPr>
                    </a:p>
                  </a:txBody>
                  <a:tcPr marL="51231" marR="51231" marT="0" marB="0"/>
                </a:tc>
                <a:tc>
                  <a:txBody>
                    <a:bodyPr/>
                    <a:lstStyle/>
                    <a:p>
                      <a:pPr>
                        <a:lnSpc>
                          <a:spcPct val="115000"/>
                        </a:lnSpc>
                        <a:spcAft>
                          <a:spcPts val="0"/>
                        </a:spcAft>
                      </a:pPr>
                      <a:r>
                        <a:rPr lang="en-IE" sz="800">
                          <a:effectLst/>
                        </a:rPr>
                        <a:t> </a:t>
                      </a:r>
                      <a:endParaRPr lang="en-US" sz="800">
                        <a:effectLst/>
                        <a:latin typeface="Calibri" panose="020F0502020204030204" pitchFamily="34" charset="0"/>
                        <a:ea typeface="Calibri" panose="020F0502020204030204" pitchFamily="34" charset="0"/>
                        <a:cs typeface="Times New Roman" panose="02020603050405020304" pitchFamily="18" charset="0"/>
                      </a:endParaRPr>
                    </a:p>
                  </a:txBody>
                  <a:tcPr marL="51231" marR="51231" marT="0" marB="0"/>
                </a:tc>
                <a:extLst>
                  <a:ext uri="{0D108BD9-81ED-4DB2-BD59-A6C34878D82A}">
                    <a16:rowId xmlns:a16="http://schemas.microsoft.com/office/drawing/2014/main" val="3495140341"/>
                  </a:ext>
                </a:extLst>
              </a:tr>
              <a:tr h="576059">
                <a:tc>
                  <a:txBody>
                    <a:bodyPr/>
                    <a:lstStyle/>
                    <a:p>
                      <a:pPr>
                        <a:lnSpc>
                          <a:spcPct val="115000"/>
                        </a:lnSpc>
                        <a:spcAft>
                          <a:spcPts val="0"/>
                        </a:spcAft>
                      </a:pPr>
                      <a:r>
                        <a:rPr lang="en-IE" sz="800">
                          <a:effectLst/>
                        </a:rPr>
                        <a:t>Research Question and Objectives</a:t>
                      </a:r>
                      <a:endParaRPr lang="en-US" sz="800">
                        <a:effectLst/>
                        <a:latin typeface="Calibri" panose="020F0502020204030204" pitchFamily="34" charset="0"/>
                        <a:ea typeface="Calibri" panose="020F0502020204030204" pitchFamily="34" charset="0"/>
                        <a:cs typeface="Times New Roman" panose="02020603050405020304" pitchFamily="18" charset="0"/>
                      </a:endParaRPr>
                    </a:p>
                  </a:txBody>
                  <a:tcPr marL="51231" marR="51231" marT="0" marB="0"/>
                </a:tc>
                <a:tc>
                  <a:txBody>
                    <a:bodyPr/>
                    <a:lstStyle/>
                    <a:p>
                      <a:pPr>
                        <a:lnSpc>
                          <a:spcPct val="115000"/>
                        </a:lnSpc>
                        <a:spcAft>
                          <a:spcPts val="0"/>
                        </a:spcAft>
                      </a:pPr>
                      <a:r>
                        <a:rPr lang="en-IE" sz="800">
                          <a:effectLst/>
                        </a:rPr>
                        <a:t>Under this graded element, students will be assessed on their ability to formulate  a clear and relevant research question and a series of objectives for their chosen research topic.</a:t>
                      </a:r>
                      <a:endParaRPr lang="en-US" sz="800">
                        <a:effectLst/>
                        <a:latin typeface="Calibri" panose="020F0502020204030204" pitchFamily="34" charset="0"/>
                        <a:ea typeface="Calibri" panose="020F0502020204030204" pitchFamily="34" charset="0"/>
                        <a:cs typeface="Times New Roman" panose="02020603050405020304" pitchFamily="18" charset="0"/>
                      </a:endParaRPr>
                    </a:p>
                  </a:txBody>
                  <a:tcPr marL="51231" marR="51231" marT="0" marB="0"/>
                </a:tc>
                <a:tc>
                  <a:txBody>
                    <a:bodyPr/>
                    <a:lstStyle/>
                    <a:p>
                      <a:pPr>
                        <a:lnSpc>
                          <a:spcPct val="115000"/>
                        </a:lnSpc>
                        <a:spcAft>
                          <a:spcPts val="0"/>
                        </a:spcAft>
                      </a:pPr>
                      <a:r>
                        <a:rPr lang="en-IE" sz="800">
                          <a:effectLst/>
                        </a:rPr>
                        <a:t>15%</a:t>
                      </a:r>
                      <a:endParaRPr lang="en-US" sz="800">
                        <a:effectLst/>
                        <a:latin typeface="Calibri" panose="020F0502020204030204" pitchFamily="34" charset="0"/>
                        <a:ea typeface="Calibri" panose="020F0502020204030204" pitchFamily="34" charset="0"/>
                        <a:cs typeface="Times New Roman" panose="02020603050405020304" pitchFamily="18" charset="0"/>
                      </a:endParaRPr>
                    </a:p>
                  </a:txBody>
                  <a:tcPr marL="51231" marR="51231" marT="0" marB="0"/>
                </a:tc>
                <a:tc>
                  <a:txBody>
                    <a:bodyPr/>
                    <a:lstStyle/>
                    <a:p>
                      <a:pPr>
                        <a:lnSpc>
                          <a:spcPct val="115000"/>
                        </a:lnSpc>
                        <a:spcAft>
                          <a:spcPts val="0"/>
                        </a:spcAft>
                      </a:pPr>
                      <a:r>
                        <a:rPr lang="en-IE" sz="800">
                          <a:effectLst/>
                        </a:rPr>
                        <a:t> </a:t>
                      </a:r>
                      <a:endParaRPr lang="en-US" sz="800">
                        <a:effectLst/>
                        <a:latin typeface="Calibri" panose="020F0502020204030204" pitchFamily="34" charset="0"/>
                        <a:ea typeface="Calibri" panose="020F0502020204030204" pitchFamily="34" charset="0"/>
                        <a:cs typeface="Times New Roman" panose="02020603050405020304" pitchFamily="18" charset="0"/>
                      </a:endParaRPr>
                    </a:p>
                  </a:txBody>
                  <a:tcPr marL="51231" marR="51231" marT="0" marB="0"/>
                </a:tc>
                <a:extLst>
                  <a:ext uri="{0D108BD9-81ED-4DB2-BD59-A6C34878D82A}">
                    <a16:rowId xmlns:a16="http://schemas.microsoft.com/office/drawing/2014/main" val="724644869"/>
                  </a:ext>
                </a:extLst>
              </a:tr>
              <a:tr h="1008103">
                <a:tc>
                  <a:txBody>
                    <a:bodyPr/>
                    <a:lstStyle/>
                    <a:p>
                      <a:pPr>
                        <a:lnSpc>
                          <a:spcPct val="115000"/>
                        </a:lnSpc>
                        <a:spcAft>
                          <a:spcPts val="0"/>
                        </a:spcAft>
                      </a:pPr>
                      <a:r>
                        <a:rPr lang="en-IE" sz="800">
                          <a:effectLst/>
                        </a:rPr>
                        <a:t>Data Collection and data Analysis</a:t>
                      </a:r>
                      <a:endParaRPr lang="en-US" sz="800">
                        <a:effectLst/>
                        <a:latin typeface="Calibri" panose="020F0502020204030204" pitchFamily="34" charset="0"/>
                        <a:ea typeface="Calibri" panose="020F0502020204030204" pitchFamily="34" charset="0"/>
                        <a:cs typeface="Times New Roman" panose="02020603050405020304" pitchFamily="18" charset="0"/>
                      </a:endParaRPr>
                    </a:p>
                  </a:txBody>
                  <a:tcPr marL="51231" marR="51231" marT="0" marB="0"/>
                </a:tc>
                <a:tc>
                  <a:txBody>
                    <a:bodyPr/>
                    <a:lstStyle/>
                    <a:p>
                      <a:pPr>
                        <a:lnSpc>
                          <a:spcPct val="115000"/>
                        </a:lnSpc>
                        <a:spcAft>
                          <a:spcPts val="0"/>
                        </a:spcAft>
                      </a:pPr>
                      <a:r>
                        <a:rPr lang="en-IE" sz="800">
                          <a:effectLst/>
                        </a:rPr>
                        <a:t>Under this graded element, students will be expected to submit a clear description of their methodology, together with the actual data and findings,  that should reflect a substantial investment in the project. The nature of these materials must be agreed with the supervisor.</a:t>
                      </a:r>
                      <a:endParaRPr lang="en-US" sz="800">
                        <a:effectLst/>
                        <a:latin typeface="Calibri" panose="020F0502020204030204" pitchFamily="34" charset="0"/>
                        <a:ea typeface="Calibri" panose="020F0502020204030204" pitchFamily="34" charset="0"/>
                        <a:cs typeface="Times New Roman" panose="02020603050405020304" pitchFamily="18" charset="0"/>
                      </a:endParaRPr>
                    </a:p>
                  </a:txBody>
                  <a:tcPr marL="51231" marR="51231" marT="0" marB="0"/>
                </a:tc>
                <a:tc>
                  <a:txBody>
                    <a:bodyPr/>
                    <a:lstStyle/>
                    <a:p>
                      <a:pPr>
                        <a:lnSpc>
                          <a:spcPct val="115000"/>
                        </a:lnSpc>
                        <a:spcAft>
                          <a:spcPts val="0"/>
                        </a:spcAft>
                      </a:pPr>
                      <a:r>
                        <a:rPr lang="en-IE" sz="800">
                          <a:effectLst/>
                        </a:rPr>
                        <a:t>30%</a:t>
                      </a:r>
                      <a:endParaRPr lang="en-US" sz="800">
                        <a:effectLst/>
                        <a:latin typeface="Calibri" panose="020F0502020204030204" pitchFamily="34" charset="0"/>
                        <a:ea typeface="Calibri" panose="020F0502020204030204" pitchFamily="34" charset="0"/>
                        <a:cs typeface="Times New Roman" panose="02020603050405020304" pitchFamily="18" charset="0"/>
                      </a:endParaRPr>
                    </a:p>
                  </a:txBody>
                  <a:tcPr marL="51231" marR="51231" marT="0" marB="0"/>
                </a:tc>
                <a:tc>
                  <a:txBody>
                    <a:bodyPr/>
                    <a:lstStyle/>
                    <a:p>
                      <a:pPr>
                        <a:lnSpc>
                          <a:spcPct val="115000"/>
                        </a:lnSpc>
                        <a:spcAft>
                          <a:spcPts val="0"/>
                        </a:spcAft>
                      </a:pPr>
                      <a:r>
                        <a:rPr lang="en-IE" sz="800">
                          <a:effectLst/>
                        </a:rPr>
                        <a:t> </a:t>
                      </a:r>
                      <a:endParaRPr lang="en-US" sz="800">
                        <a:effectLst/>
                        <a:latin typeface="Calibri" panose="020F0502020204030204" pitchFamily="34" charset="0"/>
                        <a:ea typeface="Calibri" panose="020F0502020204030204" pitchFamily="34" charset="0"/>
                        <a:cs typeface="Times New Roman" panose="02020603050405020304" pitchFamily="18" charset="0"/>
                      </a:endParaRPr>
                    </a:p>
                  </a:txBody>
                  <a:tcPr marL="51231" marR="51231" marT="0" marB="0"/>
                </a:tc>
                <a:extLst>
                  <a:ext uri="{0D108BD9-81ED-4DB2-BD59-A6C34878D82A}">
                    <a16:rowId xmlns:a16="http://schemas.microsoft.com/office/drawing/2014/main" val="2995460721"/>
                  </a:ext>
                </a:extLst>
              </a:tr>
              <a:tr h="1728177">
                <a:tc>
                  <a:txBody>
                    <a:bodyPr/>
                    <a:lstStyle/>
                    <a:p>
                      <a:pPr>
                        <a:lnSpc>
                          <a:spcPct val="115000"/>
                        </a:lnSpc>
                        <a:spcAft>
                          <a:spcPts val="0"/>
                        </a:spcAft>
                      </a:pPr>
                      <a:r>
                        <a:rPr lang="en-IE" sz="800">
                          <a:effectLst/>
                        </a:rPr>
                        <a:t>Interim Reports</a:t>
                      </a:r>
                      <a:endParaRPr lang="en-US" sz="800">
                        <a:effectLst/>
                        <a:latin typeface="Calibri" panose="020F0502020204030204" pitchFamily="34" charset="0"/>
                        <a:ea typeface="Calibri" panose="020F0502020204030204" pitchFamily="34" charset="0"/>
                        <a:cs typeface="Times New Roman" panose="02020603050405020304" pitchFamily="18" charset="0"/>
                      </a:endParaRPr>
                    </a:p>
                  </a:txBody>
                  <a:tcPr marL="51231" marR="51231" marT="0" marB="0"/>
                </a:tc>
                <a:tc>
                  <a:txBody>
                    <a:bodyPr/>
                    <a:lstStyle/>
                    <a:p>
                      <a:pPr>
                        <a:lnSpc>
                          <a:spcPct val="115000"/>
                        </a:lnSpc>
                        <a:spcAft>
                          <a:spcPts val="0"/>
                        </a:spcAft>
                      </a:pPr>
                      <a:r>
                        <a:rPr lang="en-IE" sz="800">
                          <a:effectLst/>
                        </a:rPr>
                        <a:t>Under this graded element students will be graded on their ability to accurately contextualize/motivate their work, to derive relevant research questions/objectives from that context, to present a substantial, relevant state-of-the-art for their work, the chosen data collection and data analysis methods,  a summary of the data and findings, as well as a description of their planned intervention. A plan for the remainder of the project is also required, as well as a full transcript of the data collected.</a:t>
                      </a:r>
                      <a:endParaRPr lang="en-US" sz="800">
                        <a:effectLst/>
                        <a:latin typeface="Calibri" panose="020F0502020204030204" pitchFamily="34" charset="0"/>
                        <a:ea typeface="Calibri" panose="020F0502020204030204" pitchFamily="34" charset="0"/>
                        <a:cs typeface="Times New Roman" panose="02020603050405020304" pitchFamily="18" charset="0"/>
                      </a:endParaRPr>
                    </a:p>
                  </a:txBody>
                  <a:tcPr marL="51231" marR="51231" marT="0" marB="0"/>
                </a:tc>
                <a:tc>
                  <a:txBody>
                    <a:bodyPr/>
                    <a:lstStyle/>
                    <a:p>
                      <a:pPr>
                        <a:lnSpc>
                          <a:spcPct val="115000"/>
                        </a:lnSpc>
                        <a:spcAft>
                          <a:spcPts val="0"/>
                        </a:spcAft>
                      </a:pPr>
                      <a:r>
                        <a:rPr lang="en-IE" sz="800">
                          <a:effectLst/>
                        </a:rPr>
                        <a:t>40%</a:t>
                      </a:r>
                      <a:endParaRPr lang="en-US" sz="800">
                        <a:effectLst/>
                        <a:latin typeface="Calibri" panose="020F0502020204030204" pitchFamily="34" charset="0"/>
                        <a:ea typeface="Calibri" panose="020F0502020204030204" pitchFamily="34" charset="0"/>
                        <a:cs typeface="Times New Roman" panose="02020603050405020304" pitchFamily="18" charset="0"/>
                      </a:endParaRPr>
                    </a:p>
                  </a:txBody>
                  <a:tcPr marL="51231" marR="51231" marT="0" marB="0"/>
                </a:tc>
                <a:tc>
                  <a:txBody>
                    <a:bodyPr/>
                    <a:lstStyle/>
                    <a:p>
                      <a:pPr>
                        <a:lnSpc>
                          <a:spcPct val="115000"/>
                        </a:lnSpc>
                        <a:spcAft>
                          <a:spcPts val="0"/>
                        </a:spcAft>
                      </a:pPr>
                      <a:r>
                        <a:rPr lang="en-IE" sz="800" dirty="0">
                          <a:effectLst/>
                        </a:rPr>
                        <a:t> </a:t>
                      </a:r>
                      <a:endParaRPr lang="en-US" sz="800" dirty="0">
                        <a:effectLst/>
                        <a:latin typeface="Calibri" panose="020F0502020204030204" pitchFamily="34" charset="0"/>
                        <a:ea typeface="Calibri" panose="020F0502020204030204" pitchFamily="34" charset="0"/>
                        <a:cs typeface="Times New Roman" panose="02020603050405020304" pitchFamily="18" charset="0"/>
                      </a:endParaRPr>
                    </a:p>
                  </a:txBody>
                  <a:tcPr marL="51231" marR="51231" marT="0" marB="0"/>
                </a:tc>
                <a:extLst>
                  <a:ext uri="{0D108BD9-81ED-4DB2-BD59-A6C34878D82A}">
                    <a16:rowId xmlns:a16="http://schemas.microsoft.com/office/drawing/2014/main" val="769530898"/>
                  </a:ext>
                </a:extLst>
              </a:tr>
            </a:tbl>
          </a:graphicData>
        </a:graphic>
      </p:graphicFrame>
      <p:sp>
        <p:nvSpPr>
          <p:cNvPr id="4" name="Footer Placeholder 3"/>
          <p:cNvSpPr>
            <a:spLocks noGrp="1"/>
          </p:cNvSpPr>
          <p:nvPr>
            <p:ph type="ftr" sz="quarter" idx="10"/>
          </p:nvPr>
        </p:nvSpPr>
        <p:spPr/>
        <p:txBody>
          <a:bodyPr/>
          <a:lstStyle/>
          <a:p>
            <a:pPr>
              <a:defRPr/>
            </a:pPr>
            <a:r>
              <a:rPr lang="en-GB" altLang="en-US" smtClean="0"/>
              <a:t>Department of Computer Science   and Information Systems</a:t>
            </a:r>
            <a:endParaRPr lang="en-US" altLang="en-US"/>
          </a:p>
        </p:txBody>
      </p:sp>
    </p:spTree>
    <p:extLst>
      <p:ext uri="{BB962C8B-B14F-4D97-AF65-F5344CB8AC3E}">
        <p14:creationId xmlns:p14="http://schemas.microsoft.com/office/powerpoint/2010/main" val="353920142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a:xfrm>
            <a:off x="2273300" y="6453188"/>
            <a:ext cx="3819525" cy="220662"/>
          </a:xfrm>
        </p:spPr>
        <p:txBody>
          <a:bodyPr/>
          <a:lstStyle/>
          <a:p>
            <a:pPr>
              <a:defRPr/>
            </a:pPr>
            <a:r>
              <a:rPr lang="en-GB" altLang="en-US"/>
              <a:t>Department of Computer </a:t>
            </a:r>
            <a:r>
              <a:rPr lang="en-GB" altLang="en-US" smtClean="0"/>
              <a:t>Science and </a:t>
            </a:r>
            <a:r>
              <a:rPr lang="en-GB" altLang="en-US"/>
              <a:t>Information Systems</a:t>
            </a:r>
            <a:endParaRPr lang="en-US" altLang="en-US"/>
          </a:p>
        </p:txBody>
      </p:sp>
      <p:sp>
        <p:nvSpPr>
          <p:cNvPr id="5123" name="Rectangle 2"/>
          <p:cNvSpPr>
            <a:spLocks noGrp="1" noChangeArrowheads="1"/>
          </p:cNvSpPr>
          <p:nvPr>
            <p:ph type="title"/>
          </p:nvPr>
        </p:nvSpPr>
        <p:spPr/>
        <p:txBody>
          <a:bodyPr/>
          <a:lstStyle/>
          <a:p>
            <a:pPr eaLnBrk="1" hangingPunct="1"/>
            <a:r>
              <a:rPr lang="en-GB" dirty="0" smtClean="0"/>
              <a:t>Take-away messages</a:t>
            </a:r>
            <a:r>
              <a:rPr lang="en-US" dirty="0" smtClean="0"/>
              <a:t> </a:t>
            </a:r>
          </a:p>
        </p:txBody>
      </p:sp>
      <p:sp>
        <p:nvSpPr>
          <p:cNvPr id="41987" name="Rectangle 3"/>
          <p:cNvSpPr>
            <a:spLocks noGrp="1" noChangeArrowheads="1"/>
          </p:cNvSpPr>
          <p:nvPr>
            <p:ph type="body" idx="1"/>
          </p:nvPr>
        </p:nvSpPr>
        <p:spPr>
          <a:xfrm>
            <a:off x="285750" y="765175"/>
            <a:ext cx="8572500" cy="5616575"/>
          </a:xfrm>
        </p:spPr>
        <p:txBody>
          <a:bodyPr/>
          <a:lstStyle/>
          <a:p>
            <a:pPr eaLnBrk="1" hangingPunct="1"/>
            <a:r>
              <a:rPr lang="en-GB" dirty="0" smtClean="0"/>
              <a:t>Get your proposals submitted by Monday week 3, 12:00</a:t>
            </a:r>
          </a:p>
          <a:p>
            <a:pPr lvl="1" eaLnBrk="1" hangingPunct="1"/>
            <a:r>
              <a:rPr lang="en-GB" dirty="0" err="1" smtClean="0"/>
              <a:t>Webform</a:t>
            </a:r>
            <a:endParaRPr lang="en-GB" dirty="0" smtClean="0"/>
          </a:p>
          <a:p>
            <a:pPr lvl="1" eaLnBrk="1" hangingPunct="1"/>
            <a:r>
              <a:rPr lang="en-GB" dirty="0" smtClean="0"/>
              <a:t>+ </a:t>
            </a:r>
            <a:r>
              <a:rPr lang="en-GB" dirty="0" smtClean="0"/>
              <a:t>physical proposal </a:t>
            </a:r>
            <a:r>
              <a:rPr lang="en-GB" dirty="0" smtClean="0"/>
              <a:t>with </a:t>
            </a:r>
            <a:r>
              <a:rPr lang="en-GB" dirty="0" smtClean="0"/>
              <a:t>supervisor’s </a:t>
            </a:r>
            <a:r>
              <a:rPr lang="en-GB" dirty="0" smtClean="0"/>
              <a:t>signature/email</a:t>
            </a:r>
          </a:p>
          <a:p>
            <a:pPr eaLnBrk="1" hangingPunct="1"/>
            <a:r>
              <a:rPr lang="en-GB" dirty="0" smtClean="0"/>
              <a:t>Grading is divided into term 1 and term 2: 	</a:t>
            </a:r>
          </a:p>
          <a:p>
            <a:pPr lvl="1" eaLnBrk="1" hangingPunct="1"/>
            <a:r>
              <a:rPr lang="en-GB" dirty="0" smtClean="0"/>
              <a:t>Term 1:</a:t>
            </a:r>
          </a:p>
          <a:p>
            <a:pPr lvl="2" eaLnBrk="1" hangingPunct="1"/>
            <a:r>
              <a:rPr lang="en-GB" dirty="0" smtClean="0"/>
              <a:t>Process (meetings and work between them)</a:t>
            </a:r>
          </a:p>
          <a:p>
            <a:pPr lvl="2" eaLnBrk="1" hangingPunct="1"/>
            <a:r>
              <a:rPr lang="en-GB" dirty="0" smtClean="0"/>
              <a:t>Presentations, week 6</a:t>
            </a:r>
          </a:p>
          <a:p>
            <a:pPr lvl="2" eaLnBrk="1" hangingPunct="1"/>
            <a:r>
              <a:rPr lang="en-GB" dirty="0" smtClean="0"/>
              <a:t>Interim report and supplementary material/work (02/01/2019) </a:t>
            </a:r>
          </a:p>
          <a:p>
            <a:pPr eaLnBrk="1" hangingPunct="1"/>
            <a:r>
              <a:rPr lang="en-GB" dirty="0" err="1" smtClean="0"/>
              <a:t>Misc</a:t>
            </a:r>
            <a:r>
              <a:rPr lang="en-GB" dirty="0" smtClean="0"/>
              <a:t>:</a:t>
            </a:r>
          </a:p>
          <a:p>
            <a:pPr lvl="1" eaLnBrk="1" hangingPunct="1"/>
            <a:r>
              <a:rPr lang="en-GB" dirty="0" smtClean="0"/>
              <a:t>Looking at previous FYPs: </a:t>
            </a:r>
            <a:r>
              <a:rPr lang="en-GB" u="sng" dirty="0" smtClean="0">
                <a:hlinkClick r:id="rId2" action="ppaction://hlinkfile"/>
              </a:rPr>
              <a:t>\\casper\fyp</a:t>
            </a:r>
            <a:r>
              <a:rPr lang="en-GB" dirty="0" smtClean="0"/>
              <a:t> , then choose the year</a:t>
            </a:r>
            <a:endParaRPr lang="en-IE" dirty="0" smtClean="0"/>
          </a:p>
          <a:p>
            <a:r>
              <a:rPr lang="en-IE" dirty="0" smtClean="0"/>
              <a:t>Upcoming</a:t>
            </a:r>
            <a:r>
              <a:rPr lang="en-IE" dirty="0" smtClean="0"/>
              <a:t> </a:t>
            </a:r>
            <a:r>
              <a:rPr lang="en-IE" dirty="0" smtClean="0"/>
              <a:t>FYP lectures:</a:t>
            </a:r>
          </a:p>
          <a:p>
            <a:pPr lvl="1"/>
            <a:r>
              <a:rPr lang="en-IE" dirty="0" smtClean="0"/>
              <a:t>Week 2: </a:t>
            </a:r>
            <a:r>
              <a:rPr lang="en-IE" dirty="0"/>
              <a:t>The Ethics of studies with Participants</a:t>
            </a:r>
            <a:endParaRPr lang="en-US" dirty="0"/>
          </a:p>
          <a:p>
            <a:pPr lvl="1"/>
            <a:r>
              <a:rPr lang="en-IE" dirty="0" smtClean="0"/>
              <a:t>Week </a:t>
            </a:r>
            <a:r>
              <a:rPr lang="en-IE" dirty="0" smtClean="0"/>
              <a:t>3: Presentations, week </a:t>
            </a:r>
            <a:r>
              <a:rPr lang="en-IE" dirty="0" smtClean="0"/>
              <a:t>6</a:t>
            </a:r>
            <a:endParaRPr lang="en-IE"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987">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41987">
                                            <p:txEl>
                                              <p:pRg st="0" end="0"/>
                                            </p:txEl>
                                          </p:spTgt>
                                        </p:tgtEl>
                                        <p:attrNameLst>
                                          <p:attrName>ppt_c</p:attrName>
                                        </p:attrNameLst>
                                      </p:cBhvr>
                                      <p:to>
                                        <a:schemeClr val="bg2"/>
                                      </p:to>
                                    </p:animClr>
                                  </p:subTnLst>
                                </p:cTn>
                              </p:par>
                              <p:par>
                                <p:cTn id="7" presetID="1" presetClass="entr" presetSubtype="0" fill="hold" grpId="0" nodeType="withEffect">
                                  <p:stCondLst>
                                    <p:cond delay="0"/>
                                  </p:stCondLst>
                                  <p:childTnLst>
                                    <p:set>
                                      <p:cBhvr>
                                        <p:cTn id="8" dur="1" fill="hold">
                                          <p:stCondLst>
                                            <p:cond delay="0"/>
                                          </p:stCondLst>
                                        </p:cTn>
                                        <p:tgtEl>
                                          <p:spTgt spid="41987">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41987">
                                            <p:txEl>
                                              <p:pRg st="1" end="1"/>
                                            </p:txEl>
                                          </p:spTgt>
                                        </p:tgtEl>
                                        <p:attrNameLst>
                                          <p:attrName>ppt_c</p:attrName>
                                        </p:attrNameLst>
                                      </p:cBhvr>
                                      <p:to>
                                        <a:schemeClr val="bg2"/>
                                      </p:to>
                                    </p:animClr>
                                  </p:subTnLst>
                                </p:cTn>
                              </p:par>
                              <p:par>
                                <p:cTn id="9" presetID="1" presetClass="entr" presetSubtype="0" fill="hold" grpId="0" nodeType="withEffect">
                                  <p:stCondLst>
                                    <p:cond delay="0"/>
                                  </p:stCondLst>
                                  <p:childTnLst>
                                    <p:set>
                                      <p:cBhvr>
                                        <p:cTn id="10" dur="1" fill="hold">
                                          <p:stCondLst>
                                            <p:cond delay="0"/>
                                          </p:stCondLst>
                                        </p:cTn>
                                        <p:tgtEl>
                                          <p:spTgt spid="41987">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41987">
                                            <p:txEl>
                                              <p:pRg st="2" end="2"/>
                                            </p:txEl>
                                          </p:spTgt>
                                        </p:tgtEl>
                                        <p:attrNameLst>
                                          <p:attrName>ppt_c</p:attrName>
                                        </p:attrNameLst>
                                      </p:cBhvr>
                                      <p:to>
                                        <a:schemeClr val="bg2"/>
                                      </p:to>
                                    </p:animClr>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1987">
                                            <p:txEl>
                                              <p:pRg st="3" end="3"/>
                                            </p:txEl>
                                          </p:spTgt>
                                        </p:tgtEl>
                                        <p:attrNameLst>
                                          <p:attrName>style.visibility</p:attrName>
                                        </p:attrNameLst>
                                      </p:cBhvr>
                                      <p:to>
                                        <p:strVal val="visible"/>
                                      </p:to>
                                    </p:set>
                                  </p:childTnLst>
                                  <p:subTnLst>
                                    <p:animClr clrSpc="rgb" dir="cw">
                                      <p:cBhvr override="childStyle">
                                        <p:cTn dur="1" fill="hold" display="0" masterRel="nextClick" afterEffect="1"/>
                                        <p:tgtEl>
                                          <p:spTgt spid="41987">
                                            <p:txEl>
                                              <p:pRg st="3" end="3"/>
                                            </p:txEl>
                                          </p:spTgt>
                                        </p:tgtEl>
                                        <p:attrNameLst>
                                          <p:attrName>ppt_c</p:attrName>
                                        </p:attrNameLst>
                                      </p:cBhvr>
                                      <p:to>
                                        <a:schemeClr val="bg2"/>
                                      </p:to>
                                    </p:animClr>
                                  </p:subTnLst>
                                </p:cTn>
                              </p:par>
                              <p:par>
                                <p:cTn id="15" presetID="1" presetClass="entr" presetSubtype="0" fill="hold" grpId="0" nodeType="withEffect">
                                  <p:stCondLst>
                                    <p:cond delay="0"/>
                                  </p:stCondLst>
                                  <p:childTnLst>
                                    <p:set>
                                      <p:cBhvr>
                                        <p:cTn id="16" dur="1" fill="hold">
                                          <p:stCondLst>
                                            <p:cond delay="0"/>
                                          </p:stCondLst>
                                        </p:cTn>
                                        <p:tgtEl>
                                          <p:spTgt spid="41987">
                                            <p:txEl>
                                              <p:pRg st="4" end="4"/>
                                            </p:txEl>
                                          </p:spTgt>
                                        </p:tgtEl>
                                        <p:attrNameLst>
                                          <p:attrName>style.visibility</p:attrName>
                                        </p:attrNameLst>
                                      </p:cBhvr>
                                      <p:to>
                                        <p:strVal val="visible"/>
                                      </p:to>
                                    </p:set>
                                  </p:childTnLst>
                                  <p:subTnLst>
                                    <p:animClr clrSpc="rgb" dir="cw">
                                      <p:cBhvr override="childStyle">
                                        <p:cTn dur="1" fill="hold" display="0" masterRel="nextClick" afterEffect="1"/>
                                        <p:tgtEl>
                                          <p:spTgt spid="41987">
                                            <p:txEl>
                                              <p:pRg st="4" end="4"/>
                                            </p:txEl>
                                          </p:spTgt>
                                        </p:tgtEl>
                                        <p:attrNameLst>
                                          <p:attrName>ppt_c</p:attrName>
                                        </p:attrNameLst>
                                      </p:cBhvr>
                                      <p:to>
                                        <a:schemeClr val="bg2"/>
                                      </p:to>
                                    </p:animClr>
                                  </p:subTnLst>
                                </p:cTn>
                              </p:par>
                              <p:par>
                                <p:cTn id="17" presetID="1" presetClass="entr" presetSubtype="0" fill="hold" grpId="0" nodeType="withEffect">
                                  <p:stCondLst>
                                    <p:cond delay="0"/>
                                  </p:stCondLst>
                                  <p:childTnLst>
                                    <p:set>
                                      <p:cBhvr>
                                        <p:cTn id="18" dur="1" fill="hold">
                                          <p:stCondLst>
                                            <p:cond delay="0"/>
                                          </p:stCondLst>
                                        </p:cTn>
                                        <p:tgtEl>
                                          <p:spTgt spid="41987">
                                            <p:txEl>
                                              <p:pRg st="5" end="5"/>
                                            </p:txEl>
                                          </p:spTgt>
                                        </p:tgtEl>
                                        <p:attrNameLst>
                                          <p:attrName>style.visibility</p:attrName>
                                        </p:attrNameLst>
                                      </p:cBhvr>
                                      <p:to>
                                        <p:strVal val="visible"/>
                                      </p:to>
                                    </p:set>
                                  </p:childTnLst>
                                  <p:subTnLst>
                                    <p:animClr clrSpc="rgb" dir="cw">
                                      <p:cBhvr override="childStyle">
                                        <p:cTn dur="1" fill="hold" display="0" masterRel="nextClick" afterEffect="1"/>
                                        <p:tgtEl>
                                          <p:spTgt spid="41987">
                                            <p:txEl>
                                              <p:pRg st="5" end="5"/>
                                            </p:txEl>
                                          </p:spTgt>
                                        </p:tgtEl>
                                        <p:attrNameLst>
                                          <p:attrName>ppt_c</p:attrName>
                                        </p:attrNameLst>
                                      </p:cBhvr>
                                      <p:to>
                                        <a:schemeClr val="bg2"/>
                                      </p:to>
                                    </p:animClr>
                                  </p:subTnLst>
                                </p:cTn>
                              </p:par>
                              <p:par>
                                <p:cTn id="19" presetID="1" presetClass="entr" presetSubtype="0" fill="hold" grpId="0" nodeType="withEffect">
                                  <p:stCondLst>
                                    <p:cond delay="0"/>
                                  </p:stCondLst>
                                  <p:childTnLst>
                                    <p:set>
                                      <p:cBhvr>
                                        <p:cTn id="20" dur="1" fill="hold">
                                          <p:stCondLst>
                                            <p:cond delay="0"/>
                                          </p:stCondLst>
                                        </p:cTn>
                                        <p:tgtEl>
                                          <p:spTgt spid="41987">
                                            <p:txEl>
                                              <p:pRg st="6" end="6"/>
                                            </p:txEl>
                                          </p:spTgt>
                                        </p:tgtEl>
                                        <p:attrNameLst>
                                          <p:attrName>style.visibility</p:attrName>
                                        </p:attrNameLst>
                                      </p:cBhvr>
                                      <p:to>
                                        <p:strVal val="visible"/>
                                      </p:to>
                                    </p:set>
                                  </p:childTnLst>
                                  <p:subTnLst>
                                    <p:animClr clrSpc="rgb" dir="cw">
                                      <p:cBhvr override="childStyle">
                                        <p:cTn dur="1" fill="hold" display="0" masterRel="nextClick" afterEffect="1"/>
                                        <p:tgtEl>
                                          <p:spTgt spid="41987">
                                            <p:txEl>
                                              <p:pRg st="6" end="6"/>
                                            </p:txEl>
                                          </p:spTgt>
                                        </p:tgtEl>
                                        <p:attrNameLst>
                                          <p:attrName>ppt_c</p:attrName>
                                        </p:attrNameLst>
                                      </p:cBhvr>
                                      <p:to>
                                        <a:schemeClr val="bg2"/>
                                      </p:to>
                                    </p:animClr>
                                  </p:subTnLst>
                                </p:cTn>
                              </p:par>
                              <p:par>
                                <p:cTn id="21" presetID="1" presetClass="entr" presetSubtype="0" fill="hold" grpId="0" nodeType="withEffect">
                                  <p:stCondLst>
                                    <p:cond delay="0"/>
                                  </p:stCondLst>
                                  <p:childTnLst>
                                    <p:set>
                                      <p:cBhvr>
                                        <p:cTn id="22" dur="1" fill="hold">
                                          <p:stCondLst>
                                            <p:cond delay="0"/>
                                          </p:stCondLst>
                                        </p:cTn>
                                        <p:tgtEl>
                                          <p:spTgt spid="41987">
                                            <p:txEl>
                                              <p:pRg st="7" end="7"/>
                                            </p:txEl>
                                          </p:spTgt>
                                        </p:tgtEl>
                                        <p:attrNameLst>
                                          <p:attrName>style.visibility</p:attrName>
                                        </p:attrNameLst>
                                      </p:cBhvr>
                                      <p:to>
                                        <p:strVal val="visible"/>
                                      </p:to>
                                    </p:set>
                                  </p:childTnLst>
                                  <p:subTnLst>
                                    <p:animClr clrSpc="rgb" dir="cw">
                                      <p:cBhvr override="childStyle">
                                        <p:cTn dur="1" fill="hold" display="0" masterRel="nextClick" afterEffect="1"/>
                                        <p:tgtEl>
                                          <p:spTgt spid="41987">
                                            <p:txEl>
                                              <p:pRg st="7" end="7"/>
                                            </p:txEl>
                                          </p:spTgt>
                                        </p:tgtEl>
                                        <p:attrNameLst>
                                          <p:attrName>ppt_c</p:attrName>
                                        </p:attrNameLst>
                                      </p:cBhvr>
                                      <p:to>
                                        <a:schemeClr val="bg2"/>
                                      </p:to>
                                    </p:animClr>
                                  </p:sub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1987">
                                            <p:txEl>
                                              <p:pRg st="8" end="8"/>
                                            </p:txEl>
                                          </p:spTgt>
                                        </p:tgtEl>
                                        <p:attrNameLst>
                                          <p:attrName>style.visibility</p:attrName>
                                        </p:attrNameLst>
                                      </p:cBhvr>
                                      <p:to>
                                        <p:strVal val="visible"/>
                                      </p:to>
                                    </p:set>
                                  </p:childTnLst>
                                  <p:subTnLst>
                                    <p:animClr clrSpc="rgb" dir="cw">
                                      <p:cBhvr override="childStyle">
                                        <p:cTn dur="1" fill="hold" display="0" masterRel="nextClick" afterEffect="1"/>
                                        <p:tgtEl>
                                          <p:spTgt spid="41987">
                                            <p:txEl>
                                              <p:pRg st="8" end="8"/>
                                            </p:txEl>
                                          </p:spTgt>
                                        </p:tgtEl>
                                        <p:attrNameLst>
                                          <p:attrName>ppt_c</p:attrName>
                                        </p:attrNameLst>
                                      </p:cBhvr>
                                      <p:to>
                                        <a:schemeClr val="bg2"/>
                                      </p:to>
                                    </p:animClr>
                                  </p:subTnLst>
                                </p:cTn>
                              </p:par>
                              <p:par>
                                <p:cTn id="27" presetID="1" presetClass="entr" presetSubtype="0" fill="hold" grpId="0" nodeType="withEffect">
                                  <p:stCondLst>
                                    <p:cond delay="0"/>
                                  </p:stCondLst>
                                  <p:childTnLst>
                                    <p:set>
                                      <p:cBhvr>
                                        <p:cTn id="28" dur="1" fill="hold">
                                          <p:stCondLst>
                                            <p:cond delay="0"/>
                                          </p:stCondLst>
                                        </p:cTn>
                                        <p:tgtEl>
                                          <p:spTgt spid="41987">
                                            <p:txEl>
                                              <p:pRg st="9" end="9"/>
                                            </p:txEl>
                                          </p:spTgt>
                                        </p:tgtEl>
                                        <p:attrNameLst>
                                          <p:attrName>style.visibility</p:attrName>
                                        </p:attrNameLst>
                                      </p:cBhvr>
                                      <p:to>
                                        <p:strVal val="visible"/>
                                      </p:to>
                                    </p:set>
                                  </p:childTnLst>
                                  <p:subTnLst>
                                    <p:animClr clrSpc="rgb" dir="cw">
                                      <p:cBhvr override="childStyle">
                                        <p:cTn dur="1" fill="hold" display="0" masterRel="nextClick" afterEffect="1"/>
                                        <p:tgtEl>
                                          <p:spTgt spid="41987">
                                            <p:txEl>
                                              <p:pRg st="9" end="9"/>
                                            </p:txEl>
                                          </p:spTgt>
                                        </p:tgtEl>
                                        <p:attrNameLst>
                                          <p:attrName>ppt_c</p:attrName>
                                        </p:attrNameLst>
                                      </p:cBhvr>
                                      <p:to>
                                        <a:schemeClr val="bg2"/>
                                      </p:to>
                                    </p:animClr>
                                  </p:sub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1987">
                                            <p:txEl>
                                              <p:pRg st="10" end="10"/>
                                            </p:txEl>
                                          </p:spTgt>
                                        </p:tgtEl>
                                        <p:attrNameLst>
                                          <p:attrName>style.visibility</p:attrName>
                                        </p:attrNameLst>
                                      </p:cBhvr>
                                      <p:to>
                                        <p:strVal val="visible"/>
                                      </p:to>
                                    </p:set>
                                  </p:childTnLst>
                                  <p:subTnLst>
                                    <p:animClr clrSpc="rgb" dir="cw">
                                      <p:cBhvr override="childStyle">
                                        <p:cTn dur="1" fill="hold" display="0" masterRel="nextClick" afterEffect="1"/>
                                        <p:tgtEl>
                                          <p:spTgt spid="41987">
                                            <p:txEl>
                                              <p:pRg st="10" end="10"/>
                                            </p:txEl>
                                          </p:spTgt>
                                        </p:tgtEl>
                                        <p:attrNameLst>
                                          <p:attrName>ppt_c</p:attrName>
                                        </p:attrNameLst>
                                      </p:cBhvr>
                                      <p:to>
                                        <a:schemeClr val="bg2"/>
                                      </p:to>
                                    </p:animClr>
                                  </p:subTnLst>
                                </p:cTn>
                              </p:par>
                              <p:par>
                                <p:cTn id="33" presetID="1" presetClass="entr" presetSubtype="0" fill="hold" grpId="0" nodeType="withEffect">
                                  <p:stCondLst>
                                    <p:cond delay="0"/>
                                  </p:stCondLst>
                                  <p:childTnLst>
                                    <p:set>
                                      <p:cBhvr>
                                        <p:cTn id="34" dur="1" fill="hold">
                                          <p:stCondLst>
                                            <p:cond delay="0"/>
                                          </p:stCondLst>
                                        </p:cTn>
                                        <p:tgtEl>
                                          <p:spTgt spid="41987">
                                            <p:txEl>
                                              <p:pRg st="11" end="11"/>
                                            </p:txEl>
                                          </p:spTgt>
                                        </p:tgtEl>
                                        <p:attrNameLst>
                                          <p:attrName>style.visibility</p:attrName>
                                        </p:attrNameLst>
                                      </p:cBhvr>
                                      <p:to>
                                        <p:strVal val="visible"/>
                                      </p:to>
                                    </p:set>
                                  </p:childTnLst>
                                  <p:subTnLst>
                                    <p:animClr clrSpc="rgb" dir="cw">
                                      <p:cBhvr override="childStyle">
                                        <p:cTn dur="1" fill="hold" display="0" masterRel="nextClick" afterEffect="1"/>
                                        <p:tgtEl>
                                          <p:spTgt spid="41987">
                                            <p:txEl>
                                              <p:pRg st="11" end="11"/>
                                            </p:txEl>
                                          </p:spTgt>
                                        </p:tgtEl>
                                        <p:attrNameLst>
                                          <p:attrName>ppt_c</p:attrName>
                                        </p:attrNameLst>
                                      </p:cBhvr>
                                      <p:to>
                                        <a:schemeClr val="bg2"/>
                                      </p:to>
                                    </p:animClr>
                                  </p:subTnLst>
                                </p:cTn>
                              </p:par>
                              <p:par>
                                <p:cTn id="35" presetID="1" presetClass="entr" presetSubtype="0" fill="hold" grpId="0" nodeType="withEffect">
                                  <p:stCondLst>
                                    <p:cond delay="0"/>
                                  </p:stCondLst>
                                  <p:childTnLst>
                                    <p:set>
                                      <p:cBhvr>
                                        <p:cTn id="36" dur="1" fill="hold">
                                          <p:stCondLst>
                                            <p:cond delay="0"/>
                                          </p:stCondLst>
                                        </p:cTn>
                                        <p:tgtEl>
                                          <p:spTgt spid="41987">
                                            <p:txEl>
                                              <p:pRg st="12" end="12"/>
                                            </p:txEl>
                                          </p:spTgt>
                                        </p:tgtEl>
                                        <p:attrNameLst>
                                          <p:attrName>style.visibility</p:attrName>
                                        </p:attrNameLst>
                                      </p:cBhvr>
                                      <p:to>
                                        <p:strVal val="visible"/>
                                      </p:to>
                                    </p:set>
                                  </p:childTnLst>
                                  <p:subTnLst>
                                    <p:animClr clrSpc="rgb" dir="cw">
                                      <p:cBhvr override="childStyle">
                                        <p:cTn dur="1" fill="hold" display="0" masterRel="nextClick" afterEffect="1"/>
                                        <p:tgtEl>
                                          <p:spTgt spid="41987">
                                            <p:txEl>
                                              <p:pRg st="12" end="12"/>
                                            </p:txEl>
                                          </p:spTgt>
                                        </p:tgtEl>
                                        <p:attrNameLst>
                                          <p:attrName>ppt_c</p:attrName>
                                        </p:attrNameLst>
                                      </p:cBhvr>
                                      <p:to>
                                        <a:schemeClr val="bg2"/>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7"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E" dirty="0" smtClean="0"/>
              <a:t>Take-away Messages 2</a:t>
            </a:r>
            <a:endParaRPr lang="en-IE" dirty="0"/>
          </a:p>
        </p:txBody>
      </p:sp>
      <p:sp>
        <p:nvSpPr>
          <p:cNvPr id="3" name="Content Placeholder 2"/>
          <p:cNvSpPr>
            <a:spLocks noGrp="1"/>
          </p:cNvSpPr>
          <p:nvPr>
            <p:ph idx="1"/>
          </p:nvPr>
        </p:nvSpPr>
        <p:spPr/>
        <p:txBody>
          <a:bodyPr/>
          <a:lstStyle/>
          <a:p>
            <a:r>
              <a:rPr lang="en-IE" dirty="0" smtClean="0"/>
              <a:t>Work hard initially as, as the term progresses, module projects etc, will eat into your available time;		</a:t>
            </a:r>
          </a:p>
          <a:p>
            <a:pPr marL="2713038" lvl="7" indent="0">
              <a:buNone/>
            </a:pPr>
            <a:endParaRPr lang="en-IE" dirty="0" smtClean="0"/>
          </a:p>
          <a:p>
            <a:r>
              <a:rPr lang="en-IE" dirty="0" smtClean="0"/>
              <a:t>You are the engine, your supervisor the occasional rudder holder</a:t>
            </a:r>
          </a:p>
          <a:p>
            <a:pPr lvl="4"/>
            <a:endParaRPr lang="en-IE" dirty="0"/>
          </a:p>
          <a:p>
            <a:pPr eaLnBrk="1" hangingPunct="1"/>
            <a:r>
              <a:rPr lang="en-GB" dirty="0"/>
              <a:t>Emailing me about your FYP</a:t>
            </a:r>
          </a:p>
          <a:p>
            <a:pPr lvl="2" eaLnBrk="1" hangingPunct="1"/>
            <a:r>
              <a:rPr lang="en-IE" dirty="0"/>
              <a:t>Always put [FYP] in the subject line</a:t>
            </a:r>
          </a:p>
          <a:p>
            <a:pPr lvl="2"/>
            <a:r>
              <a:rPr lang="en-IE" dirty="0"/>
              <a:t>Resend if you don’t get a response within two working days (years</a:t>
            </a:r>
            <a:r>
              <a:rPr lang="en-IE" dirty="0" smtClean="0"/>
              <a:t>!!)</a:t>
            </a:r>
          </a:p>
          <a:p>
            <a:pPr lvl="2"/>
            <a:r>
              <a:rPr lang="en-IE" dirty="0" smtClean="0"/>
              <a:t>My perspective: 1 poor academic(!) facing </a:t>
            </a:r>
            <a:r>
              <a:rPr lang="en-IE" dirty="0" smtClean="0"/>
              <a:t>110 </a:t>
            </a:r>
            <a:r>
              <a:rPr lang="en-IE" dirty="0" smtClean="0"/>
              <a:t>students</a:t>
            </a:r>
          </a:p>
          <a:p>
            <a:pPr lvl="2"/>
            <a:r>
              <a:rPr lang="en-IE" dirty="0" smtClean="0"/>
              <a:t>So, I will not respond to emails which request material that I have covered in </a:t>
            </a:r>
            <a:r>
              <a:rPr lang="en-IE" dirty="0" smtClean="0"/>
              <a:t>lectures, </a:t>
            </a:r>
            <a:r>
              <a:rPr lang="en-IE" dirty="0" smtClean="0"/>
              <a:t>without a good </a:t>
            </a:r>
            <a:r>
              <a:rPr lang="en-IE" dirty="0" smtClean="0"/>
              <a:t>excuse </a:t>
            </a:r>
            <a:r>
              <a:rPr lang="en-IE" dirty="0" smtClean="0"/>
              <a:t>for you not being at the lecture (so please include that in your email)</a:t>
            </a:r>
          </a:p>
          <a:p>
            <a:pPr lvl="2"/>
            <a:r>
              <a:rPr lang="en-IE" dirty="0" smtClean="0"/>
              <a:t>But I am VERY happy to answer other questions, not covered in lectures, ideally ‘to all’;</a:t>
            </a:r>
          </a:p>
        </p:txBody>
      </p:sp>
      <p:sp>
        <p:nvSpPr>
          <p:cNvPr id="4" name="Footer Placeholder 3"/>
          <p:cNvSpPr>
            <a:spLocks noGrp="1"/>
          </p:cNvSpPr>
          <p:nvPr>
            <p:ph type="ftr" sz="quarter" idx="10"/>
          </p:nvPr>
        </p:nvSpPr>
        <p:spPr/>
        <p:txBody>
          <a:bodyPr/>
          <a:lstStyle/>
          <a:p>
            <a:pPr>
              <a:defRPr/>
            </a:pPr>
            <a:r>
              <a:rPr lang="en-GB" altLang="en-US" smtClean="0"/>
              <a:t>Department of Computer Science   and Information Systems</a:t>
            </a:r>
            <a:endParaRPr lang="en-US" altLang="en-US"/>
          </a:p>
        </p:txBody>
      </p:sp>
    </p:spTree>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PRESENTER" val="a17ad4b1e2b8c7e7a8bc1692aa143f88a7f216c"/>
</p:tagLst>
</file>

<file path=ppt/theme/theme1.xml><?xml version="1.0" encoding="utf-8"?>
<a:theme xmlns:a="http://schemas.openxmlformats.org/drawingml/2006/main" name="Edge">
  <a:themeElements>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fontScheme name="Edge">
      <a:majorFont>
        <a:latin typeface="Garamond"/>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571500" marR="0" indent="-571500" algn="l" defTabSz="914400" rtl="0" eaLnBrk="1" fontAlgn="base" latinLnBrk="0" hangingPunct="1">
          <a:lnSpc>
            <a:spcPct val="95000"/>
          </a:lnSpc>
          <a:spcBef>
            <a:spcPct val="30000"/>
          </a:spcBef>
          <a:spcAft>
            <a:spcPct val="0"/>
          </a:spcAft>
          <a:buClr>
            <a:schemeClr val="accent1"/>
          </a:buClr>
          <a:buSzPct val="65000"/>
          <a:buFont typeface="Wingdings" pitchFamily="2" charset="2"/>
          <a:buChar char="n"/>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571500" marR="0" indent="-571500" algn="l" defTabSz="914400" rtl="0" eaLnBrk="1" fontAlgn="base" latinLnBrk="0" hangingPunct="1">
          <a:lnSpc>
            <a:spcPct val="95000"/>
          </a:lnSpc>
          <a:spcBef>
            <a:spcPct val="30000"/>
          </a:spcBef>
          <a:spcAft>
            <a:spcPct val="0"/>
          </a:spcAft>
          <a:buClr>
            <a:schemeClr val="accent1"/>
          </a:buClr>
          <a:buSzPct val="65000"/>
          <a:buFont typeface="Wingdings" pitchFamily="2" charset="2"/>
          <a:buChar char="n"/>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Edge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dge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Edge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Edge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Edge</Template>
  <TotalTime>2238</TotalTime>
  <Words>3029</Words>
  <Application>Microsoft Office PowerPoint</Application>
  <PresentationFormat>On-screen Show (4:3)</PresentationFormat>
  <Paragraphs>344</Paragraphs>
  <Slides>25</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Arial</vt:lpstr>
      <vt:lpstr>Calibri</vt:lpstr>
      <vt:lpstr>Garamond</vt:lpstr>
      <vt:lpstr>Times New Roman</vt:lpstr>
      <vt:lpstr>Wingdings</vt:lpstr>
      <vt:lpstr>Edge</vt:lpstr>
      <vt:lpstr>Introduction to the Final Year Project      Jim Buckley Jim.Buckley@ul.ie  CS1-032 </vt:lpstr>
      <vt:lpstr>Outline </vt:lpstr>
      <vt:lpstr>Importance of the FYP </vt:lpstr>
      <vt:lpstr>Process Overview</vt:lpstr>
      <vt:lpstr>Important Dates </vt:lpstr>
      <vt:lpstr>FYP Penalties</vt:lpstr>
      <vt:lpstr>FYP Deadlines Inflexibility </vt:lpstr>
      <vt:lpstr>Choosing an FYP 1 </vt:lpstr>
      <vt:lpstr>Choose a Project from the CSIS suggestions</vt:lpstr>
      <vt:lpstr>Decide on your own Project 1 </vt:lpstr>
      <vt:lpstr>Decide on your own Project 2</vt:lpstr>
      <vt:lpstr>Select an area of interest</vt:lpstr>
      <vt:lpstr>Supervisors</vt:lpstr>
      <vt:lpstr>The Role of your Supervisor </vt:lpstr>
      <vt:lpstr>Undertaking your Project </vt:lpstr>
      <vt:lpstr>Investigating your topic further – Old FYPs</vt:lpstr>
      <vt:lpstr>Project Presentation</vt:lpstr>
      <vt:lpstr>Term 1 Grading</vt:lpstr>
      <vt:lpstr>Marks to Grades – both terms</vt:lpstr>
      <vt:lpstr>CS/Games Marking Schema, Term 1</vt:lpstr>
      <vt:lpstr>MMPT Marking Schema, Term 1</vt:lpstr>
      <vt:lpstr>DMD Design Marking Schema, Term 1</vt:lpstr>
      <vt:lpstr>DMD Research: Marking Schema, Term 1</vt:lpstr>
      <vt:lpstr>Take-away messages </vt:lpstr>
      <vt:lpstr>Take-away Messages 2</vt:lpstr>
    </vt:vector>
  </TitlesOfParts>
  <Company>University of Limerick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the Final Year Project</dc:title>
  <dc:creator>Michael Coughlan</dc:creator>
  <cp:lastModifiedBy>Jim.Buckley</cp:lastModifiedBy>
  <cp:revision>146</cp:revision>
  <cp:lastPrinted>2019-09-11T08:59:55Z</cp:lastPrinted>
  <dcterms:created xsi:type="dcterms:W3CDTF">2007-09-11T07:27:14Z</dcterms:created>
  <dcterms:modified xsi:type="dcterms:W3CDTF">2019-09-11T09:00:00Z</dcterms:modified>
</cp:coreProperties>
</file>