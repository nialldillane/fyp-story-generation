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Lst>
  <p:notesMasterIdLst>
    <p:notesMasterId r:id="rId18"/>
  </p:notesMasterIdLst>
  <p:handoutMasterIdLst>
    <p:handoutMasterId r:id="rId19"/>
  </p:handoutMasterIdLst>
  <p:sldIdLst>
    <p:sldId id="256" r:id="rId2"/>
    <p:sldId id="257" r:id="rId3"/>
    <p:sldId id="293" r:id="rId4"/>
    <p:sldId id="310" r:id="rId5"/>
    <p:sldId id="311" r:id="rId6"/>
    <p:sldId id="312" r:id="rId7"/>
    <p:sldId id="307" r:id="rId8"/>
    <p:sldId id="313" r:id="rId9"/>
    <p:sldId id="314" r:id="rId10"/>
    <p:sldId id="315" r:id="rId11"/>
    <p:sldId id="308" r:id="rId12"/>
    <p:sldId id="309" r:id="rId13"/>
    <p:sldId id="286" r:id="rId14"/>
    <p:sldId id="288" r:id="rId15"/>
    <p:sldId id="303" r:id="rId16"/>
    <p:sldId id="305" r:id="rId17"/>
  </p:sldIdLst>
  <p:sldSz cx="9144000" cy="6858000" type="screen4x3"/>
  <p:notesSz cx="6794500" cy="9906000"/>
  <p:custDataLst>
    <p:tags r:id="rId20"/>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0">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0526" autoAdjust="0"/>
  </p:normalViewPr>
  <p:slideViewPr>
    <p:cSldViewPr>
      <p:cViewPr varScale="1">
        <p:scale>
          <a:sx n="64" d="100"/>
          <a:sy n="64" d="100"/>
        </p:scale>
        <p:origin x="66" y="222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75" d="100"/>
          <a:sy n="75" d="100"/>
        </p:scale>
        <p:origin x="-3066" y="-96"/>
      </p:cViewPr>
      <p:guideLst>
        <p:guide orient="horz" pos="3120"/>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3225" cy="495300"/>
          </a:xfrm>
          <a:prstGeom prst="rect">
            <a:avLst/>
          </a:prstGeom>
        </p:spPr>
        <p:txBody>
          <a:bodyPr vert="horz" lIns="89392" tIns="44696" rIns="89392" bIns="44696" rtlCol="0"/>
          <a:lstStyle>
            <a:lvl1pPr algn="l">
              <a:defRPr sz="1200"/>
            </a:lvl1pPr>
          </a:lstStyle>
          <a:p>
            <a:pPr>
              <a:defRPr/>
            </a:pPr>
            <a:endParaRPr lang="en-IE"/>
          </a:p>
        </p:txBody>
      </p:sp>
      <p:sp>
        <p:nvSpPr>
          <p:cNvPr id="3" name="Date Placeholder 2"/>
          <p:cNvSpPr>
            <a:spLocks noGrp="1"/>
          </p:cNvSpPr>
          <p:nvPr>
            <p:ph type="dt" sz="quarter" idx="1"/>
          </p:nvPr>
        </p:nvSpPr>
        <p:spPr>
          <a:xfrm>
            <a:off x="3849688" y="0"/>
            <a:ext cx="2943225" cy="495300"/>
          </a:xfrm>
          <a:prstGeom prst="rect">
            <a:avLst/>
          </a:prstGeom>
        </p:spPr>
        <p:txBody>
          <a:bodyPr vert="horz" lIns="89392" tIns="44696" rIns="89392" bIns="44696" rtlCol="0"/>
          <a:lstStyle>
            <a:lvl1pPr algn="r">
              <a:defRPr sz="1200"/>
            </a:lvl1pPr>
          </a:lstStyle>
          <a:p>
            <a:pPr>
              <a:defRPr/>
            </a:pPr>
            <a:fld id="{608CA5B8-02B2-4EF5-9CB7-DFB9FF916CFE}" type="datetimeFigureOut">
              <a:rPr lang="en-IE"/>
              <a:pPr>
                <a:defRPr/>
              </a:pPr>
              <a:t>25/09/2019</a:t>
            </a:fld>
            <a:endParaRPr lang="en-IE"/>
          </a:p>
        </p:txBody>
      </p:sp>
      <p:sp>
        <p:nvSpPr>
          <p:cNvPr id="4" name="Footer Placeholder 3"/>
          <p:cNvSpPr>
            <a:spLocks noGrp="1"/>
          </p:cNvSpPr>
          <p:nvPr>
            <p:ph type="ftr" sz="quarter" idx="2"/>
          </p:nvPr>
        </p:nvSpPr>
        <p:spPr>
          <a:xfrm>
            <a:off x="0" y="9407525"/>
            <a:ext cx="2943225" cy="496888"/>
          </a:xfrm>
          <a:prstGeom prst="rect">
            <a:avLst/>
          </a:prstGeom>
        </p:spPr>
        <p:txBody>
          <a:bodyPr vert="horz" lIns="89392" tIns="44696" rIns="89392" bIns="44696" rtlCol="0" anchor="b"/>
          <a:lstStyle>
            <a:lvl1pPr algn="l">
              <a:defRPr sz="1200"/>
            </a:lvl1pPr>
          </a:lstStyle>
          <a:p>
            <a:pPr>
              <a:defRPr/>
            </a:pPr>
            <a:endParaRPr lang="en-IE"/>
          </a:p>
        </p:txBody>
      </p:sp>
      <p:sp>
        <p:nvSpPr>
          <p:cNvPr id="5" name="Slide Number Placeholder 4"/>
          <p:cNvSpPr>
            <a:spLocks noGrp="1"/>
          </p:cNvSpPr>
          <p:nvPr>
            <p:ph type="sldNum" sz="quarter" idx="3"/>
          </p:nvPr>
        </p:nvSpPr>
        <p:spPr>
          <a:xfrm>
            <a:off x="3849688" y="9407525"/>
            <a:ext cx="2943225" cy="496888"/>
          </a:xfrm>
          <a:prstGeom prst="rect">
            <a:avLst/>
          </a:prstGeom>
        </p:spPr>
        <p:txBody>
          <a:bodyPr vert="horz" lIns="89392" tIns="44696" rIns="89392" bIns="44696" rtlCol="0" anchor="b"/>
          <a:lstStyle>
            <a:lvl1pPr algn="r">
              <a:defRPr sz="1200"/>
            </a:lvl1pPr>
          </a:lstStyle>
          <a:p>
            <a:pPr>
              <a:defRPr/>
            </a:pPr>
            <a:fld id="{4E16AF18-0BAF-4B03-98B6-8DDBD7D67022}" type="slidenum">
              <a:rPr lang="en-IE"/>
              <a:pPr>
                <a:defRPr/>
              </a:pPr>
              <a:t>‹#›</a:t>
            </a:fld>
            <a:endParaRPr lang="en-IE"/>
          </a:p>
        </p:txBody>
      </p:sp>
    </p:spTree>
    <p:extLst>
      <p:ext uri="{BB962C8B-B14F-4D97-AF65-F5344CB8AC3E}">
        <p14:creationId xmlns:p14="http://schemas.microsoft.com/office/powerpoint/2010/main" val="42652158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100" y="0"/>
            <a:ext cx="2944813" cy="495300"/>
          </a:xfrm>
          <a:prstGeom prst="rect">
            <a:avLst/>
          </a:prstGeom>
        </p:spPr>
        <p:txBody>
          <a:bodyPr vert="horz" lIns="91440" tIns="45720" rIns="91440" bIns="45720" rtlCol="0"/>
          <a:lstStyle>
            <a:lvl1pPr algn="r">
              <a:defRPr sz="1200"/>
            </a:lvl1pPr>
          </a:lstStyle>
          <a:p>
            <a:fld id="{04C63839-4CEC-4C57-9F95-6733E022BDA5}" type="datetimeFigureOut">
              <a:rPr lang="en-GB" smtClean="0"/>
              <a:pPr/>
              <a:t>25/09/2019</a:t>
            </a:fld>
            <a:endParaRPr lang="en-GB"/>
          </a:p>
        </p:txBody>
      </p:sp>
      <p:sp>
        <p:nvSpPr>
          <p:cNvPr id="4" name="Slide Image Placeholder 3"/>
          <p:cNvSpPr>
            <a:spLocks noGrp="1" noRot="1" noChangeAspect="1"/>
          </p:cNvSpPr>
          <p:nvPr>
            <p:ph type="sldImg" idx="2"/>
          </p:nvPr>
        </p:nvSpPr>
        <p:spPr>
          <a:xfrm>
            <a:off x="920750" y="742950"/>
            <a:ext cx="4953000" cy="37147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05350"/>
            <a:ext cx="5435600" cy="44577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409113"/>
            <a:ext cx="2944813" cy="4953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100" y="9409113"/>
            <a:ext cx="2944813" cy="495300"/>
          </a:xfrm>
          <a:prstGeom prst="rect">
            <a:avLst/>
          </a:prstGeom>
        </p:spPr>
        <p:txBody>
          <a:bodyPr vert="horz" lIns="91440" tIns="45720" rIns="91440" bIns="45720" rtlCol="0" anchor="b"/>
          <a:lstStyle>
            <a:lvl1pPr algn="r">
              <a:defRPr sz="1200"/>
            </a:lvl1pPr>
          </a:lstStyle>
          <a:p>
            <a:fld id="{90525534-5BD3-4842-93EB-C750B55836DD}" type="slidenum">
              <a:rPr lang="en-GB" smtClean="0"/>
              <a:pPr/>
              <a:t>‹#›</a:t>
            </a:fld>
            <a:endParaRPr lang="en-GB"/>
          </a:p>
        </p:txBody>
      </p:sp>
    </p:spTree>
    <p:extLst>
      <p:ext uri="{BB962C8B-B14F-4D97-AF65-F5344CB8AC3E}">
        <p14:creationId xmlns:p14="http://schemas.microsoft.com/office/powerpoint/2010/main" val="1203562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E" dirty="0" smtClean="0"/>
              <a:t>Well</a:t>
            </a:r>
            <a:r>
              <a:rPr lang="en-IE" baseline="0" dirty="0" smtClean="0"/>
              <a:t> </a:t>
            </a:r>
            <a:r>
              <a:rPr lang="en-IE" dirty="0" smtClean="0"/>
              <a:t>done on getting all the proposals in </a:t>
            </a:r>
          </a:p>
          <a:p>
            <a:r>
              <a:rPr lang="en-IE" dirty="0" smtClean="0"/>
              <a:t>Real opportunity to get some work under your belt</a:t>
            </a:r>
          </a:p>
          <a:p>
            <a:r>
              <a:rPr lang="en-IE" dirty="0" smtClean="0"/>
              <a:t>Directed at presentations</a:t>
            </a:r>
          </a:p>
        </p:txBody>
      </p:sp>
      <p:sp>
        <p:nvSpPr>
          <p:cNvPr id="4" name="Slide Number Placeholder 3"/>
          <p:cNvSpPr>
            <a:spLocks noGrp="1"/>
          </p:cNvSpPr>
          <p:nvPr>
            <p:ph type="sldNum" sz="quarter" idx="10"/>
          </p:nvPr>
        </p:nvSpPr>
        <p:spPr/>
        <p:txBody>
          <a:bodyPr/>
          <a:lstStyle/>
          <a:p>
            <a:fld id="{90525534-5BD3-4842-93EB-C750B55836DD}" type="slidenum">
              <a:rPr lang="en-GB" smtClean="0"/>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0525534-5BD3-4842-93EB-C750B55836DD}" type="slidenum">
              <a:rPr lang="en-GB" smtClean="0"/>
              <a:pPr/>
              <a:t>8</a:t>
            </a:fld>
            <a:endParaRPr lang="en-GB"/>
          </a:p>
        </p:txBody>
      </p:sp>
    </p:spTree>
    <p:extLst>
      <p:ext uri="{BB962C8B-B14F-4D97-AF65-F5344CB8AC3E}">
        <p14:creationId xmlns:p14="http://schemas.microsoft.com/office/powerpoint/2010/main" val="1758939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60946" y="4705350"/>
            <a:ext cx="5472608" cy="4457700"/>
          </a:xfrm>
        </p:spPr>
        <p:txBody>
          <a:bodyPr/>
          <a:lstStyle/>
          <a:p>
            <a:r>
              <a:rPr lang="en-IE" b="1" cap="small" dirty="0" smtClean="0"/>
              <a:t>Scenario Of Use For Procurement Website</a:t>
            </a:r>
            <a:endParaRPr lang="en-GB" b="1" cap="small" dirty="0"/>
          </a:p>
          <a:p>
            <a:r>
              <a:rPr lang="en-IE" b="1" cap="small" dirty="0"/>
              <a:t>Jim</a:t>
            </a:r>
            <a:endParaRPr lang="en-GB" b="1" cap="small" dirty="0"/>
          </a:p>
          <a:p>
            <a:r>
              <a:rPr lang="en-IE" dirty="0">
                <a:latin typeface="Times New Roman" panose="02020603050405020304" pitchFamily="18" charset="0"/>
                <a:cs typeface="Times New Roman" panose="02020603050405020304" pitchFamily="18" charset="0"/>
              </a:rPr>
              <a:t>Jim O’ Brien is the manager of a small company making water boilers.  The elements for these boilers are purchased from the UK but the fall in the value of the Euro has significantly increased the cost of the elements and this has had an impact on the profitability of the boilers.</a:t>
            </a:r>
            <a:endParaRPr lang="en-GB" dirty="0">
              <a:latin typeface="Times New Roman" panose="02020603050405020304" pitchFamily="18" charset="0"/>
              <a:cs typeface="Times New Roman" panose="02020603050405020304" pitchFamily="18" charset="0"/>
            </a:endParaRPr>
          </a:p>
          <a:p>
            <a:r>
              <a:rPr lang="en-IE" dirty="0">
                <a:latin typeface="Times New Roman" panose="02020603050405020304" pitchFamily="18" charset="0"/>
                <a:cs typeface="Times New Roman" panose="02020603050405020304" pitchFamily="18" charset="0"/>
              </a:rPr>
              <a:t>Jim has been trying to find a source for the elements within the Euro Zone and has recently come across a web site – www.Tenders.ie - which he hopes will solve his problems.</a:t>
            </a:r>
            <a:endParaRPr lang="en-GB" dirty="0">
              <a:latin typeface="Times New Roman" panose="02020603050405020304" pitchFamily="18" charset="0"/>
              <a:cs typeface="Times New Roman" panose="02020603050405020304" pitchFamily="18" charset="0"/>
            </a:endParaRPr>
          </a:p>
          <a:p>
            <a:r>
              <a:rPr lang="en-IE"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a:p>
            <a:r>
              <a:rPr lang="en-IE" dirty="0">
                <a:latin typeface="Times New Roman" panose="02020603050405020304" pitchFamily="18" charset="0"/>
                <a:cs typeface="Times New Roman" panose="02020603050405020304" pitchFamily="18" charset="0"/>
              </a:rPr>
              <a:t>Jim connects to the web site and enters the buyer part of the site.  Here he is asked for various registration details including his email address  When he has entered these details he leaves the web site and a day or two later his Username and Password are emailed to him.</a:t>
            </a:r>
            <a:endParaRPr lang="en-GB" dirty="0">
              <a:latin typeface="Times New Roman" panose="02020603050405020304" pitchFamily="18" charset="0"/>
              <a:cs typeface="Times New Roman" panose="02020603050405020304" pitchFamily="18" charset="0"/>
            </a:endParaRPr>
          </a:p>
          <a:p>
            <a:r>
              <a:rPr lang="en-IE"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a:p>
            <a:r>
              <a:rPr lang="en-IE" dirty="0">
                <a:latin typeface="Times New Roman" panose="02020603050405020304" pitchFamily="18" charset="0"/>
                <a:cs typeface="Times New Roman" panose="02020603050405020304" pitchFamily="18" charset="0"/>
              </a:rPr>
              <a:t>Armed with his new Username and Password Jim connects to the site again.  This time he logs on to the buyers part of the site and, using the forms provided, creates a Request for Tenders for the kind, and quantity, of elements that his company requires.  In the RFT he mentions the current cost of the elements to give potential sellers some idea of the price they will have to better or match.  He also gives an expiry date for the RFT.  Finally he supplies the credit card details to pay for including the RFT on the site.</a:t>
            </a:r>
            <a:endParaRPr lang="en-GB" dirty="0">
              <a:latin typeface="Times New Roman" panose="02020603050405020304" pitchFamily="18" charset="0"/>
              <a:cs typeface="Times New Roman" panose="02020603050405020304" pitchFamily="18" charset="0"/>
            </a:endParaRPr>
          </a:p>
          <a:p>
            <a:r>
              <a:rPr lang="en-IE"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0525534-5BD3-4842-93EB-C750B55836DD}" type="slidenum">
              <a:rPr lang="en-GB" smtClean="0"/>
              <a:pPr/>
              <a:t>15</a:t>
            </a:fld>
            <a:endParaRPr lang="en-GB"/>
          </a:p>
        </p:txBody>
      </p:sp>
    </p:spTree>
    <p:extLst>
      <p:ext uri="{BB962C8B-B14F-4D97-AF65-F5344CB8AC3E}">
        <p14:creationId xmlns:p14="http://schemas.microsoft.com/office/powerpoint/2010/main" val="2045144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3"/>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IE"/>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IE"/>
          </a:p>
        </p:txBody>
      </p:sp>
      <p:sp>
        <p:nvSpPr>
          <p:cNvPr id="40962"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4096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400"/>
            </a:lvl1pPr>
          </a:lstStyle>
          <a:p>
            <a:r>
              <a:rPr lang="en-US" altLang="en-US"/>
              <a:t>Click to edit Master subtitle style</a:t>
            </a:r>
          </a:p>
        </p:txBody>
      </p:sp>
      <p:sp>
        <p:nvSpPr>
          <p:cNvPr id="6" name="Rectangle 4"/>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a:xfrm>
            <a:off x="6553200" y="6243638"/>
            <a:ext cx="2133600" cy="457200"/>
          </a:xfrm>
        </p:spPr>
        <p:txBody>
          <a:bodyPr/>
          <a:lstStyle>
            <a:lvl1pPr>
              <a:defRPr/>
            </a:lvl1pPr>
          </a:lstStyle>
          <a:p>
            <a:pPr>
              <a:defRPr/>
            </a:pPr>
            <a:fld id="{B3FD3138-F7FE-46C8-90E2-E051B695A393}" type="slidenum">
              <a:rPr lang="en-US" altLang="en-US"/>
              <a:pPr>
                <a:defRPr/>
              </a:pPr>
              <a:t>‹#›</a:t>
            </a:fld>
            <a:endParaRPr lang="en-US"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0DD527DD-D3BC-4E82-9F48-26ABAB2D837F}" type="slidenum">
              <a:rPr lang="en-US" altLang="en-US"/>
              <a:pPr>
                <a:defRPr/>
              </a:pPr>
              <a:t>‹#›</a:t>
            </a:fld>
            <a:endParaRPr lang="en-US"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B7B3E83A-F18B-4BC6-AB7D-A5319884279E}"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sz="half" idx="1"/>
          </p:nvPr>
        </p:nvSpPr>
        <p:spPr>
          <a:xfrm>
            <a:off x="457200" y="1052513"/>
            <a:ext cx="40386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Content Placeholder 3"/>
          <p:cNvSpPr>
            <a:spLocks noGrp="1"/>
          </p:cNvSpPr>
          <p:nvPr>
            <p:ph sz="half" idx="2"/>
          </p:nvPr>
        </p:nvSpPr>
        <p:spPr>
          <a:xfrm>
            <a:off x="4648200" y="1052513"/>
            <a:ext cx="40386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07E31FB9-71FE-4902-9943-541B7A6AC485}"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7"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8" name="Rectangle 6"/>
          <p:cNvSpPr>
            <a:spLocks noGrp="1" noChangeArrowheads="1"/>
          </p:cNvSpPr>
          <p:nvPr>
            <p:ph type="sldNum" sz="quarter" idx="11"/>
          </p:nvPr>
        </p:nvSpPr>
        <p:spPr>
          <a:ln/>
        </p:spPr>
        <p:txBody>
          <a:bodyPr/>
          <a:lstStyle>
            <a:lvl1pPr>
              <a:defRPr/>
            </a:lvl1pPr>
          </a:lstStyle>
          <a:p>
            <a:pPr>
              <a:defRPr/>
            </a:pPr>
            <a:fld id="{3C03D264-E048-4186-8FCB-67D4E74D3100}"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4" name="Rectangle 6"/>
          <p:cNvSpPr>
            <a:spLocks noGrp="1" noChangeArrowheads="1"/>
          </p:cNvSpPr>
          <p:nvPr>
            <p:ph type="sldNum" sz="quarter" idx="11"/>
          </p:nvPr>
        </p:nvSpPr>
        <p:spPr>
          <a:ln/>
        </p:spPr>
        <p:txBody>
          <a:bodyPr/>
          <a:lstStyle>
            <a:lvl1pPr>
              <a:defRPr/>
            </a:lvl1pPr>
          </a:lstStyle>
          <a:p>
            <a:pPr>
              <a:defRPr/>
            </a:pPr>
            <a:fld id="{EC3B4EF4-56F3-4F66-9C1E-D0F3A0E94DF0}"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3" name="Rectangle 6"/>
          <p:cNvSpPr>
            <a:spLocks noGrp="1" noChangeArrowheads="1"/>
          </p:cNvSpPr>
          <p:nvPr>
            <p:ph type="sldNum" sz="quarter" idx="11"/>
          </p:nvPr>
        </p:nvSpPr>
        <p:spPr>
          <a:ln/>
        </p:spPr>
        <p:txBody>
          <a:bodyPr/>
          <a:lstStyle>
            <a:lvl1pPr>
              <a:defRPr/>
            </a:lvl1pPr>
          </a:lstStyle>
          <a:p>
            <a:pPr>
              <a:defRPr/>
            </a:pPr>
            <a:fld id="{92967EE3-C440-4735-9B9C-D35B65421EF9}"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225B03FC-C108-4161-B826-06FCA6BF2D88}"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48D148C7-4153-4D99-AE24-65E061439B7E}"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24B89C88-22A5-43C9-A195-6842B4F473D3}"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IE"/>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Rectangle 5"/>
          <p:cNvSpPr>
            <a:spLocks noGrp="1" noChangeArrowheads="1"/>
          </p:cNvSpPr>
          <p:nvPr>
            <p:ph type="ftr" sz="quarter" idx="10"/>
          </p:nvPr>
        </p:nvSpPr>
        <p:spPr>
          <a:ln/>
        </p:spPr>
        <p:txBody>
          <a:bodyPr/>
          <a:lstStyle>
            <a:lvl1pPr>
              <a:defRPr/>
            </a:lvl1pPr>
          </a:lstStyle>
          <a:p>
            <a:pPr>
              <a:defRPr/>
            </a:pPr>
            <a:r>
              <a:rPr lang="en-GB" altLang="en-US"/>
              <a:t>Department of Computer Science</a:t>
            </a:r>
          </a:p>
          <a:p>
            <a:pPr>
              <a:defRPr/>
            </a:pPr>
            <a:r>
              <a:rPr lang="en-GB" altLang="en-US"/>
              <a:t>and Information Systems</a:t>
            </a: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D8B19674-E509-4841-9351-39967E5300BE}"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7032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052513"/>
            <a:ext cx="8229600" cy="50784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994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defRPr>
            </a:lvl1pPr>
          </a:lstStyle>
          <a:p>
            <a:pPr>
              <a:defRPr/>
            </a:pPr>
            <a:r>
              <a:rPr lang="en-GB" altLang="en-US"/>
              <a:t>Department of Computer Science</a:t>
            </a:r>
          </a:p>
          <a:p>
            <a:pPr>
              <a:defRPr/>
            </a:pPr>
            <a:r>
              <a:rPr lang="en-GB" altLang="en-US"/>
              <a:t>and Information Systems</a:t>
            </a:r>
            <a:endParaRPr lang="en-US" altLang="en-US"/>
          </a:p>
        </p:txBody>
      </p:sp>
      <p:sp>
        <p:nvSpPr>
          <p:cNvPr id="39942" name="Rectangle 6"/>
          <p:cNvSpPr>
            <a:spLocks noGrp="1" noChangeArrowheads="1"/>
          </p:cNvSpPr>
          <p:nvPr>
            <p:ph type="sldNum" sz="quarter" idx="4"/>
          </p:nvPr>
        </p:nvSpPr>
        <p:spPr bwMode="auto">
          <a:xfrm>
            <a:off x="7524750" y="6243638"/>
            <a:ext cx="935038"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j-lt"/>
              </a:defRPr>
            </a:lvl1pPr>
          </a:lstStyle>
          <a:p>
            <a:pPr>
              <a:defRPr/>
            </a:pPr>
            <a:fld id="{3486842C-4CDB-43E2-ACCA-49582598673B}" type="slidenum">
              <a:rPr lang="en-US" altLang="en-US"/>
              <a:pPr>
                <a:defRPr/>
              </a:pPr>
              <a:t>‹#›</a:t>
            </a:fld>
            <a:endParaRPr lang="en-US" altLang="en-US"/>
          </a:p>
        </p:txBody>
      </p:sp>
      <p:sp>
        <p:nvSpPr>
          <p:cNvPr id="39943"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IE"/>
          </a:p>
        </p:txBody>
      </p:sp>
      <p:sp>
        <p:nvSpPr>
          <p:cNvPr id="39944"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en-IE"/>
          </a:p>
        </p:txBody>
      </p:sp>
    </p:spTree>
  </p:cSld>
  <p:clrMap bg1="lt1" tx1="dk1" bg2="lt2" tx2="dk2" accent1="accent1" accent2="accent2" accent3="accent3" accent4="accent4" accent5="accent5" accent6="accent6" hlink="hlink" folHlink="folHlink"/>
  <p:sldLayoutIdLst>
    <p:sldLayoutId id="2147483778"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timing>
    <p:tnLst>
      <p:par>
        <p:cTn id="1" dur="indefinite" restart="never" nodeType="tmRoot"/>
      </p:par>
    </p:tnLst>
  </p:timing>
  <p:hf sldNum="0" hdr="0" dt="0"/>
  <p:txStyles>
    <p:titleStyle>
      <a:lvl1pPr algn="ctr" rtl="0" eaLnBrk="0" fontAlgn="base" hangingPunct="0">
        <a:spcBef>
          <a:spcPct val="0"/>
        </a:spcBef>
        <a:spcAft>
          <a:spcPct val="0"/>
        </a:spcAft>
        <a:defRPr sz="4200">
          <a:solidFill>
            <a:schemeClr val="tx2"/>
          </a:solidFill>
          <a:latin typeface="+mj-lt"/>
          <a:ea typeface="+mj-ea"/>
          <a:cs typeface="+mj-cs"/>
        </a:defRPr>
      </a:lvl1pPr>
      <a:lvl2pPr algn="ctr" rtl="0" eaLnBrk="0" fontAlgn="base" hangingPunct="0">
        <a:spcBef>
          <a:spcPct val="0"/>
        </a:spcBef>
        <a:spcAft>
          <a:spcPct val="0"/>
        </a:spcAft>
        <a:defRPr sz="4200">
          <a:solidFill>
            <a:schemeClr val="tx2"/>
          </a:solidFill>
          <a:latin typeface="Garamond" pitchFamily="18" charset="0"/>
        </a:defRPr>
      </a:lvl2pPr>
      <a:lvl3pPr algn="ctr" rtl="0" eaLnBrk="0" fontAlgn="base" hangingPunct="0">
        <a:spcBef>
          <a:spcPct val="0"/>
        </a:spcBef>
        <a:spcAft>
          <a:spcPct val="0"/>
        </a:spcAft>
        <a:defRPr sz="4200">
          <a:solidFill>
            <a:schemeClr val="tx2"/>
          </a:solidFill>
          <a:latin typeface="Garamond" pitchFamily="18" charset="0"/>
        </a:defRPr>
      </a:lvl3pPr>
      <a:lvl4pPr algn="ctr" rtl="0" eaLnBrk="0" fontAlgn="base" hangingPunct="0">
        <a:spcBef>
          <a:spcPct val="0"/>
        </a:spcBef>
        <a:spcAft>
          <a:spcPct val="0"/>
        </a:spcAft>
        <a:defRPr sz="4200">
          <a:solidFill>
            <a:schemeClr val="tx2"/>
          </a:solidFill>
          <a:latin typeface="Garamond" pitchFamily="18" charset="0"/>
        </a:defRPr>
      </a:lvl4pPr>
      <a:lvl5pPr algn="ctr" rtl="0" eaLnBrk="0" fontAlgn="base" hangingPunct="0">
        <a:spcBef>
          <a:spcPct val="0"/>
        </a:spcBef>
        <a:spcAft>
          <a:spcPct val="0"/>
        </a:spcAft>
        <a:defRPr sz="4200">
          <a:solidFill>
            <a:schemeClr val="tx2"/>
          </a:solidFill>
          <a:latin typeface="Garamond" pitchFamily="18" charset="0"/>
        </a:defRPr>
      </a:lvl5pPr>
      <a:lvl6pPr marL="457200" algn="ctr" rtl="0" fontAlgn="base">
        <a:spcBef>
          <a:spcPct val="0"/>
        </a:spcBef>
        <a:spcAft>
          <a:spcPct val="0"/>
        </a:spcAft>
        <a:defRPr sz="4200">
          <a:solidFill>
            <a:schemeClr val="tx2"/>
          </a:solidFill>
          <a:latin typeface="Garamond" pitchFamily="18" charset="0"/>
        </a:defRPr>
      </a:lvl6pPr>
      <a:lvl7pPr marL="914400" algn="ctr" rtl="0" fontAlgn="base">
        <a:spcBef>
          <a:spcPct val="0"/>
        </a:spcBef>
        <a:spcAft>
          <a:spcPct val="0"/>
        </a:spcAft>
        <a:defRPr sz="4200">
          <a:solidFill>
            <a:schemeClr val="tx2"/>
          </a:solidFill>
          <a:latin typeface="Garamond" pitchFamily="18" charset="0"/>
        </a:defRPr>
      </a:lvl7pPr>
      <a:lvl8pPr marL="1371600" algn="ctr" rtl="0" fontAlgn="base">
        <a:spcBef>
          <a:spcPct val="0"/>
        </a:spcBef>
        <a:spcAft>
          <a:spcPct val="0"/>
        </a:spcAft>
        <a:defRPr sz="4200">
          <a:solidFill>
            <a:schemeClr val="tx2"/>
          </a:solidFill>
          <a:latin typeface="Garamond" pitchFamily="18" charset="0"/>
        </a:defRPr>
      </a:lvl8pPr>
      <a:lvl9pPr marL="1828800" algn="ctr"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6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GB" b="1" smtClean="0"/>
              <a:t>FYP Presentations</a:t>
            </a:r>
            <a:br>
              <a:rPr lang="en-GB" b="1" smtClean="0"/>
            </a:br>
            <a:endParaRPr lang="en-US" b="1" smtClean="0"/>
          </a:p>
        </p:txBody>
      </p:sp>
      <p:sp>
        <p:nvSpPr>
          <p:cNvPr id="3075" name="Rectangle 3"/>
          <p:cNvSpPr>
            <a:spLocks noGrp="1" noChangeArrowheads="1"/>
          </p:cNvSpPr>
          <p:nvPr>
            <p:ph type="subTitle" idx="1"/>
          </p:nvPr>
        </p:nvSpPr>
        <p:spPr>
          <a:xfrm>
            <a:off x="0" y="3962400"/>
            <a:ext cx="9144000" cy="1752600"/>
          </a:xfrm>
        </p:spPr>
        <p:txBody>
          <a:bodyPr/>
          <a:lstStyle/>
          <a:p>
            <a:pPr algn="ctr" eaLnBrk="1" hangingPunct="1"/>
            <a:r>
              <a:rPr lang="en-GB" dirty="0" smtClean="0"/>
              <a:t>Jim Buckley</a:t>
            </a:r>
          </a:p>
          <a:p>
            <a:pPr algn="ctr" eaLnBrk="1" hangingPunct="1"/>
            <a:endParaRPr lang="en-GB" dirty="0" smtClean="0"/>
          </a:p>
          <a:p>
            <a:pPr algn="ctr" eaLnBrk="1" hangingPunct="1"/>
            <a:r>
              <a:rPr lang="en-GB" sz="1800" dirty="0" smtClean="0"/>
              <a:t>Department of Computer Science</a:t>
            </a:r>
          </a:p>
          <a:p>
            <a:pPr algn="ctr" eaLnBrk="1" hangingPunct="1"/>
            <a:r>
              <a:rPr lang="en-GB" sz="1800" dirty="0" smtClean="0"/>
              <a:t>and Information Systems</a:t>
            </a:r>
            <a:endParaRPr lang="en-US" sz="18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4099" name="Rectangle 2"/>
          <p:cNvSpPr>
            <a:spLocks noGrp="1" noChangeArrowheads="1"/>
          </p:cNvSpPr>
          <p:nvPr>
            <p:ph type="title"/>
          </p:nvPr>
        </p:nvSpPr>
        <p:spPr>
          <a:xfrm>
            <a:off x="457200" y="115888"/>
            <a:ext cx="8229600" cy="703262"/>
          </a:xfrm>
        </p:spPr>
        <p:txBody>
          <a:bodyPr/>
          <a:lstStyle/>
          <a:p>
            <a:pPr eaLnBrk="1" hangingPunct="1"/>
            <a:r>
              <a:rPr lang="en-GB" sz="3200" b="1" smtClean="0"/>
              <a:t>Introduction</a:t>
            </a:r>
            <a:r>
              <a:rPr lang="en-US" smtClean="0"/>
              <a:t> </a:t>
            </a:r>
          </a:p>
        </p:txBody>
      </p:sp>
      <p:sp>
        <p:nvSpPr>
          <p:cNvPr id="41987" name="Rectangle 3"/>
          <p:cNvSpPr>
            <a:spLocks noGrp="1" noChangeArrowheads="1"/>
          </p:cNvSpPr>
          <p:nvPr>
            <p:ph type="body" idx="1"/>
          </p:nvPr>
        </p:nvSpPr>
        <p:spPr>
          <a:xfrm>
            <a:off x="428625" y="836711"/>
            <a:ext cx="8578850" cy="5459313"/>
          </a:xfrm>
        </p:spPr>
        <p:txBody>
          <a:bodyPr/>
          <a:lstStyle/>
          <a:p>
            <a:pPr eaLnBrk="1" hangingPunct="1">
              <a:spcBef>
                <a:spcPts val="1600"/>
              </a:spcBef>
            </a:pPr>
            <a:r>
              <a:rPr lang="en-GB" sz="2400" dirty="0" smtClean="0"/>
              <a:t>On week 6 (14</a:t>
            </a:r>
            <a:r>
              <a:rPr lang="en-GB" sz="2400" baseline="30000" dirty="0" smtClean="0"/>
              <a:t>th</a:t>
            </a:r>
            <a:r>
              <a:rPr lang="en-GB" sz="2400" dirty="0" smtClean="0"/>
              <a:t> - 18</a:t>
            </a:r>
            <a:r>
              <a:rPr lang="en-GB" sz="2400" baseline="30000" dirty="0" smtClean="0"/>
              <a:t>th</a:t>
            </a:r>
            <a:r>
              <a:rPr lang="en-GB" sz="2400" dirty="0" smtClean="0"/>
              <a:t> of October), at the time scheduled for you, each student is required to make a presentation on their project progress.</a:t>
            </a:r>
          </a:p>
          <a:p>
            <a:pPr eaLnBrk="1" hangingPunct="1">
              <a:spcBef>
                <a:spcPts val="1600"/>
              </a:spcBef>
            </a:pPr>
            <a:r>
              <a:rPr lang="en-GB" sz="2400" dirty="0" smtClean="0"/>
              <a:t>The FYP presentation is mandatory</a:t>
            </a:r>
            <a:r>
              <a:rPr lang="en-GB" sz="2400" dirty="0"/>
              <a:t> </a:t>
            </a:r>
            <a:r>
              <a:rPr lang="en-GB" sz="2400" dirty="0" smtClean="0"/>
              <a:t>and first term marks are awarded for it:</a:t>
            </a:r>
          </a:p>
          <a:p>
            <a:pPr lvl="1" eaLnBrk="1" hangingPunct="1">
              <a:spcBef>
                <a:spcPts val="1600"/>
              </a:spcBef>
            </a:pPr>
            <a:r>
              <a:rPr lang="en-GB" sz="2000" dirty="0" smtClean="0"/>
              <a:t>20% Games, CS and MMPT</a:t>
            </a:r>
          </a:p>
          <a:p>
            <a:pPr lvl="1" eaLnBrk="1" hangingPunct="1">
              <a:spcBef>
                <a:spcPts val="1600"/>
              </a:spcBef>
            </a:pPr>
            <a:r>
              <a:rPr lang="en-GB" sz="2000" dirty="0" smtClean="0"/>
              <a:t>10% DMD</a:t>
            </a:r>
          </a:p>
          <a:p>
            <a:pPr eaLnBrk="1" hangingPunct="1">
              <a:spcBef>
                <a:spcPts val="1600"/>
              </a:spcBef>
            </a:pPr>
            <a:r>
              <a:rPr lang="en-GB" sz="2400" dirty="0" smtClean="0"/>
              <a:t>The normal (medical or otherwise) certification must be presented to the FYP coordinator if a student is to miss his/her presentation date. </a:t>
            </a:r>
          </a:p>
          <a:p>
            <a:pPr eaLnBrk="1" hangingPunct="1">
              <a:spcBef>
                <a:spcPts val="1600"/>
              </a:spcBef>
            </a:pPr>
            <a:r>
              <a:rPr lang="en-GB" sz="2400" dirty="0" smtClean="0"/>
              <a:t>For a presentation date missed without certification, 5% will be deducted from the final mark.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 end="1"/>
                                            </p:txEl>
                                          </p:spTgt>
                                        </p:tgtEl>
                                        <p:attrNameLst>
                                          <p:attrName>ppt_c</p:attrName>
                                        </p:attrNameLst>
                                      </p:cBhvr>
                                      <p:to>
                                        <a:schemeClr val="bg2"/>
                                      </p:to>
                                    </p:animClr>
                                  </p:subTnLst>
                                </p:cTn>
                              </p:par>
                              <p:par>
                                <p:cTn id="11" presetID="1"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2" end="2"/>
                                            </p:txEl>
                                          </p:spTgt>
                                        </p:tgtEl>
                                        <p:attrNameLst>
                                          <p:attrName>ppt_c</p:attrName>
                                        </p:attrNameLst>
                                      </p:cBhvr>
                                      <p:to>
                                        <a:schemeClr val="bg2"/>
                                      </p:to>
                                    </p:animClr>
                                  </p:subTnLst>
                                </p:cTn>
                              </p:par>
                              <p:par>
                                <p:cTn id="13" presetID="1" presetClass="entr" presetSubtype="0" fill="hold" grpId="0" nodeType="with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3" end="3"/>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4" end="4"/>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987">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5123" name="Rectangle 2"/>
          <p:cNvSpPr>
            <a:spLocks noGrp="1" noChangeArrowheads="1"/>
          </p:cNvSpPr>
          <p:nvPr>
            <p:ph type="title"/>
          </p:nvPr>
        </p:nvSpPr>
        <p:spPr>
          <a:xfrm>
            <a:off x="457200" y="115888"/>
            <a:ext cx="8229600" cy="703262"/>
          </a:xfrm>
        </p:spPr>
        <p:txBody>
          <a:bodyPr/>
          <a:lstStyle/>
          <a:p>
            <a:pPr eaLnBrk="1" hangingPunct="1"/>
            <a:r>
              <a:rPr lang="en-GB" sz="3200" b="1" smtClean="0"/>
              <a:t>Purpose of the FYP presentations</a:t>
            </a:r>
            <a:r>
              <a:rPr lang="en-US" sz="3200" b="1" smtClean="0"/>
              <a:t> </a:t>
            </a:r>
            <a:endParaRPr lang="en-US" smtClean="0"/>
          </a:p>
        </p:txBody>
      </p:sp>
      <p:sp>
        <p:nvSpPr>
          <p:cNvPr id="41987" name="Rectangle 3"/>
          <p:cNvSpPr>
            <a:spLocks noGrp="1" noChangeArrowheads="1"/>
          </p:cNvSpPr>
          <p:nvPr>
            <p:ph type="body" idx="1"/>
          </p:nvPr>
        </p:nvSpPr>
        <p:spPr>
          <a:xfrm>
            <a:off x="323528" y="908720"/>
            <a:ext cx="8578850" cy="5184576"/>
          </a:xfrm>
        </p:spPr>
        <p:txBody>
          <a:bodyPr/>
          <a:lstStyle/>
          <a:p>
            <a:pPr eaLnBrk="1" hangingPunct="1">
              <a:spcBef>
                <a:spcPts val="1600"/>
              </a:spcBef>
            </a:pPr>
            <a:r>
              <a:rPr lang="en-GB" sz="2000" dirty="0" smtClean="0"/>
              <a:t>Unless you are doing an </a:t>
            </a:r>
            <a:r>
              <a:rPr lang="en-GB" sz="2000" i="1" dirty="0" smtClean="0"/>
              <a:t>Own</a:t>
            </a:r>
            <a:r>
              <a:rPr lang="en-GB" sz="2000" dirty="0" smtClean="0"/>
              <a:t> project, which you have already fully explored, you will probably have started your project with only a title and a few words of explanation.</a:t>
            </a:r>
          </a:p>
          <a:p>
            <a:pPr eaLnBrk="1" hangingPunct="1">
              <a:spcBef>
                <a:spcPts val="1600"/>
              </a:spcBef>
            </a:pPr>
            <a:r>
              <a:rPr lang="en-GB" sz="2000" dirty="0" smtClean="0"/>
              <a:t>In the weeks between taking on the project and giving your FYP Presentation you should have done sufficient research into your project to get a good understanding of the project, its scope and the difficulty of the task you have undertaken.</a:t>
            </a:r>
          </a:p>
          <a:p>
            <a:pPr eaLnBrk="1" hangingPunct="1"/>
            <a:r>
              <a:rPr lang="en-GB" sz="2000" dirty="0" smtClean="0"/>
              <a:t>The purpose of the FYP Presentations is –</a:t>
            </a:r>
          </a:p>
          <a:p>
            <a:pPr lvl="1" eaLnBrk="1" hangingPunct="1">
              <a:spcBef>
                <a:spcPct val="40000"/>
              </a:spcBef>
            </a:pPr>
            <a:r>
              <a:rPr lang="en-GB" sz="2000" dirty="0" smtClean="0"/>
              <a:t>To demonstrate to your supervisor, and the other </a:t>
            </a:r>
            <a:r>
              <a:rPr lang="en-GB" sz="2000" dirty="0" smtClean="0"/>
              <a:t>attendees that you are on track….</a:t>
            </a:r>
            <a:endParaRPr lang="en-GB" sz="2000" dirty="0" smtClean="0"/>
          </a:p>
          <a:p>
            <a:pPr lvl="1" eaLnBrk="1" hangingPunct="1">
              <a:spcBef>
                <a:spcPct val="40000"/>
              </a:spcBef>
            </a:pPr>
            <a:r>
              <a:rPr lang="en-GB" sz="2000" dirty="0" smtClean="0"/>
              <a:t>To </a:t>
            </a:r>
            <a:r>
              <a:rPr lang="en-GB" sz="2000" dirty="0" smtClean="0"/>
              <a:t>describe your plan for how you intend to proceed for the future.</a:t>
            </a:r>
          </a:p>
          <a:p>
            <a:pPr lvl="1" eaLnBrk="1" hangingPunct="1">
              <a:spcBef>
                <a:spcPct val="40000"/>
              </a:spcBef>
            </a:pPr>
            <a:r>
              <a:rPr lang="en-GB" sz="2000" dirty="0" smtClean="0"/>
              <a:t>To get outside feedback on that </a:t>
            </a:r>
            <a:r>
              <a:rPr lang="en-GB" sz="2000" dirty="0" smtClean="0"/>
              <a:t>work-rate and </a:t>
            </a:r>
            <a:r>
              <a:rPr lang="en-GB" sz="2000" dirty="0" smtClean="0"/>
              <a:t>plan</a:t>
            </a:r>
          </a:p>
          <a:p>
            <a:pPr eaLnBrk="1" hangingPunct="1">
              <a:lnSpc>
                <a:spcPts val="2600"/>
              </a:lnSpc>
              <a:spcBef>
                <a:spcPts val="1600"/>
              </a:spcBef>
            </a:pPr>
            <a:endParaRPr lang="en-GB" sz="2400" dirty="0" smtClean="0"/>
          </a:p>
          <a:p>
            <a:pPr eaLnBrk="1" hangingPunct="1">
              <a:lnSpc>
                <a:spcPct val="90000"/>
              </a:lnSpc>
            </a:pPr>
            <a:endParaRPr lang="en-GB"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2" end="2"/>
                                            </p:txEl>
                                          </p:spTgt>
                                        </p:tgtEl>
                                        <p:attrNameLst>
                                          <p:attrName>ppt_c</p:attrName>
                                        </p:attrNameLst>
                                      </p:cBhvr>
                                      <p:to>
                                        <a:schemeClr val="bg2"/>
                                      </p:to>
                                    </p:animClr>
                                  </p:subTnLst>
                                </p:cTn>
                              </p:par>
                              <p:par>
                                <p:cTn id="15" presetID="1" presetClass="entr" presetSubtype="0" fill="hold" grpId="0" nodeType="withEffect">
                                  <p:stCondLst>
                                    <p:cond delay="0"/>
                                  </p:stCondLst>
                                  <p:childTnLst>
                                    <p:set>
                                      <p:cBhvr>
                                        <p:cTn id="16" dur="1" fill="hold">
                                          <p:stCondLst>
                                            <p:cond delay="0"/>
                                          </p:stCondLst>
                                        </p:cTn>
                                        <p:tgtEl>
                                          <p:spTgt spid="4198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3" end="3"/>
                                            </p:txEl>
                                          </p:spTgt>
                                        </p:tgtEl>
                                        <p:attrNameLst>
                                          <p:attrName>ppt_c</p:attrName>
                                        </p:attrNameLst>
                                      </p:cBhvr>
                                      <p:to>
                                        <a:schemeClr val="bg2"/>
                                      </p:to>
                                    </p:animClr>
                                  </p:subTnLst>
                                </p:cTn>
                              </p:par>
                              <p:par>
                                <p:cTn id="17" presetID="1" presetClass="entr" presetSubtype="0" fill="hold" grpId="0" nodeType="withEffect">
                                  <p:stCondLst>
                                    <p:cond delay="0"/>
                                  </p:stCondLst>
                                  <p:childTnLst>
                                    <p:set>
                                      <p:cBhvr>
                                        <p:cTn id="18" dur="1" fill="hold">
                                          <p:stCondLst>
                                            <p:cond delay="0"/>
                                          </p:stCondLst>
                                        </p:cTn>
                                        <p:tgtEl>
                                          <p:spTgt spid="4198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4" end="4"/>
                                            </p:txEl>
                                          </p:spTgt>
                                        </p:tgtEl>
                                        <p:attrNameLst>
                                          <p:attrName>ppt_c</p:attrName>
                                        </p:attrNameLst>
                                      </p:cBhvr>
                                      <p:to>
                                        <a:schemeClr val="bg2"/>
                                      </p:to>
                                    </p:animClr>
                                  </p:subTnLst>
                                </p:cTn>
                              </p:par>
                              <p:par>
                                <p:cTn id="19" presetID="1" presetClass="entr" presetSubtype="0" fill="hold" grpId="0" nodeType="withEffect">
                                  <p:stCondLst>
                                    <p:cond delay="0"/>
                                  </p:stCondLst>
                                  <p:childTnLst>
                                    <p:set>
                                      <p:cBhvr>
                                        <p:cTn id="20" dur="1" fill="hold">
                                          <p:stCondLst>
                                            <p:cond delay="0"/>
                                          </p:stCondLst>
                                        </p:cTn>
                                        <p:tgtEl>
                                          <p:spTgt spid="41987">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8195" name="Rectangle 2"/>
          <p:cNvSpPr>
            <a:spLocks noGrp="1" noChangeArrowheads="1"/>
          </p:cNvSpPr>
          <p:nvPr>
            <p:ph type="title"/>
          </p:nvPr>
        </p:nvSpPr>
        <p:spPr>
          <a:xfrm>
            <a:off x="457200" y="188913"/>
            <a:ext cx="8229600" cy="703262"/>
          </a:xfrm>
        </p:spPr>
        <p:txBody>
          <a:bodyPr/>
          <a:lstStyle/>
          <a:p>
            <a:pPr eaLnBrk="1" hangingPunct="1"/>
            <a:r>
              <a:rPr lang="en-GB" sz="3200" b="1" smtClean="0"/>
              <a:t>Presentation Topics 1</a:t>
            </a:r>
            <a:endParaRPr lang="en-US" sz="3200" b="1" smtClean="0"/>
          </a:p>
        </p:txBody>
      </p:sp>
      <p:sp>
        <p:nvSpPr>
          <p:cNvPr id="73731" name="Rectangle 3"/>
          <p:cNvSpPr>
            <a:spLocks noGrp="1" noChangeArrowheads="1"/>
          </p:cNvSpPr>
          <p:nvPr>
            <p:ph type="body" idx="1"/>
          </p:nvPr>
        </p:nvSpPr>
        <p:spPr>
          <a:xfrm>
            <a:off x="457200" y="692150"/>
            <a:ext cx="8578850" cy="5438775"/>
          </a:xfrm>
        </p:spPr>
        <p:txBody>
          <a:bodyPr/>
          <a:lstStyle/>
          <a:p>
            <a:pPr marL="495300" indent="-495300" eaLnBrk="1" hangingPunct="1">
              <a:lnSpc>
                <a:spcPct val="90000"/>
              </a:lnSpc>
            </a:pPr>
            <a:r>
              <a:rPr lang="en-GB" sz="2400" dirty="0" smtClean="0"/>
              <a:t>You should have at least one slide addressing each of the following topics.</a:t>
            </a:r>
          </a:p>
          <a:p>
            <a:pPr marL="495300" indent="-495300" eaLnBrk="1" hangingPunct="1"/>
            <a:r>
              <a:rPr lang="en-GB" sz="2400" b="1" dirty="0" smtClean="0"/>
              <a:t>Title</a:t>
            </a:r>
          </a:p>
          <a:p>
            <a:pPr marL="495300" indent="-495300" eaLnBrk="1" hangingPunct="1">
              <a:buNone/>
            </a:pPr>
            <a:r>
              <a:rPr lang="en-GB" sz="2400" dirty="0" smtClean="0"/>
              <a:t>	Project name, student name, </a:t>
            </a:r>
            <a:r>
              <a:rPr lang="en-GB" sz="2400" dirty="0" smtClean="0"/>
              <a:t>course, supervisor </a:t>
            </a:r>
            <a:r>
              <a:rPr lang="en-GB" sz="2400" dirty="0" smtClean="0"/>
              <a:t>name</a:t>
            </a:r>
          </a:p>
          <a:p>
            <a:pPr marL="495300" indent="-495300" eaLnBrk="1" hangingPunct="1"/>
            <a:r>
              <a:rPr lang="en-GB" sz="2400" b="1" dirty="0" smtClean="0"/>
              <a:t>Project Summary</a:t>
            </a:r>
            <a:br>
              <a:rPr lang="en-GB" sz="2400" b="1" dirty="0" smtClean="0"/>
            </a:br>
            <a:r>
              <a:rPr lang="en-GB" sz="2400" dirty="0" smtClean="0"/>
              <a:t>You should give a brief overview of what the project is about and why it is important. This is similar to, but more in-depth than, the summary at the beginning of the FYP report. “Scenarios of use”/Examples are very useful here.</a:t>
            </a:r>
            <a:endParaRPr lang="en-GB" sz="2400" b="1" dirty="0" smtClean="0"/>
          </a:p>
          <a:p>
            <a:pPr marL="495300" indent="-495300" eaLnBrk="1" hangingPunct="1"/>
            <a:r>
              <a:rPr lang="en-GB" sz="2400" b="1" dirty="0" smtClean="0"/>
              <a:t>Project Environment</a:t>
            </a:r>
          </a:p>
          <a:p>
            <a:pPr marL="495300" indent="-495300" eaLnBrk="1" hangingPunct="1">
              <a:buFont typeface="Wingdings" pitchFamily="2" charset="2"/>
              <a:buNone/>
            </a:pPr>
            <a:r>
              <a:rPr lang="en-GB" sz="2400" dirty="0" smtClean="0"/>
              <a:t>	You should identify the languages, technologies, tools etc that you intend use for your project and you should </a:t>
            </a:r>
            <a:r>
              <a:rPr lang="en-GB" sz="2400" b="1" dirty="0" smtClean="0"/>
              <a:t>justify</a:t>
            </a:r>
            <a:r>
              <a:rPr lang="en-GB" sz="2400" dirty="0" smtClean="0"/>
              <a:t> your choices.</a:t>
            </a:r>
          </a:p>
        </p:txBody>
      </p:sp>
    </p:spTree>
    <p:extLst>
      <p:ext uri="{BB962C8B-B14F-4D97-AF65-F5344CB8AC3E}">
        <p14:creationId xmlns:p14="http://schemas.microsoft.com/office/powerpoint/2010/main" val="401722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3731">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73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3731">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73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3731">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731">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3731">
                                            <p:txEl>
                                              <p:pRg st="3" end="3"/>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3731">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3731">
                                            <p:txEl>
                                              <p:pRg st="4" end="4"/>
                                            </p:txEl>
                                          </p:spTgt>
                                        </p:tgtEl>
                                        <p:attrNameLst>
                                          <p:attrName>ppt_c</p:attrName>
                                        </p:attrNameLst>
                                      </p:cBhvr>
                                      <p:to>
                                        <a:schemeClr val="bg2"/>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3731">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73731">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9219" name="Rectangle 2"/>
          <p:cNvSpPr>
            <a:spLocks noGrp="1" noChangeArrowheads="1"/>
          </p:cNvSpPr>
          <p:nvPr>
            <p:ph type="title"/>
          </p:nvPr>
        </p:nvSpPr>
        <p:spPr>
          <a:xfrm>
            <a:off x="457200" y="188913"/>
            <a:ext cx="8229600" cy="703262"/>
          </a:xfrm>
        </p:spPr>
        <p:txBody>
          <a:bodyPr/>
          <a:lstStyle/>
          <a:p>
            <a:pPr eaLnBrk="1" hangingPunct="1"/>
            <a:r>
              <a:rPr lang="en-GB" sz="3200" b="1" smtClean="0"/>
              <a:t>Presentation Topics 2</a:t>
            </a:r>
            <a:endParaRPr lang="en-US" sz="3200" b="1" smtClean="0"/>
          </a:p>
        </p:txBody>
      </p:sp>
      <p:sp>
        <p:nvSpPr>
          <p:cNvPr id="75779" name="Rectangle 3"/>
          <p:cNvSpPr>
            <a:spLocks noGrp="1" noChangeArrowheads="1"/>
          </p:cNvSpPr>
          <p:nvPr>
            <p:ph type="body" idx="1"/>
          </p:nvPr>
        </p:nvSpPr>
        <p:spPr>
          <a:xfrm>
            <a:off x="323528" y="1196752"/>
            <a:ext cx="8578850" cy="4536504"/>
          </a:xfrm>
        </p:spPr>
        <p:txBody>
          <a:bodyPr/>
          <a:lstStyle/>
          <a:p>
            <a:pPr marL="495300" indent="-495300" eaLnBrk="1" hangingPunct="1"/>
            <a:r>
              <a:rPr lang="en-GB" sz="2400" b="1" dirty="0" smtClean="0"/>
              <a:t>Research/work </a:t>
            </a:r>
            <a:r>
              <a:rPr lang="en-GB" sz="2400" b="1" dirty="0" smtClean="0"/>
              <a:t>to date</a:t>
            </a:r>
            <a:r>
              <a:rPr lang="en-GB" sz="2400" dirty="0" smtClean="0"/>
              <a:t/>
            </a:r>
            <a:br>
              <a:rPr lang="en-GB" sz="2400" dirty="0" smtClean="0"/>
            </a:br>
            <a:r>
              <a:rPr lang="en-GB" sz="2000" dirty="0" smtClean="0"/>
              <a:t>You should provide a review of existing research (papers, books, other FYPs) in the area, or of existing similar systems, compositions, installations, showing where yours fits </a:t>
            </a:r>
            <a:r>
              <a:rPr lang="en-GB" sz="2000" dirty="0" smtClean="0"/>
              <a:t>in.</a:t>
            </a:r>
            <a:endParaRPr lang="en-GB" sz="2400" b="1" dirty="0" smtClean="0"/>
          </a:p>
          <a:p>
            <a:pPr marL="495300" indent="-495300" eaLnBrk="1" hangingPunct="1"/>
            <a:r>
              <a:rPr lang="en-GB" sz="2400" b="1" dirty="0" smtClean="0"/>
              <a:t>Description of Current Progress</a:t>
            </a:r>
            <a:r>
              <a:rPr lang="en-GB" sz="2400" dirty="0" smtClean="0"/>
              <a:t/>
            </a:r>
            <a:br>
              <a:rPr lang="en-GB" sz="2400" dirty="0" smtClean="0"/>
            </a:br>
            <a:r>
              <a:rPr lang="en-GB" sz="2000" dirty="0" smtClean="0"/>
              <a:t>You should give a brief description of the progress you have made to date and should support your description with some evidence (Such as a database schema, screen </a:t>
            </a:r>
            <a:r>
              <a:rPr lang="en-GB" sz="2000" dirty="0" err="1" smtClean="0"/>
              <a:t>mockups</a:t>
            </a:r>
            <a:r>
              <a:rPr lang="en-GB" sz="2000" dirty="0" smtClean="0"/>
              <a:t>, User Interface design, animations, visualizations)</a:t>
            </a:r>
            <a:endParaRPr lang="en-GB" sz="2400" b="1" dirty="0" smtClean="0"/>
          </a:p>
          <a:p>
            <a:pPr marL="495300" indent="-495300" eaLnBrk="1" hangingPunct="1"/>
            <a:r>
              <a:rPr lang="en-GB" sz="2400" b="1" dirty="0" smtClean="0"/>
              <a:t>Project Plan</a:t>
            </a:r>
            <a:r>
              <a:rPr lang="en-GB" sz="2400" dirty="0" smtClean="0"/>
              <a:t/>
            </a:r>
            <a:br>
              <a:rPr lang="en-GB" sz="2400" dirty="0" smtClean="0"/>
            </a:br>
            <a:r>
              <a:rPr lang="en-GB" sz="2000" dirty="0" smtClean="0"/>
              <a:t>You should present a plan showing how you intend to proceed (tasks you need to undertake, milestones etc).  </a:t>
            </a:r>
          </a:p>
          <a:p>
            <a:pPr marL="495300" indent="-495300" eaLnBrk="1" hangingPunct="1">
              <a:lnSpc>
                <a:spcPct val="90000"/>
              </a:lnSpc>
            </a:pPr>
            <a:endParaRPr lang="en-GB" sz="2400" dirty="0" smtClean="0"/>
          </a:p>
        </p:txBody>
      </p:sp>
    </p:spTree>
    <p:extLst>
      <p:ext uri="{BB962C8B-B14F-4D97-AF65-F5344CB8AC3E}">
        <p14:creationId xmlns:p14="http://schemas.microsoft.com/office/powerpoint/2010/main" val="392035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5779">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77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5779">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77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5779">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Papers read to date</a:t>
            </a:r>
            <a:endParaRPr lang="en-US" dirty="0"/>
          </a:p>
        </p:txBody>
      </p:sp>
      <p:sp>
        <p:nvSpPr>
          <p:cNvPr id="3" name="Content Placeholder 2"/>
          <p:cNvSpPr>
            <a:spLocks noGrp="1"/>
          </p:cNvSpPr>
          <p:nvPr>
            <p:ph idx="1"/>
          </p:nvPr>
        </p:nvSpPr>
        <p:spPr/>
        <p:txBody>
          <a:bodyPr/>
          <a:lstStyle/>
          <a:p>
            <a:r>
              <a:rPr lang="en-IE" dirty="0" smtClean="0"/>
              <a:t>Murphy et al, 2006: the only paper to study programmers interaction with IDEs…</a:t>
            </a:r>
          </a:p>
          <a:p>
            <a:pPr lvl="1"/>
            <a:endParaRPr lang="en-IE" dirty="0" smtClean="0"/>
          </a:p>
          <a:p>
            <a:r>
              <a:rPr lang="en-IE" dirty="0" smtClean="0"/>
              <a:t>Other papers focus on researcher prototype plug-ins to help programmers</a:t>
            </a:r>
          </a:p>
          <a:p>
            <a:pPr lvl="1"/>
            <a:r>
              <a:rPr lang="en-IE" dirty="0" smtClean="0"/>
              <a:t>JITTAC (Buckley et al 2013)</a:t>
            </a:r>
          </a:p>
          <a:p>
            <a:pPr lvl="1"/>
            <a:r>
              <a:rPr lang="en-IE" dirty="0" smtClean="0"/>
              <a:t>Mylar (Murphy et al 2005)</a:t>
            </a:r>
          </a:p>
          <a:p>
            <a:pPr lvl="1"/>
            <a:endParaRPr lang="en-IE" dirty="0" smtClean="0"/>
          </a:p>
          <a:p>
            <a:r>
              <a:rPr lang="en-IE" dirty="0" smtClean="0"/>
              <a:t>Surely we need more of the former to help us correctly propose the correct plug-ins.</a:t>
            </a:r>
            <a:endParaRPr lang="en-US" dirty="0"/>
          </a:p>
        </p:txBody>
      </p:sp>
      <p:sp>
        <p:nvSpPr>
          <p:cNvPr id="4" name="Footer Placeholder 3"/>
          <p:cNvSpPr>
            <a:spLocks noGrp="1"/>
          </p:cNvSpPr>
          <p:nvPr>
            <p:ph type="ftr" sz="quarter" idx="10"/>
          </p:nvPr>
        </p:nvSpPr>
        <p:spPr/>
        <p:txBody>
          <a:bodyPr/>
          <a:lstStyle/>
          <a:p>
            <a:pPr>
              <a:defRPr/>
            </a:pPr>
            <a:r>
              <a:rPr lang="en-GB" altLang="en-US" smtClean="0"/>
              <a:t>Department of Computer Science</a:t>
            </a:r>
          </a:p>
          <a:p>
            <a:pPr>
              <a:defRPr/>
            </a:pPr>
            <a:r>
              <a:rPr lang="en-GB" altLang="en-US" smtClean="0"/>
              <a:t>and Information Systems</a:t>
            </a:r>
            <a:endParaRPr lang="en-US" altLang="en-US"/>
          </a:p>
        </p:txBody>
      </p:sp>
    </p:spTree>
    <p:extLst>
      <p:ext uri="{BB962C8B-B14F-4D97-AF65-F5344CB8AC3E}">
        <p14:creationId xmlns:p14="http://schemas.microsoft.com/office/powerpoint/2010/main" val="42333022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16387" name="Rectangle 2"/>
          <p:cNvSpPr>
            <a:spLocks noGrp="1" noChangeArrowheads="1"/>
          </p:cNvSpPr>
          <p:nvPr>
            <p:ph type="title"/>
          </p:nvPr>
        </p:nvSpPr>
        <p:spPr>
          <a:xfrm>
            <a:off x="457200" y="188913"/>
            <a:ext cx="8229600" cy="703262"/>
          </a:xfrm>
        </p:spPr>
        <p:txBody>
          <a:bodyPr/>
          <a:lstStyle/>
          <a:p>
            <a:pPr eaLnBrk="1" hangingPunct="1"/>
            <a:r>
              <a:rPr lang="en-GB" sz="3200" b="1" smtClean="0"/>
              <a:t>Installation Design Sketches</a:t>
            </a:r>
            <a:endParaRPr lang="en-US" sz="3200" b="1" smtClean="0"/>
          </a:p>
        </p:txBody>
      </p:sp>
      <p:pic>
        <p:nvPicPr>
          <p:cNvPr id="16388" name="Picture 2"/>
          <p:cNvPicPr>
            <a:picLocks noChangeAspect="1" noChangeArrowheads="1"/>
          </p:cNvPicPr>
          <p:nvPr/>
        </p:nvPicPr>
        <p:blipFill>
          <a:blip r:embed="rId2" cstate="print"/>
          <a:srcRect/>
          <a:stretch>
            <a:fillRect/>
          </a:stretch>
        </p:blipFill>
        <p:spPr bwMode="auto">
          <a:xfrm>
            <a:off x="179388" y="908050"/>
            <a:ext cx="4721225" cy="5121275"/>
          </a:xfrm>
          <a:prstGeom prst="rect">
            <a:avLst/>
          </a:prstGeom>
          <a:noFill/>
          <a:ln w="9525">
            <a:noFill/>
            <a:miter lim="800000"/>
            <a:headEnd/>
            <a:tailEnd/>
          </a:ln>
        </p:spPr>
      </p:pic>
      <p:sp>
        <p:nvSpPr>
          <p:cNvPr id="16389" name="TextBox 5"/>
          <p:cNvSpPr txBox="1">
            <a:spLocks noChangeArrowheads="1"/>
          </p:cNvSpPr>
          <p:nvPr/>
        </p:nvSpPr>
        <p:spPr bwMode="auto">
          <a:xfrm>
            <a:off x="6372225" y="1268413"/>
            <a:ext cx="2520950" cy="923925"/>
          </a:xfrm>
          <a:prstGeom prst="rect">
            <a:avLst/>
          </a:prstGeom>
          <a:noFill/>
          <a:ln w="9525">
            <a:noFill/>
            <a:miter lim="800000"/>
            <a:headEnd/>
            <a:tailEnd/>
          </a:ln>
        </p:spPr>
        <p:txBody>
          <a:bodyPr>
            <a:spAutoFit/>
          </a:bodyPr>
          <a:lstStyle/>
          <a:p>
            <a:r>
              <a:rPr lang="en-IE"/>
              <a:t>“Evolving Hands” An interactive installation using Ferrofluid.</a:t>
            </a:r>
          </a:p>
        </p:txBody>
      </p:sp>
      <p:pic>
        <p:nvPicPr>
          <p:cNvPr id="16390" name="Picture 3"/>
          <p:cNvPicPr>
            <a:picLocks noChangeAspect="1" noChangeArrowheads="1"/>
          </p:cNvPicPr>
          <p:nvPr/>
        </p:nvPicPr>
        <p:blipFill>
          <a:blip r:embed="rId3" cstate="print"/>
          <a:srcRect/>
          <a:stretch>
            <a:fillRect/>
          </a:stretch>
        </p:blipFill>
        <p:spPr bwMode="auto">
          <a:xfrm>
            <a:off x="5076825" y="3284538"/>
            <a:ext cx="3867150" cy="2665412"/>
          </a:xfrm>
          <a:prstGeom prst="rect">
            <a:avLst/>
          </a:prstGeom>
          <a:noFill/>
          <a:ln w="9525">
            <a:noFill/>
            <a:miter lim="800000"/>
            <a:headEnd/>
            <a:tailEnd/>
          </a:ln>
        </p:spPr>
      </p:pic>
    </p:spTree>
    <p:extLst>
      <p:ext uri="{BB962C8B-B14F-4D97-AF65-F5344CB8AC3E}">
        <p14:creationId xmlns:p14="http://schemas.microsoft.com/office/powerpoint/2010/main" val="16751255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10243" name="Rectangle 2"/>
          <p:cNvSpPr>
            <a:spLocks noGrp="1" noChangeArrowheads="1"/>
          </p:cNvSpPr>
          <p:nvPr>
            <p:ph type="title"/>
          </p:nvPr>
        </p:nvSpPr>
        <p:spPr>
          <a:xfrm>
            <a:off x="457200" y="188913"/>
            <a:ext cx="8229600" cy="703262"/>
          </a:xfrm>
        </p:spPr>
        <p:txBody>
          <a:bodyPr/>
          <a:lstStyle/>
          <a:p>
            <a:pPr eaLnBrk="1" hangingPunct="1"/>
            <a:r>
              <a:rPr lang="en-GB" sz="3200" b="1" smtClean="0"/>
              <a:t>Concept Sketches</a:t>
            </a:r>
            <a:endParaRPr lang="en-US" sz="3200" b="1" smtClean="0"/>
          </a:p>
        </p:txBody>
      </p:sp>
      <p:pic>
        <p:nvPicPr>
          <p:cNvPr id="10244" name="Picture 2"/>
          <p:cNvPicPr>
            <a:picLocks noChangeAspect="1" noChangeArrowheads="1"/>
          </p:cNvPicPr>
          <p:nvPr/>
        </p:nvPicPr>
        <p:blipFill>
          <a:blip r:embed="rId3" cstate="print"/>
          <a:srcRect/>
          <a:stretch>
            <a:fillRect/>
          </a:stretch>
        </p:blipFill>
        <p:spPr bwMode="auto">
          <a:xfrm>
            <a:off x="971550" y="765175"/>
            <a:ext cx="7399338" cy="5375275"/>
          </a:xfrm>
          <a:prstGeom prst="rect">
            <a:avLst/>
          </a:prstGeom>
          <a:noFill/>
          <a:ln w="9525">
            <a:noFill/>
            <a:miter lim="800000"/>
            <a:headEnd/>
            <a:tailEnd/>
          </a:ln>
        </p:spPr>
      </p:pic>
    </p:spTree>
    <p:extLst>
      <p:ext uri="{BB962C8B-B14F-4D97-AF65-F5344CB8AC3E}">
        <p14:creationId xmlns:p14="http://schemas.microsoft.com/office/powerpoint/2010/main" val="24483503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12291" name="Rectangle 2"/>
          <p:cNvSpPr>
            <a:spLocks noGrp="1" noChangeArrowheads="1"/>
          </p:cNvSpPr>
          <p:nvPr>
            <p:ph type="title"/>
          </p:nvPr>
        </p:nvSpPr>
        <p:spPr>
          <a:xfrm>
            <a:off x="457200" y="188913"/>
            <a:ext cx="8229600" cy="703262"/>
          </a:xfrm>
        </p:spPr>
        <p:txBody>
          <a:bodyPr/>
          <a:lstStyle/>
          <a:p>
            <a:pPr eaLnBrk="1" hangingPunct="1"/>
            <a:r>
              <a:rPr lang="en-GB" sz="3200" b="1" dirty="0" smtClean="0"/>
              <a:t>Research or Screen </a:t>
            </a:r>
            <a:r>
              <a:rPr lang="en-GB" sz="3200" b="1" dirty="0" err="1" smtClean="0"/>
              <a:t>Mockups</a:t>
            </a:r>
            <a:endParaRPr lang="en-US" sz="3200" b="1" dirty="0" smtClean="0"/>
          </a:p>
        </p:txBody>
      </p:sp>
      <p:pic>
        <p:nvPicPr>
          <p:cNvPr id="12292" name="Picture 6"/>
          <p:cNvPicPr>
            <a:picLocks noChangeAspect="1" noChangeArrowheads="1"/>
          </p:cNvPicPr>
          <p:nvPr/>
        </p:nvPicPr>
        <p:blipFill>
          <a:blip r:embed="rId2" cstate="print"/>
          <a:srcRect/>
          <a:stretch>
            <a:fillRect/>
          </a:stretch>
        </p:blipFill>
        <p:spPr bwMode="auto">
          <a:xfrm>
            <a:off x="827088" y="692150"/>
            <a:ext cx="7975600" cy="5473700"/>
          </a:xfrm>
          <a:prstGeom prst="rect">
            <a:avLst/>
          </a:prstGeom>
          <a:noFill/>
          <a:ln w="9525">
            <a:noFill/>
            <a:miter lim="800000"/>
            <a:headEnd/>
            <a:tailEnd/>
          </a:ln>
        </p:spPr>
      </p:pic>
    </p:spTree>
    <p:extLst>
      <p:ext uri="{BB962C8B-B14F-4D97-AF65-F5344CB8AC3E}">
        <p14:creationId xmlns:p14="http://schemas.microsoft.com/office/powerpoint/2010/main" val="21283535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17411" name="Rectangle 2"/>
          <p:cNvSpPr>
            <a:spLocks noGrp="1" noChangeArrowheads="1"/>
          </p:cNvSpPr>
          <p:nvPr>
            <p:ph type="title"/>
          </p:nvPr>
        </p:nvSpPr>
        <p:spPr>
          <a:xfrm>
            <a:off x="457200" y="188913"/>
            <a:ext cx="8229600" cy="703262"/>
          </a:xfrm>
        </p:spPr>
        <p:txBody>
          <a:bodyPr/>
          <a:lstStyle/>
          <a:p>
            <a:pPr eaLnBrk="1" hangingPunct="1"/>
            <a:r>
              <a:rPr lang="en-GB" sz="3200" b="1" smtClean="0"/>
              <a:t>Game Design Sketches</a:t>
            </a:r>
            <a:endParaRPr lang="en-US" sz="3200" b="1" smtClean="0"/>
          </a:p>
        </p:txBody>
      </p:sp>
      <p:pic>
        <p:nvPicPr>
          <p:cNvPr id="17413" name="Picture 2" descr="IMG_0444"/>
          <p:cNvPicPr>
            <a:picLocks noChangeAspect="1" noChangeArrowheads="1"/>
          </p:cNvPicPr>
          <p:nvPr/>
        </p:nvPicPr>
        <p:blipFill>
          <a:blip r:embed="rId2" cstate="print"/>
          <a:srcRect/>
          <a:stretch>
            <a:fillRect/>
          </a:stretch>
        </p:blipFill>
        <p:spPr bwMode="auto">
          <a:xfrm>
            <a:off x="250825" y="1125538"/>
            <a:ext cx="4641850" cy="3455987"/>
          </a:xfrm>
          <a:prstGeom prst="rect">
            <a:avLst/>
          </a:prstGeom>
          <a:noFill/>
          <a:ln w="9525">
            <a:noFill/>
            <a:miter lim="800000"/>
            <a:headEnd/>
            <a:tailEnd/>
          </a:ln>
        </p:spPr>
      </p:pic>
      <p:pic>
        <p:nvPicPr>
          <p:cNvPr id="17414" name="Picture 3" descr="IMG_0450"/>
          <p:cNvPicPr>
            <a:picLocks noChangeAspect="1" noChangeArrowheads="1"/>
          </p:cNvPicPr>
          <p:nvPr/>
        </p:nvPicPr>
        <p:blipFill>
          <a:blip r:embed="rId3" cstate="print"/>
          <a:srcRect/>
          <a:stretch>
            <a:fillRect/>
          </a:stretch>
        </p:blipFill>
        <p:spPr bwMode="auto">
          <a:xfrm>
            <a:off x="5076825" y="3141663"/>
            <a:ext cx="3887788" cy="2916237"/>
          </a:xfrm>
          <a:prstGeom prst="rect">
            <a:avLst/>
          </a:prstGeom>
          <a:noFill/>
          <a:ln w="9525">
            <a:noFill/>
            <a:miter lim="800000"/>
            <a:headEnd/>
            <a:tailEnd/>
          </a:ln>
        </p:spPr>
      </p:pic>
    </p:spTree>
    <p:extLst>
      <p:ext uri="{BB962C8B-B14F-4D97-AF65-F5344CB8AC3E}">
        <p14:creationId xmlns:p14="http://schemas.microsoft.com/office/powerpoint/2010/main" val="36755485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13315" name="Rectangle 2"/>
          <p:cNvSpPr>
            <a:spLocks noGrp="1" noChangeArrowheads="1"/>
          </p:cNvSpPr>
          <p:nvPr>
            <p:ph type="title"/>
          </p:nvPr>
        </p:nvSpPr>
        <p:spPr>
          <a:xfrm>
            <a:off x="457200" y="188913"/>
            <a:ext cx="8229600" cy="703262"/>
          </a:xfrm>
        </p:spPr>
        <p:txBody>
          <a:bodyPr/>
          <a:lstStyle/>
          <a:p>
            <a:pPr eaLnBrk="1" hangingPunct="1"/>
            <a:r>
              <a:rPr lang="en-GB" sz="3200" b="1" dirty="0" smtClean="0"/>
              <a:t>Evidence of work: Database Schema</a:t>
            </a:r>
            <a:endParaRPr lang="en-US" sz="3200" b="1" dirty="0" smtClean="0"/>
          </a:p>
        </p:txBody>
      </p:sp>
      <p:pic>
        <p:nvPicPr>
          <p:cNvPr id="13316" name="Picture 2"/>
          <p:cNvPicPr>
            <a:picLocks noChangeAspect="1" noChangeArrowheads="1"/>
          </p:cNvPicPr>
          <p:nvPr/>
        </p:nvPicPr>
        <p:blipFill>
          <a:blip r:embed="rId2" cstate="print"/>
          <a:srcRect/>
          <a:stretch>
            <a:fillRect/>
          </a:stretch>
        </p:blipFill>
        <p:spPr bwMode="auto">
          <a:xfrm>
            <a:off x="1343025" y="692150"/>
            <a:ext cx="6457950" cy="5473700"/>
          </a:xfrm>
          <a:prstGeom prst="rect">
            <a:avLst/>
          </a:prstGeom>
          <a:noFill/>
          <a:ln w="9525">
            <a:noFill/>
            <a:miter lim="800000"/>
            <a:headEnd/>
            <a:tailEnd/>
          </a:ln>
        </p:spPr>
      </p:pic>
    </p:spTree>
    <p:extLst>
      <p:ext uri="{BB962C8B-B14F-4D97-AF65-F5344CB8AC3E}">
        <p14:creationId xmlns:p14="http://schemas.microsoft.com/office/powerpoint/2010/main" val="32817047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18435" name="Rectangle 2"/>
          <p:cNvSpPr>
            <a:spLocks noGrp="1" noChangeArrowheads="1"/>
          </p:cNvSpPr>
          <p:nvPr>
            <p:ph type="title"/>
          </p:nvPr>
        </p:nvSpPr>
        <p:spPr>
          <a:xfrm>
            <a:off x="457200" y="188913"/>
            <a:ext cx="8229600" cy="703262"/>
          </a:xfrm>
        </p:spPr>
        <p:txBody>
          <a:bodyPr/>
          <a:lstStyle/>
          <a:p>
            <a:pPr eaLnBrk="1" hangingPunct="1"/>
            <a:r>
              <a:rPr lang="en-GB" sz="3200" b="1" smtClean="0"/>
              <a:t>Project Plan 1</a:t>
            </a:r>
            <a:endParaRPr lang="en-US" sz="3200" b="1" smtClean="0"/>
          </a:p>
        </p:txBody>
      </p:sp>
      <p:pic>
        <p:nvPicPr>
          <p:cNvPr id="18436" name="Picture 2"/>
          <p:cNvPicPr>
            <a:picLocks noChangeAspect="1" noChangeArrowheads="1"/>
          </p:cNvPicPr>
          <p:nvPr/>
        </p:nvPicPr>
        <p:blipFill>
          <a:blip r:embed="rId2" cstate="print"/>
          <a:srcRect/>
          <a:stretch>
            <a:fillRect/>
          </a:stretch>
        </p:blipFill>
        <p:spPr bwMode="auto">
          <a:xfrm>
            <a:off x="1527175" y="773113"/>
            <a:ext cx="6089650" cy="5311775"/>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14726932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6147" name="Rectangle 2"/>
          <p:cNvSpPr>
            <a:spLocks noGrp="1" noChangeArrowheads="1"/>
          </p:cNvSpPr>
          <p:nvPr>
            <p:ph type="title"/>
          </p:nvPr>
        </p:nvSpPr>
        <p:spPr>
          <a:xfrm>
            <a:off x="457200" y="115888"/>
            <a:ext cx="8229600" cy="776287"/>
          </a:xfrm>
        </p:spPr>
        <p:txBody>
          <a:bodyPr/>
          <a:lstStyle/>
          <a:p>
            <a:pPr eaLnBrk="1" hangingPunct="1"/>
            <a:r>
              <a:rPr lang="en-GB" sz="3200" b="1" smtClean="0"/>
              <a:t>Presentation Mechanics</a:t>
            </a:r>
            <a:r>
              <a:rPr lang="en-US" sz="3200" b="1" smtClean="0"/>
              <a:t> </a:t>
            </a:r>
          </a:p>
        </p:txBody>
      </p:sp>
      <p:sp>
        <p:nvSpPr>
          <p:cNvPr id="72707" name="Rectangle 3"/>
          <p:cNvSpPr>
            <a:spLocks noGrp="1" noChangeArrowheads="1"/>
          </p:cNvSpPr>
          <p:nvPr>
            <p:ph type="body" idx="1"/>
          </p:nvPr>
        </p:nvSpPr>
        <p:spPr>
          <a:xfrm>
            <a:off x="565150" y="1052736"/>
            <a:ext cx="8578850" cy="5365750"/>
          </a:xfrm>
        </p:spPr>
        <p:txBody>
          <a:bodyPr/>
          <a:lstStyle/>
          <a:p>
            <a:pPr marL="495300" indent="-495300" eaLnBrk="1" hangingPunct="1"/>
            <a:r>
              <a:rPr lang="en-GB" sz="2400" dirty="0" smtClean="0"/>
              <a:t>You will receive an email assigning you to a presentation time slot, before the end of next week (hopefully).</a:t>
            </a:r>
          </a:p>
          <a:p>
            <a:pPr marL="495300" indent="-495300" eaLnBrk="1" hangingPunct="1"/>
            <a:r>
              <a:rPr lang="en-GB" sz="2400" dirty="0" smtClean="0"/>
              <a:t>Each presentation slot will be attend by two supervisors and (normally) six students.  </a:t>
            </a:r>
          </a:p>
          <a:p>
            <a:pPr marL="495300" indent="-495300" eaLnBrk="1" hangingPunct="1"/>
            <a:r>
              <a:rPr lang="en-GB" sz="2400" dirty="0" smtClean="0"/>
              <a:t>You are expected to turn up on time and remain for all the presentations (2 hours).</a:t>
            </a:r>
          </a:p>
          <a:p>
            <a:pPr marL="495300" indent="-495300" eaLnBrk="1" hangingPunct="1"/>
            <a:r>
              <a:rPr lang="en-GB" sz="2400" dirty="0" smtClean="0"/>
              <a:t>There is no dress code.</a:t>
            </a:r>
          </a:p>
          <a:p>
            <a:pPr marL="495300" indent="-495300" eaLnBrk="1" hangingPunct="1">
              <a:lnSpc>
                <a:spcPts val="2600"/>
              </a:lnSpc>
              <a:spcBef>
                <a:spcPct val="40000"/>
              </a:spcBef>
            </a:pPr>
            <a:r>
              <a:rPr lang="en-GB" sz="2400" dirty="0" smtClean="0"/>
              <a:t>The panel of supervisors who attend your session will give you verbal feedback on your presentation.  </a:t>
            </a:r>
            <a:endParaRPr lang="en-GB" sz="2400" dirty="0" smtClean="0"/>
          </a:p>
          <a:p>
            <a:pPr marL="495300" indent="-495300" eaLnBrk="1" hangingPunct="1">
              <a:lnSpc>
                <a:spcPts val="2600"/>
              </a:lnSpc>
              <a:spcBef>
                <a:spcPct val="40000"/>
              </a:spcBef>
            </a:pPr>
            <a:r>
              <a:rPr lang="en-GB" sz="2400" b="1" i="1" dirty="0" smtClean="0"/>
              <a:t>You </a:t>
            </a:r>
            <a:r>
              <a:rPr lang="en-GB" sz="2400" b="1" i="1" dirty="0" smtClean="0"/>
              <a:t>should have a ‘scribe’ take note of these comments.  </a:t>
            </a:r>
            <a:r>
              <a:rPr lang="en-GB" sz="2400" b="1" i="1" dirty="0" smtClean="0"/>
              <a:t>Perhaps </a:t>
            </a:r>
            <a:r>
              <a:rPr lang="en-GB" sz="2400" b="1" i="1" dirty="0" smtClean="0"/>
              <a:t>you might arrange a quid pro quo with one of the other attendees...</a:t>
            </a:r>
          </a:p>
          <a:p>
            <a:pPr marL="495300" indent="-495300" eaLnBrk="1" hangingPunct="1"/>
            <a:endParaRPr lang="en-GB"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2707">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70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2707">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70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2707">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270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2707">
                                            <p:txEl>
                                              <p:pRg st="3" end="3"/>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270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2707">
                                            <p:txEl>
                                              <p:pRg st="4" end="4"/>
                                            </p:txEl>
                                          </p:spTgt>
                                        </p:tgtEl>
                                        <p:attrNameLst>
                                          <p:attrName>ppt_c</p:attrName>
                                        </p:attrNameLst>
                                      </p:cBhvr>
                                      <p:to>
                                        <a:schemeClr val="bg2"/>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2707">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72707">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7171" name="Rectangle 2"/>
          <p:cNvSpPr>
            <a:spLocks noGrp="1" noChangeArrowheads="1"/>
          </p:cNvSpPr>
          <p:nvPr>
            <p:ph type="title"/>
          </p:nvPr>
        </p:nvSpPr>
        <p:spPr>
          <a:xfrm>
            <a:off x="457200" y="188913"/>
            <a:ext cx="8229600" cy="703262"/>
          </a:xfrm>
        </p:spPr>
        <p:txBody>
          <a:bodyPr/>
          <a:lstStyle/>
          <a:p>
            <a:pPr eaLnBrk="1" hangingPunct="1"/>
            <a:r>
              <a:rPr lang="en-GB" sz="3200" b="1" smtClean="0"/>
              <a:t>Presentation Mechanics</a:t>
            </a:r>
            <a:r>
              <a:rPr lang="en-US" sz="3200" b="1" smtClean="0"/>
              <a:t> 2</a:t>
            </a:r>
          </a:p>
        </p:txBody>
      </p:sp>
      <p:sp>
        <p:nvSpPr>
          <p:cNvPr id="74755" name="Rectangle 3"/>
          <p:cNvSpPr>
            <a:spLocks noGrp="1" noChangeArrowheads="1"/>
          </p:cNvSpPr>
          <p:nvPr>
            <p:ph type="body" idx="1"/>
          </p:nvPr>
        </p:nvSpPr>
        <p:spPr>
          <a:xfrm>
            <a:off x="323528" y="1196752"/>
            <a:ext cx="8578850" cy="4803427"/>
          </a:xfrm>
        </p:spPr>
        <p:txBody>
          <a:bodyPr/>
          <a:lstStyle/>
          <a:p>
            <a:pPr marL="495300" indent="-495300" eaLnBrk="1" hangingPunct="1"/>
            <a:r>
              <a:rPr lang="en-GB" sz="2400" dirty="0" smtClean="0"/>
              <a:t>Each presentation should take no more than 20 minutes.  Of that 20 minutes you will need to reserve about 5 minutes for questions.  </a:t>
            </a:r>
          </a:p>
          <a:p>
            <a:pPr marL="495300" indent="-495300" eaLnBrk="1" hangingPunct="1"/>
            <a:r>
              <a:rPr lang="en-GB" sz="2400" dirty="0" smtClean="0"/>
              <a:t>So the actual presentation itself should be about 15 minutes long.  This </a:t>
            </a:r>
            <a:r>
              <a:rPr lang="en-GB" sz="2400" dirty="0" smtClean="0"/>
              <a:t>typically equates </a:t>
            </a:r>
            <a:r>
              <a:rPr lang="en-GB" sz="2400" dirty="0" smtClean="0"/>
              <a:t>to about 6 -</a:t>
            </a:r>
            <a:r>
              <a:rPr lang="en-GB" sz="2400" dirty="0" smtClean="0"/>
              <a:t>12 </a:t>
            </a:r>
            <a:r>
              <a:rPr lang="en-GB" sz="2400" dirty="0" err="1" smtClean="0"/>
              <a:t>Powerpoint</a:t>
            </a:r>
            <a:r>
              <a:rPr lang="en-GB" sz="2400" dirty="0" smtClean="0"/>
              <a:t> slides, depending on your style. </a:t>
            </a:r>
          </a:p>
          <a:p>
            <a:pPr marL="495300" indent="-495300" eaLnBrk="1" hangingPunct="1"/>
            <a:r>
              <a:rPr lang="en-GB" sz="2400" dirty="0" smtClean="0"/>
              <a:t>Please keep in mind that 15 minutes is not very much time so a huge amount of detail is </a:t>
            </a:r>
            <a:r>
              <a:rPr lang="en-GB" sz="2400" b="1" dirty="0" smtClean="0"/>
              <a:t>not</a:t>
            </a:r>
            <a:r>
              <a:rPr lang="en-GB" sz="2400" dirty="0" smtClean="0"/>
              <a:t> required.</a:t>
            </a:r>
          </a:p>
          <a:p>
            <a:pPr marL="495300" indent="-495300" eaLnBrk="1" hangingPunct="1"/>
            <a:endParaRPr lang="en-GB" sz="2400" dirty="0" smtClean="0"/>
          </a:p>
          <a:p>
            <a:pPr marL="495300" indent="-495300" eaLnBrk="1" hangingPunct="1"/>
            <a:r>
              <a:rPr lang="en-GB" sz="2400" b="1" i="1" dirty="0" smtClean="0"/>
              <a:t>Its very important to have (at least) 1 dry-run.</a:t>
            </a:r>
          </a:p>
          <a:p>
            <a:pPr marL="495300" indent="-495300" eaLnBrk="1" hangingPunct="1"/>
            <a:r>
              <a:rPr lang="en-GB" sz="2400" b="1" i="1" dirty="0" smtClean="0"/>
              <a:t>With colleagues who will tell you if you have B.O.!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4755">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75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4755">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475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4755">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475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4755">
                                            <p:txEl>
                                              <p:pRg st="4" end="4"/>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4755">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74755">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a:t>
            </a:r>
          </a:p>
          <a:p>
            <a:pPr>
              <a:defRPr/>
            </a:pPr>
            <a:r>
              <a:rPr lang="en-GB" altLang="en-US"/>
              <a:t>and Information Systems</a:t>
            </a:r>
            <a:endParaRPr lang="en-US" altLang="en-US"/>
          </a:p>
        </p:txBody>
      </p:sp>
      <p:sp>
        <p:nvSpPr>
          <p:cNvPr id="9219" name="Rectangle 2"/>
          <p:cNvSpPr>
            <a:spLocks noGrp="1" noChangeArrowheads="1"/>
          </p:cNvSpPr>
          <p:nvPr>
            <p:ph type="title"/>
          </p:nvPr>
        </p:nvSpPr>
        <p:spPr>
          <a:xfrm>
            <a:off x="457200" y="188913"/>
            <a:ext cx="8229600" cy="703262"/>
          </a:xfrm>
        </p:spPr>
        <p:txBody>
          <a:bodyPr/>
          <a:lstStyle/>
          <a:p>
            <a:pPr eaLnBrk="1" hangingPunct="1"/>
            <a:r>
              <a:rPr lang="en-GB" sz="3200" b="1" smtClean="0"/>
              <a:t>Scenarios of use</a:t>
            </a:r>
            <a:endParaRPr lang="en-US" sz="3200" b="1" smtClean="0"/>
          </a:p>
        </p:txBody>
      </p:sp>
      <p:sp>
        <p:nvSpPr>
          <p:cNvPr id="75779" name="Rectangle 3"/>
          <p:cNvSpPr>
            <a:spLocks noGrp="1" noChangeArrowheads="1"/>
          </p:cNvSpPr>
          <p:nvPr>
            <p:ph type="body" idx="1"/>
          </p:nvPr>
        </p:nvSpPr>
        <p:spPr>
          <a:xfrm>
            <a:off x="457200" y="1052513"/>
            <a:ext cx="8578850" cy="5078412"/>
          </a:xfrm>
        </p:spPr>
        <p:txBody>
          <a:bodyPr/>
          <a:lstStyle/>
          <a:p>
            <a:pPr marL="495300" indent="-495300" eaLnBrk="1" hangingPunct="1">
              <a:spcBef>
                <a:spcPts val="1800"/>
              </a:spcBef>
            </a:pPr>
            <a:r>
              <a:rPr lang="en-GB" sz="2400" dirty="0" smtClean="0"/>
              <a:t>For each kind of user, write a </a:t>
            </a:r>
            <a:r>
              <a:rPr lang="en-GB" sz="2400" i="1" dirty="0" smtClean="0"/>
              <a:t>scenario of use </a:t>
            </a:r>
            <a:r>
              <a:rPr lang="en-GB" sz="2400" dirty="0" smtClean="0"/>
              <a:t>that details how you think they might interact with the project.</a:t>
            </a:r>
          </a:p>
          <a:p>
            <a:pPr marL="495300" indent="-495300" eaLnBrk="1" hangingPunct="1">
              <a:spcBef>
                <a:spcPts val="1800"/>
              </a:spcBef>
            </a:pPr>
            <a:r>
              <a:rPr lang="en-GB" sz="2400" dirty="0" smtClean="0"/>
              <a:t>A </a:t>
            </a:r>
            <a:r>
              <a:rPr lang="en-GB" sz="2400" i="1" dirty="0" smtClean="0"/>
              <a:t>scenario of use </a:t>
            </a:r>
            <a:r>
              <a:rPr lang="en-GB" sz="2400" dirty="0" smtClean="0"/>
              <a:t>is a very useful thought experiment that allows you to explore how different kinds of user might interact with your project.</a:t>
            </a:r>
          </a:p>
          <a:p>
            <a:pPr marL="495300" indent="-495300" eaLnBrk="1" hangingPunct="1">
              <a:spcBef>
                <a:spcPts val="1800"/>
              </a:spcBef>
            </a:pPr>
            <a:r>
              <a:rPr lang="en-GB" sz="2400" dirty="0" smtClean="0"/>
              <a:t>If the project is a software application, then </a:t>
            </a:r>
            <a:r>
              <a:rPr lang="en-GB" sz="2400" i="1" dirty="0" smtClean="0"/>
              <a:t>scenarios of use </a:t>
            </a:r>
            <a:r>
              <a:rPr lang="en-GB" sz="2400" dirty="0" smtClean="0"/>
              <a:t>allow you to explore the kind of functionality your application needs to provide and they allow you to identify the different kinds of user who might use the application</a:t>
            </a:r>
            <a:r>
              <a:rPr lang="en-GB" sz="2400" dirty="0" smtClean="0"/>
              <a:t>.</a:t>
            </a:r>
          </a:p>
          <a:p>
            <a:pPr marL="495300" indent="-495300" eaLnBrk="1" hangingPunct="1">
              <a:spcBef>
                <a:spcPts val="1800"/>
              </a:spcBef>
            </a:pPr>
            <a:r>
              <a:rPr lang="en-GB" sz="2400" dirty="0" smtClean="0"/>
              <a:t>I’m not so sure re an installation, but…</a:t>
            </a:r>
            <a:endParaRPr lang="en-GB" sz="2400" dirty="0" smtClean="0"/>
          </a:p>
          <a:p>
            <a:pPr marL="495300" indent="-495300" eaLnBrk="1" hangingPunct="1">
              <a:lnSpc>
                <a:spcPct val="90000"/>
              </a:lnSpc>
            </a:pPr>
            <a:endParaRPr lang="en-GB"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75779">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77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5779">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77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5779">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577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5779">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Remember</a:t>
            </a:r>
            <a:endParaRPr lang="en-IE" dirty="0"/>
          </a:p>
        </p:txBody>
      </p:sp>
      <p:sp>
        <p:nvSpPr>
          <p:cNvPr id="3" name="Content Placeholder 2"/>
          <p:cNvSpPr>
            <a:spLocks noGrp="1"/>
          </p:cNvSpPr>
          <p:nvPr>
            <p:ph idx="1"/>
          </p:nvPr>
        </p:nvSpPr>
        <p:spPr/>
        <p:txBody>
          <a:bodyPr/>
          <a:lstStyle/>
          <a:p>
            <a:r>
              <a:rPr lang="en-IE" dirty="0" smtClean="0"/>
              <a:t>Get ahead while you still can...</a:t>
            </a:r>
          </a:p>
          <a:p>
            <a:endParaRPr lang="en-IE" dirty="0" smtClean="0"/>
          </a:p>
          <a:p>
            <a:r>
              <a:rPr lang="en-IE" dirty="0" smtClean="0"/>
              <a:t>Evidence is more important than ‘I have a DB schema defined’</a:t>
            </a:r>
          </a:p>
          <a:p>
            <a:endParaRPr lang="en-IE" dirty="0" smtClean="0"/>
          </a:p>
          <a:p>
            <a:r>
              <a:rPr lang="en-IE" dirty="0" smtClean="0"/>
              <a:t>Have a dry run with some who’s honesty you trust, possibly even your supervisor.</a:t>
            </a:r>
          </a:p>
          <a:p>
            <a:endParaRPr lang="en-IE" dirty="0" smtClean="0"/>
          </a:p>
          <a:p>
            <a:r>
              <a:rPr lang="en-IE" dirty="0" smtClean="0"/>
              <a:t>This is only an opportunity to:</a:t>
            </a:r>
          </a:p>
          <a:p>
            <a:pPr lvl="1"/>
            <a:r>
              <a:rPr lang="en-IE" dirty="0" smtClean="0"/>
              <a:t>Refine </a:t>
            </a:r>
            <a:r>
              <a:rPr lang="en-IE" dirty="0" smtClean="0"/>
              <a:t>the </a:t>
            </a:r>
            <a:r>
              <a:rPr lang="en-IE" dirty="0" smtClean="0"/>
              <a:t>work, with outsider feedback;</a:t>
            </a:r>
          </a:p>
          <a:p>
            <a:pPr lvl="1"/>
            <a:r>
              <a:rPr lang="en-IE" dirty="0"/>
              <a:t>Kick start the work;</a:t>
            </a:r>
          </a:p>
          <a:p>
            <a:pPr lvl="1"/>
            <a:endParaRPr lang="en-IE" dirty="0"/>
          </a:p>
        </p:txBody>
      </p:sp>
      <p:sp>
        <p:nvSpPr>
          <p:cNvPr id="4" name="Footer Placeholder 3"/>
          <p:cNvSpPr>
            <a:spLocks noGrp="1"/>
          </p:cNvSpPr>
          <p:nvPr>
            <p:ph type="ftr" sz="quarter" idx="10"/>
          </p:nvPr>
        </p:nvSpPr>
        <p:spPr/>
        <p:txBody>
          <a:bodyPr/>
          <a:lstStyle/>
          <a:p>
            <a:pPr>
              <a:defRPr/>
            </a:pPr>
            <a:r>
              <a:rPr lang="en-GB" altLang="en-US" smtClean="0"/>
              <a:t>Department of Computer Science</a:t>
            </a:r>
          </a:p>
          <a:p>
            <a:pPr>
              <a:defRPr/>
            </a:pPr>
            <a:r>
              <a:rPr lang="en-GB" altLang="en-US" smtClean="0"/>
              <a:t>and Information Systems</a:t>
            </a:r>
            <a:endParaRPr lang="en-US" altLang="en-US"/>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64e190d3fb8a3b66d16e67b7df9ca1c15433ad"/>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754</TotalTime>
  <Words>947</Words>
  <Application>Microsoft Office PowerPoint</Application>
  <PresentationFormat>On-screen Show (4:3)</PresentationFormat>
  <Paragraphs>119</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Garamond</vt:lpstr>
      <vt:lpstr>Times New Roman</vt:lpstr>
      <vt:lpstr>Wingdings</vt:lpstr>
      <vt:lpstr>Edge</vt:lpstr>
      <vt:lpstr>FYP Presentations </vt:lpstr>
      <vt:lpstr>Introduction </vt:lpstr>
      <vt:lpstr>Purpose of the FYP presentations </vt:lpstr>
      <vt:lpstr>Presentation Topics 1</vt:lpstr>
      <vt:lpstr>Presentation Topics 2</vt:lpstr>
      <vt:lpstr>Papers read to date</vt:lpstr>
      <vt:lpstr>Installation Design Sketches</vt:lpstr>
      <vt:lpstr>Concept Sketches</vt:lpstr>
      <vt:lpstr>Research or Screen Mockups</vt:lpstr>
      <vt:lpstr>Game Design Sketches</vt:lpstr>
      <vt:lpstr>Evidence of work: Database Schema</vt:lpstr>
      <vt:lpstr>Project Plan 1</vt:lpstr>
      <vt:lpstr>Presentation Mechanics </vt:lpstr>
      <vt:lpstr>Presentation Mechanics 2</vt:lpstr>
      <vt:lpstr>Scenarios of use</vt:lpstr>
      <vt:lpstr>Remember</vt:lpstr>
    </vt:vector>
  </TitlesOfParts>
  <Company>University of Limerick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Final Year Project</dc:title>
  <dc:creator>Michael Coughlan</dc:creator>
  <cp:lastModifiedBy>Jim.Buckley</cp:lastModifiedBy>
  <cp:revision>71</cp:revision>
  <dcterms:created xsi:type="dcterms:W3CDTF">2007-09-11T07:27:14Z</dcterms:created>
  <dcterms:modified xsi:type="dcterms:W3CDTF">2019-09-25T10:21:24Z</dcterms:modified>
</cp:coreProperties>
</file>